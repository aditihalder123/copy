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91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503" y="0"/>
            <a:ext cx="5934544" cy="50285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4520" y="1562044"/>
            <a:ext cx="2277000" cy="166957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45173" y="4398521"/>
            <a:ext cx="1972204" cy="157981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5660" y="492023"/>
            <a:ext cx="6523990" cy="848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1" i="0">
                <a:solidFill>
                  <a:srgbClr val="0F0F0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01010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0F0F0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01010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0F0F0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1695" y="1945418"/>
            <a:ext cx="3872229" cy="4570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05050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0F0F0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503" y="0"/>
            <a:ext cx="6024190" cy="5028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7936" y="457239"/>
            <a:ext cx="8108126" cy="1246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1" i="0">
                <a:solidFill>
                  <a:srgbClr val="0F0F0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8073" y="1933076"/>
            <a:ext cx="8060690" cy="4558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01010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0480" y="0"/>
            <a:ext cx="9144000" cy="4800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161A3B-9A58-24BC-926D-A90C632DB936}"/>
              </a:ext>
            </a:extLst>
          </p:cNvPr>
          <p:cNvSpPr txBox="1"/>
          <p:nvPr/>
        </p:nvSpPr>
        <p:spPr>
          <a:xfrm>
            <a:off x="228600" y="5562600"/>
            <a:ext cx="8305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CO3: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Simplify and break-down the techniques to solve some complex realistic problems into modular problems and their solutions.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33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5"/>
              </a:spcBef>
            </a:pPr>
            <a:r>
              <a:rPr sz="4300" spc="-180" dirty="0">
                <a:solidFill>
                  <a:srgbClr val="050505"/>
                </a:solidFill>
              </a:rPr>
              <a:t>Kruskal's</a:t>
            </a:r>
            <a:r>
              <a:rPr sz="4300" spc="-100" dirty="0">
                <a:solidFill>
                  <a:srgbClr val="050505"/>
                </a:solidFill>
              </a:rPr>
              <a:t> </a:t>
            </a:r>
            <a:r>
              <a:rPr sz="4300" spc="-265" dirty="0">
                <a:solidFill>
                  <a:srgbClr val="050505"/>
                </a:solidFill>
              </a:rPr>
              <a:t>Algorithm</a:t>
            </a:r>
            <a:endParaRPr sz="430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360680" marR="534035" indent="-348615">
              <a:lnSpc>
                <a:spcPts val="2620"/>
              </a:lnSpc>
              <a:spcBef>
                <a:spcPts val="254"/>
              </a:spcBef>
              <a:buClr>
                <a:srgbClr val="010172"/>
              </a:buClr>
              <a:buChar char="■"/>
              <a:tabLst>
                <a:tab pos="361950" algn="l"/>
              </a:tabLst>
            </a:pPr>
            <a:r>
              <a:rPr spc="95" dirty="0"/>
              <a:t>We</a:t>
            </a:r>
            <a:r>
              <a:rPr spc="-65" dirty="0"/>
              <a:t> </a:t>
            </a:r>
            <a:r>
              <a:rPr spc="60" dirty="0"/>
              <a:t>construct</a:t>
            </a:r>
            <a:r>
              <a:rPr spc="140" dirty="0"/>
              <a:t> </a:t>
            </a:r>
            <a:r>
              <a:rPr spc="75" dirty="0"/>
              <a:t>a</a:t>
            </a:r>
            <a:r>
              <a:rPr spc="20" dirty="0"/>
              <a:t> </a:t>
            </a:r>
            <a:r>
              <a:rPr spc="60" dirty="0"/>
              <a:t>set</a:t>
            </a:r>
            <a:r>
              <a:rPr spc="45" dirty="0"/>
              <a:t> </a:t>
            </a:r>
            <a:r>
              <a:rPr spc="-25" dirty="0"/>
              <a:t>of </a:t>
            </a:r>
            <a:r>
              <a:rPr spc="55" dirty="0"/>
              <a:t>edges</a:t>
            </a:r>
            <a:r>
              <a:rPr spc="175" dirty="0"/>
              <a:t> </a:t>
            </a:r>
            <a:r>
              <a:rPr spc="75" dirty="0"/>
              <a:t>A</a:t>
            </a:r>
            <a:r>
              <a:rPr spc="15" dirty="0"/>
              <a:t> </a:t>
            </a:r>
            <a:r>
              <a:rPr dirty="0"/>
              <a:t>satisfying</a:t>
            </a:r>
            <a:r>
              <a:rPr spc="315" dirty="0"/>
              <a:t> </a:t>
            </a:r>
            <a:r>
              <a:rPr spc="50" dirty="0"/>
              <a:t>the </a:t>
            </a:r>
            <a:r>
              <a:rPr dirty="0"/>
              <a:t>following</a:t>
            </a:r>
            <a:r>
              <a:rPr spc="525" dirty="0"/>
              <a:t> </a:t>
            </a:r>
            <a:r>
              <a:rPr spc="-10" dirty="0"/>
              <a:t>invariant:</a:t>
            </a:r>
          </a:p>
          <a:p>
            <a:pPr marL="24130" algn="ctr">
              <a:lnSpc>
                <a:spcPts val="2840"/>
              </a:lnSpc>
            </a:pPr>
            <a:r>
              <a:rPr sz="2900" spc="50" dirty="0">
                <a:solidFill>
                  <a:srgbClr val="AAA8B3"/>
                </a:solidFill>
              </a:rPr>
              <a:t>□</a:t>
            </a:r>
            <a:r>
              <a:rPr sz="2900" spc="-190" dirty="0">
                <a:solidFill>
                  <a:srgbClr val="AAA8B3"/>
                </a:solidFill>
              </a:rPr>
              <a:t> </a:t>
            </a:r>
            <a:r>
              <a:rPr sz="2100" dirty="0"/>
              <a:t>A</a:t>
            </a:r>
            <a:r>
              <a:rPr sz="2100" spc="-90" dirty="0"/>
              <a:t> </a:t>
            </a:r>
            <a:r>
              <a:rPr sz="2100" dirty="0"/>
              <a:t>is</a:t>
            </a:r>
            <a:r>
              <a:rPr sz="2100" spc="85" dirty="0"/>
              <a:t> </a:t>
            </a:r>
            <a:r>
              <a:rPr sz="2100" dirty="0"/>
              <a:t>a</a:t>
            </a:r>
            <a:r>
              <a:rPr sz="2100" spc="110" dirty="0"/>
              <a:t> </a:t>
            </a:r>
            <a:r>
              <a:rPr sz="2100" dirty="0"/>
              <a:t>subset</a:t>
            </a:r>
            <a:r>
              <a:rPr sz="2100" spc="160" dirty="0"/>
              <a:t> </a:t>
            </a:r>
            <a:r>
              <a:rPr sz="2100" dirty="0"/>
              <a:t>of</a:t>
            </a:r>
            <a:r>
              <a:rPr sz="2100" spc="135" dirty="0"/>
              <a:t> </a:t>
            </a:r>
            <a:r>
              <a:rPr sz="2100" spc="40" dirty="0"/>
              <a:t>some</a:t>
            </a:r>
            <a:endParaRPr sz="2100"/>
          </a:p>
          <a:p>
            <a:pPr marL="756920">
              <a:lnSpc>
                <a:spcPts val="2345"/>
              </a:lnSpc>
            </a:pPr>
            <a:r>
              <a:rPr sz="2100" spc="45" dirty="0"/>
              <a:t>MST</a:t>
            </a:r>
            <a:endParaRPr sz="2100"/>
          </a:p>
          <a:p>
            <a:pPr marL="360680" indent="-348615">
              <a:lnSpc>
                <a:spcPct val="100000"/>
              </a:lnSpc>
              <a:spcBef>
                <a:spcPts val="509"/>
              </a:spcBef>
              <a:buClr>
                <a:srgbClr val="010172"/>
              </a:buClr>
              <a:buChar char="■"/>
              <a:tabLst>
                <a:tab pos="360680" algn="l"/>
                <a:tab pos="361950" algn="l"/>
              </a:tabLst>
            </a:pPr>
            <a:r>
              <a:rPr spc="95" dirty="0"/>
              <a:t>We</a:t>
            </a:r>
            <a:r>
              <a:rPr spc="70" dirty="0"/>
              <a:t> </a:t>
            </a:r>
            <a:r>
              <a:rPr dirty="0"/>
              <a:t>start</a:t>
            </a:r>
            <a:r>
              <a:rPr spc="120" dirty="0"/>
              <a:t> </a:t>
            </a:r>
            <a:r>
              <a:rPr spc="65" dirty="0"/>
              <a:t>with</a:t>
            </a:r>
            <a:r>
              <a:rPr spc="-25" dirty="0"/>
              <a:t> </a:t>
            </a:r>
            <a:r>
              <a:rPr spc="75" dirty="0"/>
              <a:t>A</a:t>
            </a:r>
            <a:r>
              <a:rPr spc="-80" dirty="0"/>
              <a:t> </a:t>
            </a:r>
            <a:r>
              <a:rPr spc="45" dirty="0"/>
              <a:t>empty</a:t>
            </a:r>
          </a:p>
          <a:p>
            <a:pPr marL="363220" marR="5080" indent="-351155">
              <a:lnSpc>
                <a:spcPts val="2620"/>
              </a:lnSpc>
              <a:spcBef>
                <a:spcPts val="635"/>
              </a:spcBef>
              <a:buClr>
                <a:srgbClr val="010172"/>
              </a:buClr>
              <a:buChar char="■"/>
              <a:tabLst>
                <a:tab pos="359410" algn="l"/>
                <a:tab pos="360045" algn="l"/>
              </a:tabLst>
            </a:pPr>
            <a:r>
              <a:rPr spc="114" dirty="0"/>
              <a:t>On </a:t>
            </a:r>
            <a:r>
              <a:rPr spc="55" dirty="0"/>
              <a:t>each</a:t>
            </a:r>
            <a:r>
              <a:rPr spc="190" dirty="0"/>
              <a:t> </a:t>
            </a:r>
            <a:r>
              <a:rPr dirty="0"/>
              <a:t>iteration,</a:t>
            </a:r>
            <a:r>
              <a:rPr spc="235" dirty="0"/>
              <a:t> </a:t>
            </a:r>
            <a:r>
              <a:rPr spc="80" dirty="0"/>
              <a:t>we</a:t>
            </a:r>
            <a:r>
              <a:rPr spc="150" dirty="0"/>
              <a:t> </a:t>
            </a:r>
            <a:r>
              <a:rPr spc="70" dirty="0"/>
              <a:t>add </a:t>
            </a:r>
            <a:r>
              <a:rPr spc="100" dirty="0"/>
              <a:t>a</a:t>
            </a:r>
            <a:r>
              <a:rPr dirty="0"/>
              <a:t> </a:t>
            </a:r>
            <a:r>
              <a:rPr spc="45" dirty="0"/>
              <a:t>suitable</a:t>
            </a:r>
            <a:r>
              <a:rPr spc="114" dirty="0"/>
              <a:t> </a:t>
            </a:r>
            <a:r>
              <a:rPr spc="80" dirty="0"/>
              <a:t>edge</a:t>
            </a:r>
            <a:r>
              <a:rPr spc="20" dirty="0"/>
              <a:t> </a:t>
            </a:r>
            <a:r>
              <a:rPr spc="60" dirty="0"/>
              <a:t>to</a:t>
            </a:r>
            <a:r>
              <a:rPr spc="5" dirty="0"/>
              <a:t> </a:t>
            </a:r>
            <a:r>
              <a:rPr spc="25" dirty="0"/>
              <a:t>A</a:t>
            </a:r>
          </a:p>
          <a:p>
            <a:pPr marL="354965" marR="232410" indent="-342900">
              <a:lnSpc>
                <a:spcPct val="96200"/>
              </a:lnSpc>
              <a:spcBef>
                <a:spcPts val="505"/>
              </a:spcBef>
              <a:buClr>
                <a:srgbClr val="010172"/>
              </a:buClr>
              <a:buChar char="■"/>
              <a:tabLst>
                <a:tab pos="355600" algn="l"/>
                <a:tab pos="356235" algn="l"/>
              </a:tabLst>
            </a:pPr>
            <a:r>
              <a:rPr spc="50" dirty="0"/>
              <a:t>In</a:t>
            </a:r>
            <a:r>
              <a:rPr spc="100" dirty="0"/>
              <a:t> </a:t>
            </a:r>
            <a:r>
              <a:rPr spc="80" dirty="0"/>
              <a:t>the</a:t>
            </a:r>
            <a:r>
              <a:rPr spc="30" dirty="0"/>
              <a:t> </a:t>
            </a:r>
            <a:r>
              <a:rPr spc="55" dirty="0"/>
              <a:t>case</a:t>
            </a:r>
            <a:r>
              <a:rPr spc="100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45" dirty="0"/>
              <a:t>Kruskal's </a:t>
            </a:r>
            <a:r>
              <a:rPr dirty="0"/>
              <a:t>algorithm,</a:t>
            </a:r>
            <a:r>
              <a:rPr spc="-30" dirty="0"/>
              <a:t>  </a:t>
            </a:r>
            <a:r>
              <a:rPr spc="40" dirty="0"/>
              <a:t>candidate </a:t>
            </a:r>
            <a:r>
              <a:rPr spc="55" dirty="0"/>
              <a:t>edges</a:t>
            </a:r>
            <a:r>
              <a:rPr spc="80" dirty="0"/>
              <a:t> </a:t>
            </a:r>
            <a:r>
              <a:rPr spc="70" dirty="0"/>
              <a:t>are</a:t>
            </a:r>
            <a:r>
              <a:rPr spc="20" dirty="0"/>
              <a:t> </a:t>
            </a:r>
            <a:r>
              <a:rPr spc="65" dirty="0"/>
              <a:t>considered</a:t>
            </a:r>
            <a:r>
              <a:rPr spc="114" dirty="0"/>
              <a:t> </a:t>
            </a:r>
            <a:r>
              <a:rPr spc="-25" dirty="0"/>
              <a:t>in </a:t>
            </a:r>
            <a:r>
              <a:rPr dirty="0"/>
              <a:t>order</a:t>
            </a:r>
            <a:r>
              <a:rPr spc="220" dirty="0"/>
              <a:t> </a:t>
            </a:r>
            <a:r>
              <a:rPr spc="100" dirty="0"/>
              <a:t>by</a:t>
            </a:r>
            <a:r>
              <a:rPr spc="120" dirty="0"/>
              <a:t> </a:t>
            </a:r>
            <a:r>
              <a:rPr spc="45" dirty="0"/>
              <a:t>increasing </a:t>
            </a:r>
            <a:r>
              <a:rPr spc="40" dirty="0"/>
              <a:t>weight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37064" y="1746603"/>
            <a:ext cx="4288790" cy="309816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150" b="1" spc="-10" dirty="0">
                <a:solidFill>
                  <a:srgbClr val="050505"/>
                </a:solidFill>
                <a:latin typeface="Arial"/>
                <a:cs typeface="Arial"/>
              </a:rPr>
              <a:t>MST-</a:t>
            </a:r>
            <a:r>
              <a:rPr sz="2150" b="1" dirty="0">
                <a:solidFill>
                  <a:srgbClr val="050505"/>
                </a:solidFill>
                <a:latin typeface="Arial"/>
                <a:cs typeface="Arial"/>
              </a:rPr>
              <a:t>Kruskal</a:t>
            </a:r>
            <a:r>
              <a:rPr sz="2150" b="1" spc="160" dirty="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050505"/>
                </a:solidFill>
                <a:latin typeface="Arial"/>
                <a:cs typeface="Arial"/>
              </a:rPr>
              <a:t>(G,w)</a:t>
            </a:r>
            <a:endParaRPr sz="2150" dirty="0">
              <a:latin typeface="Arial"/>
              <a:cs typeface="Arial"/>
            </a:endParaRPr>
          </a:p>
          <a:p>
            <a:pPr marL="166370">
              <a:lnSpc>
                <a:spcPct val="100000"/>
              </a:lnSpc>
              <a:spcBef>
                <a:spcPts val="550"/>
              </a:spcBef>
            </a:pPr>
            <a:r>
              <a:rPr sz="2200" b="1" spc="415" dirty="0">
                <a:solidFill>
                  <a:srgbClr val="050505"/>
                </a:solidFill>
                <a:latin typeface="Arial"/>
                <a:cs typeface="Arial"/>
              </a:rPr>
              <a:t>A&lt;-</a:t>
            </a:r>
            <a:r>
              <a:rPr sz="2200" b="1" spc="375" dirty="0">
                <a:solidFill>
                  <a:srgbClr val="050505"/>
                </a:solidFill>
                <a:latin typeface="Arial"/>
                <a:cs typeface="Arial"/>
              </a:rPr>
              <a:t>0</a:t>
            </a:r>
            <a:endParaRPr sz="2200" dirty="0">
              <a:latin typeface="Arial"/>
              <a:cs typeface="Arial"/>
            </a:endParaRPr>
          </a:p>
          <a:p>
            <a:pPr marL="522605" marR="11430" indent="-342265" algn="just">
              <a:lnSpc>
                <a:spcPts val="3110"/>
              </a:lnSpc>
              <a:spcBef>
                <a:spcPts val="115"/>
              </a:spcBef>
            </a:pPr>
            <a:r>
              <a:rPr sz="2100" b="1" spc="70" dirty="0">
                <a:solidFill>
                  <a:srgbClr val="050505"/>
                </a:solidFill>
                <a:latin typeface="Courier New"/>
                <a:cs typeface="Courier New"/>
              </a:rPr>
              <a:t>For</a:t>
            </a:r>
            <a:r>
              <a:rPr sz="2100" b="1" spc="95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050505"/>
                </a:solidFill>
                <a:latin typeface="Courier New"/>
                <a:cs typeface="Courier New"/>
              </a:rPr>
              <a:t>each</a:t>
            </a:r>
            <a:r>
              <a:rPr sz="2100" b="1" spc="245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050505"/>
                </a:solidFill>
                <a:latin typeface="Courier New"/>
                <a:cs typeface="Courier New"/>
              </a:rPr>
              <a:t>vertex</a:t>
            </a:r>
            <a:r>
              <a:rPr sz="2100" b="1" spc="215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050505"/>
                </a:solidFill>
                <a:latin typeface="Courier New"/>
                <a:cs typeface="Courier New"/>
              </a:rPr>
              <a:t>v</a:t>
            </a:r>
            <a:r>
              <a:rPr sz="2100" b="1" spc="350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50505"/>
                </a:solidFill>
                <a:latin typeface="Courier New"/>
                <a:cs typeface="Courier New"/>
              </a:rPr>
              <a:t>e</a:t>
            </a:r>
            <a:r>
              <a:rPr sz="2250" spc="140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2100" b="1" spc="-20" dirty="0">
                <a:solidFill>
                  <a:srgbClr val="050505"/>
                </a:solidFill>
                <a:latin typeface="Courier New"/>
                <a:cs typeface="Courier New"/>
              </a:rPr>
              <a:t>V[G] </a:t>
            </a:r>
            <a:r>
              <a:rPr sz="2100" b="1" dirty="0">
                <a:solidFill>
                  <a:srgbClr val="050505"/>
                </a:solidFill>
                <a:latin typeface="Courier New"/>
                <a:cs typeface="Courier New"/>
              </a:rPr>
              <a:t>Make-</a:t>
            </a:r>
            <a:r>
              <a:rPr sz="2100" b="1" spc="-10" dirty="0">
                <a:solidFill>
                  <a:srgbClr val="050505"/>
                </a:solidFill>
                <a:latin typeface="Courier New"/>
                <a:cs typeface="Courier New"/>
              </a:rPr>
              <a:t>Set(v)</a:t>
            </a:r>
            <a:endParaRPr sz="2100" dirty="0">
              <a:latin typeface="Courier New"/>
              <a:cs typeface="Courier New"/>
            </a:endParaRPr>
          </a:p>
          <a:p>
            <a:pPr marL="362585" marR="711835" indent="-180340" algn="just">
              <a:lnSpc>
                <a:spcPct val="105200"/>
              </a:lnSpc>
              <a:spcBef>
                <a:spcPts val="325"/>
              </a:spcBef>
            </a:pPr>
            <a:r>
              <a:rPr sz="2100" b="1" dirty="0">
                <a:solidFill>
                  <a:srgbClr val="050505"/>
                </a:solidFill>
                <a:latin typeface="Courier New"/>
                <a:cs typeface="Courier New"/>
              </a:rPr>
              <a:t>sort</a:t>
            </a:r>
            <a:r>
              <a:rPr sz="2100" b="1" spc="275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2100" b="1" spc="80" dirty="0">
                <a:solidFill>
                  <a:srgbClr val="050505"/>
                </a:solidFill>
                <a:latin typeface="Courier New"/>
                <a:cs typeface="Courier New"/>
              </a:rPr>
              <a:t>the</a:t>
            </a:r>
            <a:r>
              <a:rPr sz="2100" b="1" spc="220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050505"/>
                </a:solidFill>
                <a:latin typeface="Courier New"/>
                <a:cs typeface="Courier New"/>
              </a:rPr>
              <a:t>edges(E)</a:t>
            </a:r>
            <a:r>
              <a:rPr sz="2100" b="1" spc="280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2100" b="1" spc="30" dirty="0">
                <a:solidFill>
                  <a:srgbClr val="050505"/>
                </a:solidFill>
                <a:latin typeface="Courier New"/>
                <a:cs typeface="Courier New"/>
              </a:rPr>
              <a:t>in </a:t>
            </a:r>
            <a:r>
              <a:rPr sz="2100" b="1" dirty="0">
                <a:solidFill>
                  <a:srgbClr val="050505"/>
                </a:solidFill>
                <a:latin typeface="Courier New"/>
                <a:cs typeface="Courier New"/>
              </a:rPr>
              <a:t>increasing</a:t>
            </a:r>
            <a:r>
              <a:rPr sz="2100" b="1" spc="500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050505"/>
                </a:solidFill>
                <a:latin typeface="Courier New"/>
                <a:cs typeface="Courier New"/>
              </a:rPr>
              <a:t>order</a:t>
            </a:r>
            <a:r>
              <a:rPr sz="2100" b="1" spc="420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2100" b="1" spc="-25" dirty="0">
                <a:solidFill>
                  <a:srgbClr val="050505"/>
                </a:solidFill>
                <a:latin typeface="Courier New"/>
                <a:cs typeface="Courier New"/>
              </a:rPr>
              <a:t>by </a:t>
            </a:r>
            <a:r>
              <a:rPr sz="2100" b="1" dirty="0">
                <a:solidFill>
                  <a:srgbClr val="050505"/>
                </a:solidFill>
                <a:latin typeface="Courier New"/>
                <a:cs typeface="Courier New"/>
              </a:rPr>
              <a:t>weight</a:t>
            </a:r>
            <a:r>
              <a:rPr sz="2100" b="1" spc="320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050505"/>
                </a:solidFill>
                <a:latin typeface="Courier New"/>
                <a:cs typeface="Courier New"/>
              </a:rPr>
              <a:t>w</a:t>
            </a:r>
            <a:endParaRPr sz="2100" dirty="0">
              <a:latin typeface="Courier New"/>
              <a:cs typeface="Courier New"/>
            </a:endParaRPr>
          </a:p>
          <a:p>
            <a:pPr marL="362585" algn="just">
              <a:lnSpc>
                <a:spcPct val="100000"/>
              </a:lnSpc>
              <a:spcBef>
                <a:spcPts val="630"/>
              </a:spcBef>
            </a:pPr>
            <a:r>
              <a:rPr sz="2100" b="1" dirty="0">
                <a:solidFill>
                  <a:srgbClr val="050505"/>
                </a:solidFill>
                <a:latin typeface="Courier New"/>
                <a:cs typeface="Courier New"/>
              </a:rPr>
              <a:t>for</a:t>
            </a:r>
            <a:r>
              <a:rPr sz="2100" b="1" spc="215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050505"/>
                </a:solidFill>
                <a:latin typeface="Courier New"/>
                <a:cs typeface="Courier New"/>
              </a:rPr>
              <a:t>each</a:t>
            </a:r>
            <a:r>
              <a:rPr sz="2100" b="1" spc="225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050505"/>
                </a:solidFill>
                <a:latin typeface="Courier New"/>
                <a:cs typeface="Courier New"/>
              </a:rPr>
              <a:t>edge</a:t>
            </a:r>
            <a:r>
              <a:rPr sz="2100" b="1" spc="315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050505"/>
                </a:solidFill>
                <a:latin typeface="Courier New"/>
                <a:cs typeface="Courier New"/>
              </a:rPr>
              <a:t>(u,v)</a:t>
            </a:r>
            <a:r>
              <a:rPr sz="2100" b="1" spc="315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2200" spc="50" dirty="0">
                <a:solidFill>
                  <a:srgbClr val="050505"/>
                </a:solidFill>
                <a:latin typeface="Courier New"/>
                <a:cs typeface="Courier New"/>
              </a:rPr>
              <a:t>e</a:t>
            </a:r>
            <a:r>
              <a:rPr sz="2200" spc="235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2100" b="1" dirty="0">
                <a:solidFill>
                  <a:srgbClr val="050505"/>
                </a:solidFill>
                <a:latin typeface="Courier New"/>
                <a:cs typeface="Courier New"/>
              </a:rPr>
              <a:t>E</a:t>
            </a:r>
            <a:endParaRPr sz="21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23978" y="4785262"/>
            <a:ext cx="19888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60" dirty="0">
                <a:solidFill>
                  <a:srgbClr val="050505"/>
                </a:solidFill>
                <a:latin typeface="Courier New"/>
                <a:cs typeface="Courier New"/>
              </a:rPr>
              <a:t>if</a:t>
            </a:r>
            <a:r>
              <a:rPr sz="1750" b="1" spc="20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srgbClr val="050505"/>
                </a:solidFill>
                <a:latin typeface="Courier New"/>
                <a:cs typeface="Courier New"/>
              </a:rPr>
              <a:t>FindSet(u)</a:t>
            </a:r>
            <a:r>
              <a:rPr sz="1750" b="1" spc="-755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3000" i="1" spc="-50" dirty="0">
                <a:solidFill>
                  <a:srgbClr val="1A1A1A"/>
                </a:solidFill>
                <a:latin typeface="Arial"/>
                <a:cs typeface="Arial"/>
              </a:rPr>
              <a:t>*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05702" y="4944216"/>
            <a:ext cx="138557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-10" dirty="0">
                <a:solidFill>
                  <a:srgbClr val="050505"/>
                </a:solidFill>
                <a:latin typeface="Courier New"/>
                <a:cs typeface="Courier New"/>
              </a:rPr>
              <a:t>FindSet(v)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91675" y="5096680"/>
            <a:ext cx="2511425" cy="95694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347980" algn="l"/>
                <a:tab pos="684530" algn="l"/>
                <a:tab pos="1030605" algn="l"/>
                <a:tab pos="1379220" algn="l"/>
                <a:tab pos="2038985" algn="l"/>
                <a:tab pos="2420620" algn="l"/>
              </a:tabLst>
            </a:pPr>
            <a:r>
              <a:rPr sz="1900" b="1" spc="55" dirty="0">
                <a:solidFill>
                  <a:srgbClr val="050505"/>
                </a:solidFill>
                <a:latin typeface="Times New Roman"/>
                <a:cs typeface="Times New Roman"/>
              </a:rPr>
              <a:t>A</a:t>
            </a:r>
            <a:r>
              <a:rPr sz="1900" b="1" dirty="0">
                <a:solidFill>
                  <a:srgbClr val="050505"/>
                </a:solidFill>
                <a:latin typeface="Times New Roman"/>
                <a:cs typeface="Times New Roman"/>
              </a:rPr>
              <a:t>	</a:t>
            </a:r>
            <a:r>
              <a:rPr sz="3050" spc="-310" dirty="0">
                <a:solidFill>
                  <a:srgbClr val="050505"/>
                </a:solidFill>
                <a:latin typeface="Times New Roman"/>
                <a:cs typeface="Times New Roman"/>
              </a:rPr>
              <a:t>=</a:t>
            </a:r>
            <a:r>
              <a:rPr sz="3050" dirty="0">
                <a:solidFill>
                  <a:srgbClr val="050505"/>
                </a:solidFill>
                <a:latin typeface="Times New Roman"/>
                <a:cs typeface="Times New Roman"/>
              </a:rPr>
              <a:t>	</a:t>
            </a:r>
            <a:r>
              <a:rPr sz="1900" b="1" spc="45" dirty="0">
                <a:solidFill>
                  <a:srgbClr val="050505"/>
                </a:solidFill>
                <a:latin typeface="Times New Roman"/>
                <a:cs typeface="Times New Roman"/>
              </a:rPr>
              <a:t>A</a:t>
            </a:r>
            <a:r>
              <a:rPr sz="1900" b="1" dirty="0">
                <a:solidFill>
                  <a:srgbClr val="050505"/>
                </a:solidFill>
                <a:latin typeface="Times New Roman"/>
                <a:cs typeface="Times New Roman"/>
              </a:rPr>
              <a:t>	</a:t>
            </a:r>
            <a:r>
              <a:rPr sz="1900" b="1" spc="-50" dirty="0">
                <a:solidFill>
                  <a:srgbClr val="050505"/>
                </a:solidFill>
                <a:latin typeface="Times New Roman"/>
                <a:cs typeface="Times New Roman"/>
              </a:rPr>
              <a:t>U</a:t>
            </a:r>
            <a:r>
              <a:rPr sz="1900" b="1" dirty="0">
                <a:solidFill>
                  <a:srgbClr val="050505"/>
                </a:solidFill>
                <a:latin typeface="Times New Roman"/>
                <a:cs typeface="Times New Roman"/>
              </a:rPr>
              <a:t>	</a:t>
            </a:r>
            <a:r>
              <a:rPr sz="1900" dirty="0">
                <a:solidFill>
                  <a:srgbClr val="050505"/>
                </a:solidFill>
                <a:latin typeface="Times New Roman"/>
                <a:cs typeface="Times New Roman"/>
              </a:rPr>
              <a:t>{</a:t>
            </a:r>
            <a:r>
              <a:rPr sz="1900" spc="320" dirty="0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050505"/>
                </a:solidFill>
                <a:latin typeface="Arial"/>
                <a:cs typeface="Arial"/>
              </a:rPr>
              <a:t>(u,</a:t>
            </a:r>
            <a:r>
              <a:rPr sz="1800" b="1" dirty="0">
                <a:solidFill>
                  <a:srgbClr val="050505"/>
                </a:solidFill>
                <a:latin typeface="Arial"/>
                <a:cs typeface="Arial"/>
              </a:rPr>
              <a:t>	</a:t>
            </a:r>
            <a:r>
              <a:rPr sz="1800" b="1" spc="-25" dirty="0">
                <a:solidFill>
                  <a:srgbClr val="050505"/>
                </a:solidFill>
                <a:latin typeface="Arial"/>
                <a:cs typeface="Arial"/>
              </a:rPr>
              <a:t>v)</a:t>
            </a:r>
            <a:r>
              <a:rPr sz="1800" b="1" dirty="0">
                <a:solidFill>
                  <a:srgbClr val="050505"/>
                </a:solidFill>
                <a:latin typeface="Arial"/>
                <a:cs typeface="Arial"/>
              </a:rPr>
              <a:t>	</a:t>
            </a:r>
            <a:r>
              <a:rPr sz="1800" spc="-50" dirty="0">
                <a:solidFill>
                  <a:srgbClr val="050505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595630">
              <a:lnSpc>
                <a:spcPct val="100000"/>
              </a:lnSpc>
              <a:spcBef>
                <a:spcPts val="470"/>
              </a:spcBef>
            </a:pPr>
            <a:r>
              <a:rPr sz="2100" b="1" spc="-10" dirty="0">
                <a:solidFill>
                  <a:srgbClr val="050505"/>
                </a:solidFill>
                <a:latin typeface="Courier New"/>
                <a:cs typeface="Courier New"/>
              </a:rPr>
              <a:t>UNION{u,v)</a:t>
            </a:r>
            <a:endParaRPr sz="2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503" y="0"/>
            <a:ext cx="3030024" cy="5028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503" y="2782807"/>
            <a:ext cx="3406536" cy="267490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76450" y="3285473"/>
            <a:ext cx="806811" cy="3410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65469" y="3788140"/>
            <a:ext cx="1550871" cy="102328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65469" y="5628261"/>
            <a:ext cx="1963240" cy="99635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155529" y="89947"/>
            <a:ext cx="2905125" cy="0"/>
          </a:xfrm>
          <a:custGeom>
            <a:avLst/>
            <a:gdLst/>
            <a:ahLst/>
            <a:cxnLst/>
            <a:rect l="l" t="t" r="r" b="b"/>
            <a:pathLst>
              <a:path w="2905125">
                <a:moveTo>
                  <a:pt x="0" y="0"/>
                </a:moveTo>
                <a:lnTo>
                  <a:pt x="2904521" y="0"/>
                </a:lnTo>
              </a:path>
            </a:pathLst>
          </a:custGeom>
          <a:ln w="17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55529" y="332305"/>
            <a:ext cx="2994660" cy="0"/>
          </a:xfrm>
          <a:custGeom>
            <a:avLst/>
            <a:gdLst/>
            <a:ahLst/>
            <a:cxnLst/>
            <a:rect l="l" t="t" r="r" b="b"/>
            <a:pathLst>
              <a:path w="2994660">
                <a:moveTo>
                  <a:pt x="0" y="0"/>
                </a:moveTo>
                <a:lnTo>
                  <a:pt x="2994166" y="0"/>
                </a:lnTo>
              </a:path>
            </a:pathLst>
          </a:custGeom>
          <a:ln w="26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761988" y="2872568"/>
            <a:ext cx="843280" cy="404495"/>
            <a:chOff x="761988" y="2872568"/>
            <a:chExt cx="843280" cy="404495"/>
          </a:xfrm>
        </p:grpSpPr>
        <p:sp>
          <p:nvSpPr>
            <p:cNvPr id="10" name="object 10"/>
            <p:cNvSpPr/>
            <p:nvPr/>
          </p:nvSpPr>
          <p:spPr>
            <a:xfrm>
              <a:off x="761988" y="2980283"/>
              <a:ext cx="843280" cy="0"/>
            </a:xfrm>
            <a:custGeom>
              <a:avLst/>
              <a:gdLst/>
              <a:ahLst/>
              <a:cxnLst/>
              <a:rect l="l" t="t" r="r" b="b"/>
              <a:pathLst>
                <a:path w="843280">
                  <a:moveTo>
                    <a:pt x="0" y="0"/>
                  </a:moveTo>
                  <a:lnTo>
                    <a:pt x="842669" y="0"/>
                  </a:lnTo>
                </a:path>
              </a:pathLst>
            </a:custGeom>
            <a:ln w="35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86729" y="2872568"/>
              <a:ext cx="0" cy="125730"/>
            </a:xfrm>
            <a:custGeom>
              <a:avLst/>
              <a:gdLst/>
              <a:ahLst/>
              <a:cxnLst/>
              <a:rect l="l" t="t" r="r" b="b"/>
              <a:pathLst>
                <a:path h="125730">
                  <a:moveTo>
                    <a:pt x="0" y="125667"/>
                  </a:moveTo>
                  <a:lnTo>
                    <a:pt x="0" y="0"/>
                  </a:lnTo>
                </a:path>
              </a:pathLst>
            </a:custGeom>
            <a:ln w="268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86729" y="2962331"/>
              <a:ext cx="0" cy="314325"/>
            </a:xfrm>
            <a:custGeom>
              <a:avLst/>
              <a:gdLst/>
              <a:ahLst/>
              <a:cxnLst/>
              <a:rect l="l" t="t" r="r" b="b"/>
              <a:pathLst>
                <a:path h="314325">
                  <a:moveTo>
                    <a:pt x="0" y="314167"/>
                  </a:moveTo>
                  <a:lnTo>
                    <a:pt x="0" y="0"/>
                  </a:lnTo>
                </a:path>
              </a:pathLst>
            </a:custGeom>
            <a:ln w="89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760400" y="272479"/>
            <a:ext cx="299466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i="1" dirty="0">
                <a:solidFill>
                  <a:srgbClr val="183DC3"/>
                </a:solidFill>
                <a:latin typeface="Times New Roman"/>
                <a:cs typeface="Times New Roman"/>
              </a:rPr>
              <a:t>Kruskal's</a:t>
            </a:r>
            <a:r>
              <a:rPr sz="2700" i="1" spc="170" dirty="0">
                <a:solidFill>
                  <a:srgbClr val="183DC3"/>
                </a:solidFill>
                <a:latin typeface="Times New Roman"/>
                <a:cs typeface="Times New Roman"/>
              </a:rPr>
              <a:t> </a:t>
            </a:r>
            <a:r>
              <a:rPr sz="2700" i="1" spc="-10" dirty="0">
                <a:solidFill>
                  <a:srgbClr val="183DC3"/>
                </a:solidFill>
                <a:latin typeface="Times New Roman"/>
                <a:cs typeface="Times New Roman"/>
              </a:rPr>
              <a:t>Algorithm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90645" y="777016"/>
            <a:ext cx="6007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u="heavy" spc="45" dirty="0">
                <a:solidFill>
                  <a:srgbClr val="525252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050" u="heavy" spc="45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dge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11585" y="768041"/>
            <a:ext cx="5461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50" dirty="0">
                <a:solidFill>
                  <a:srgbClr val="343434"/>
                </a:solidFill>
                <a:latin typeface="Times New Roman"/>
                <a:cs typeface="Times New Roman"/>
              </a:rPr>
              <a:t>Cost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52887" y="674012"/>
            <a:ext cx="2434590" cy="138366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840"/>
              </a:spcBef>
            </a:pPr>
            <a:r>
              <a:rPr sz="2050" u="heavy" spc="55" dirty="0">
                <a:solidFill>
                  <a:srgbClr val="343434"/>
                </a:solidFill>
                <a:uFill>
                  <a:solidFill>
                    <a:srgbClr val="343434"/>
                  </a:solidFill>
                </a:uFill>
                <a:latin typeface="Times New Roman"/>
                <a:cs typeface="Times New Roman"/>
              </a:rPr>
              <a:t>Spanning</a:t>
            </a:r>
            <a:r>
              <a:rPr sz="2050" spc="114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343434"/>
                </a:solidFill>
                <a:latin typeface="Times New Roman"/>
                <a:cs typeface="Times New Roman"/>
              </a:rPr>
              <a:t>Forest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ts val="2930"/>
              </a:lnSpc>
              <a:spcBef>
                <a:spcPts val="910"/>
              </a:spcBef>
            </a:pPr>
            <a:r>
              <a:rPr sz="2500" spc="254" dirty="0">
                <a:solidFill>
                  <a:srgbClr val="1F1F1F"/>
                </a:solidFill>
                <a:latin typeface="Times New Roman"/>
                <a:cs typeface="Times New Roman"/>
              </a:rPr>
              <a:t>(Da)Q)@)(?)@</a:t>
            </a:r>
            <a:endParaRPr sz="2500">
              <a:latin typeface="Times New Roman"/>
              <a:cs typeface="Times New Roman"/>
            </a:endParaRPr>
          </a:p>
          <a:p>
            <a:pPr marL="13970">
              <a:lnSpc>
                <a:spcPts val="3650"/>
              </a:lnSpc>
            </a:pPr>
            <a:r>
              <a:rPr sz="2550" dirty="0">
                <a:solidFill>
                  <a:srgbClr val="1F1F1F"/>
                </a:solidFill>
                <a:latin typeface="Times New Roman"/>
                <a:cs typeface="Times New Roman"/>
              </a:rPr>
              <a:t>Q)-0)</a:t>
            </a:r>
            <a:r>
              <a:rPr sz="2550" spc="-1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1F1F1F"/>
                </a:solidFill>
                <a:latin typeface="Times New Roman"/>
                <a:cs typeface="Times New Roman"/>
              </a:rPr>
              <a:t>Q)</a:t>
            </a:r>
            <a:r>
              <a:rPr sz="2500" spc="-4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500" spc="-285" dirty="0">
                <a:solidFill>
                  <a:srgbClr val="1F1F1F"/>
                </a:solidFill>
                <a:latin typeface="Times New Roman"/>
                <a:cs typeface="Times New Roman"/>
              </a:rPr>
              <a:t>@)</a:t>
            </a:r>
            <a:r>
              <a:rPr sz="2500" spc="10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1F1F1F"/>
                </a:solidFill>
                <a:latin typeface="Times New Roman"/>
                <a:cs typeface="Times New Roman"/>
              </a:rPr>
              <a:t>(?)</a:t>
            </a:r>
            <a:r>
              <a:rPr sz="2500" spc="9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3100" spc="130" dirty="0">
                <a:solidFill>
                  <a:srgbClr val="1F1F1F"/>
                </a:solidFill>
                <a:latin typeface="Arial"/>
                <a:cs typeface="Arial"/>
              </a:rPr>
              <a:t>®</a:t>
            </a:r>
            <a:endParaRPr sz="3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32830" y="1611831"/>
            <a:ext cx="666115" cy="84137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595"/>
              </a:spcBef>
            </a:pPr>
            <a:r>
              <a:rPr sz="2050" spc="50" dirty="0">
                <a:solidFill>
                  <a:srgbClr val="343434"/>
                </a:solidFill>
                <a:latin typeface="Times New Roman"/>
                <a:cs typeface="Times New Roman"/>
              </a:rPr>
              <a:t>(1,2)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2400" spc="-465" dirty="0">
                <a:solidFill>
                  <a:srgbClr val="343434"/>
                </a:solidFill>
                <a:latin typeface="Courier New"/>
                <a:cs typeface="Courier New"/>
              </a:rPr>
              <a:t>(3,6)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34452" y="1583528"/>
            <a:ext cx="306705" cy="85153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050" spc="45" dirty="0">
                <a:solidFill>
                  <a:srgbClr val="1F1F1F"/>
                </a:solidFill>
                <a:latin typeface="Times New Roman"/>
                <a:cs typeface="Times New Roman"/>
              </a:rPr>
              <a:t>10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050" spc="35" dirty="0">
                <a:solidFill>
                  <a:srgbClr val="111111"/>
                </a:solidFill>
                <a:latin typeface="Times New Roman"/>
                <a:cs typeface="Times New Roman"/>
              </a:rPr>
              <a:t>15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54569" y="2131674"/>
            <a:ext cx="1202055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dirty="0">
                <a:solidFill>
                  <a:srgbClr val="1F1F1F"/>
                </a:solidFill>
                <a:latin typeface="Times New Roman"/>
                <a:cs typeface="Times New Roman"/>
              </a:rPr>
              <a:t>Q)-0)</a:t>
            </a:r>
            <a:r>
              <a:rPr sz="2550" spc="45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550" spc="20" dirty="0">
                <a:solidFill>
                  <a:srgbClr val="1F1F1F"/>
                </a:solidFill>
                <a:latin typeface="Times New Roman"/>
                <a:cs typeface="Times New Roman"/>
              </a:rPr>
              <a:t>@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89574" y="2150749"/>
            <a:ext cx="307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25" dirty="0">
                <a:solidFill>
                  <a:srgbClr val="1F1F1F"/>
                </a:solidFill>
                <a:latin typeface="Arial"/>
                <a:cs typeface="Arial"/>
              </a:rPr>
              <a:t>0)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18711" y="2867722"/>
            <a:ext cx="773430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dirty="0">
                <a:solidFill>
                  <a:srgbClr val="1F1F1F"/>
                </a:solidFill>
                <a:latin typeface="Times New Roman"/>
                <a:cs typeface="Times New Roman"/>
              </a:rPr>
              <a:t>Q)-</a:t>
            </a:r>
            <a:r>
              <a:rPr sz="2550" spc="-25" dirty="0">
                <a:solidFill>
                  <a:srgbClr val="1F1F1F"/>
                </a:solidFill>
                <a:latin typeface="Times New Roman"/>
                <a:cs typeface="Times New Roman"/>
              </a:rPr>
              <a:t>0)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95393" y="2874080"/>
            <a:ext cx="69532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43434"/>
                </a:solidFill>
                <a:latin typeface="Courier New"/>
                <a:cs typeface="Courier New"/>
              </a:rPr>
              <a:t>3</a:t>
            </a:r>
            <a:r>
              <a:rPr sz="2400" spc="-245" dirty="0">
                <a:solidFill>
                  <a:srgbClr val="343434"/>
                </a:solidFill>
                <a:latin typeface="Courier New"/>
                <a:cs typeface="Courier New"/>
              </a:rPr>
              <a:t> </a:t>
            </a:r>
            <a:r>
              <a:rPr sz="2500" spc="-35" dirty="0">
                <a:solidFill>
                  <a:srgbClr val="1F1F1F"/>
                </a:solidFill>
                <a:latin typeface="Times New Roman"/>
                <a:cs typeface="Times New Roman"/>
              </a:rPr>
              <a:t>(?)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23866" y="2895773"/>
            <a:ext cx="6750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0" dirty="0">
                <a:solidFill>
                  <a:srgbClr val="343434"/>
                </a:solidFill>
                <a:latin typeface="Courier New"/>
                <a:cs typeface="Courier New"/>
              </a:rPr>
              <a:t>(4,6)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23326" y="2931303"/>
            <a:ext cx="21082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335" dirty="0">
                <a:solidFill>
                  <a:srgbClr val="343434"/>
                </a:solidFill>
                <a:latin typeface="Times New Roman"/>
                <a:cs typeface="Times New Roman"/>
              </a:rPr>
              <a:t>20</a:t>
            </a:r>
            <a:endParaRPr sz="2050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02586" y="3753373"/>
            <a:ext cx="5734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0" dirty="0">
                <a:solidFill>
                  <a:srgbClr val="343434"/>
                </a:solidFill>
                <a:latin typeface="Times New Roman"/>
                <a:cs typeface="Times New Roman"/>
              </a:rPr>
              <a:t>(2</a:t>
            </a:r>
            <a:r>
              <a:rPr sz="2150" spc="-10" dirty="0">
                <a:solidFill>
                  <a:srgbClr val="626262"/>
                </a:solidFill>
                <a:latin typeface="Times New Roman"/>
                <a:cs typeface="Times New Roman"/>
              </a:rPr>
              <a:t>,</a:t>
            </a:r>
            <a:r>
              <a:rPr sz="2150" spc="-10" dirty="0">
                <a:solidFill>
                  <a:srgbClr val="343434"/>
                </a:solidFill>
                <a:latin typeface="Times New Roman"/>
                <a:cs typeface="Times New Roman"/>
              </a:rPr>
              <a:t>6)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23326" y="3766089"/>
            <a:ext cx="296545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25" dirty="0">
                <a:solidFill>
                  <a:srgbClr val="343434"/>
                </a:solidFill>
                <a:latin typeface="Times New Roman"/>
                <a:cs typeface="Times New Roman"/>
              </a:rPr>
              <a:t>25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02586" y="5010041"/>
            <a:ext cx="578485" cy="901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0" dirty="0">
                <a:solidFill>
                  <a:srgbClr val="343434"/>
                </a:solidFill>
                <a:latin typeface="Times New Roman"/>
                <a:cs typeface="Times New Roman"/>
              </a:rPr>
              <a:t>(1,4)</a:t>
            </a:r>
            <a:endParaRPr sz="215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1735"/>
              </a:spcBef>
            </a:pPr>
            <a:r>
              <a:rPr sz="2150" spc="-10" dirty="0">
                <a:solidFill>
                  <a:srgbClr val="343434"/>
                </a:solidFill>
                <a:latin typeface="Times New Roman"/>
                <a:cs typeface="Times New Roman"/>
              </a:rPr>
              <a:t>(3,5)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27343" y="5022757"/>
            <a:ext cx="311785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65" dirty="0">
                <a:solidFill>
                  <a:srgbClr val="343434"/>
                </a:solidFill>
                <a:latin typeface="Times New Roman"/>
                <a:cs typeface="Times New Roman"/>
              </a:rPr>
              <a:t>30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90324" y="5013782"/>
            <a:ext cx="828675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343434"/>
                </a:solidFill>
                <a:latin typeface="Times New Roman"/>
                <a:cs typeface="Times New Roman"/>
              </a:rPr>
              <a:t>(reject)</a:t>
            </a:r>
            <a:endParaRPr sz="2050" dirty="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26835" y="5557589"/>
            <a:ext cx="31242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5" dirty="0">
                <a:solidFill>
                  <a:srgbClr val="343434"/>
                </a:solidFill>
                <a:latin typeface="Times New Roman"/>
                <a:cs typeface="Times New Roman"/>
              </a:rPr>
              <a:t>35</a:t>
            </a:r>
            <a:endParaRPr sz="2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195" marR="5080" indent="635">
              <a:lnSpc>
                <a:spcPct val="100000"/>
              </a:lnSpc>
              <a:spcBef>
                <a:spcPts val="105"/>
              </a:spcBef>
            </a:pPr>
            <a:r>
              <a:rPr sz="4000" spc="-229" dirty="0">
                <a:solidFill>
                  <a:srgbClr val="030303"/>
                </a:solidFill>
              </a:rPr>
              <a:t>Application:</a:t>
            </a:r>
            <a:r>
              <a:rPr sz="4000" spc="-50" dirty="0">
                <a:solidFill>
                  <a:srgbClr val="030303"/>
                </a:solidFill>
              </a:rPr>
              <a:t> </a:t>
            </a:r>
            <a:r>
              <a:rPr sz="4000" dirty="0">
                <a:solidFill>
                  <a:srgbClr val="030303"/>
                </a:solidFill>
              </a:rPr>
              <a:t>The</a:t>
            </a:r>
            <a:r>
              <a:rPr sz="4000" spc="-120" dirty="0">
                <a:solidFill>
                  <a:srgbClr val="030303"/>
                </a:solidFill>
              </a:rPr>
              <a:t> </a:t>
            </a:r>
            <a:r>
              <a:rPr sz="4000" spc="-175" dirty="0">
                <a:solidFill>
                  <a:srgbClr val="030303"/>
                </a:solidFill>
              </a:rPr>
              <a:t>Minimal-</a:t>
            </a:r>
            <a:r>
              <a:rPr sz="4000" spc="-110" dirty="0">
                <a:solidFill>
                  <a:srgbClr val="030303"/>
                </a:solidFill>
              </a:rPr>
              <a:t>Connector </a:t>
            </a:r>
            <a:r>
              <a:rPr sz="4000" spc="-85" dirty="0">
                <a:solidFill>
                  <a:srgbClr val="030303"/>
                </a:solidFill>
              </a:rPr>
              <a:t>Problem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75222" y="2004886"/>
            <a:ext cx="7706995" cy="308673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63855" marR="183515" indent="-351790">
              <a:lnSpc>
                <a:spcPts val="3040"/>
              </a:lnSpc>
              <a:spcBef>
                <a:spcPts val="370"/>
              </a:spcBef>
              <a:buClr>
                <a:srgbClr val="010077"/>
              </a:buClr>
              <a:buChar char="■"/>
              <a:tabLst>
                <a:tab pos="360045" algn="l"/>
              </a:tabLst>
            </a:pPr>
            <a:r>
              <a:rPr sz="2700" dirty="0">
                <a:solidFill>
                  <a:srgbClr val="030303"/>
                </a:solidFill>
                <a:latin typeface="Arial"/>
                <a:cs typeface="Arial"/>
              </a:rPr>
              <a:t>Given</a:t>
            </a:r>
            <a:r>
              <a:rPr sz="2700" spc="22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30303"/>
                </a:solidFill>
                <a:latin typeface="Arial"/>
                <a:cs typeface="Arial"/>
              </a:rPr>
              <a:t>a</a:t>
            </a:r>
            <a:r>
              <a:rPr sz="2700" spc="14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30303"/>
                </a:solidFill>
                <a:latin typeface="Arial"/>
                <a:cs typeface="Arial"/>
              </a:rPr>
              <a:t>connected</a:t>
            </a:r>
            <a:r>
              <a:rPr sz="2700" spc="229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30303"/>
                </a:solidFill>
                <a:latin typeface="Arial"/>
                <a:cs typeface="Arial"/>
              </a:rPr>
              <a:t>graph</a:t>
            </a:r>
            <a:r>
              <a:rPr sz="2700" spc="24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spc="70" dirty="0">
                <a:solidFill>
                  <a:srgbClr val="030303"/>
                </a:solidFill>
                <a:latin typeface="Arial"/>
                <a:cs typeface="Arial"/>
              </a:rPr>
              <a:t>in</a:t>
            </a:r>
            <a:r>
              <a:rPr sz="2700" spc="2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30303"/>
                </a:solidFill>
                <a:latin typeface="Arial"/>
                <a:cs typeface="Arial"/>
              </a:rPr>
              <a:t>which</a:t>
            </a:r>
            <a:r>
              <a:rPr sz="2700" spc="24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spc="50" dirty="0">
                <a:solidFill>
                  <a:srgbClr val="030303"/>
                </a:solidFill>
                <a:latin typeface="Arial"/>
                <a:cs typeface="Arial"/>
              </a:rPr>
              <a:t>each</a:t>
            </a:r>
            <a:r>
              <a:rPr sz="2700" spc="16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spc="-20" dirty="0">
                <a:solidFill>
                  <a:srgbClr val="030303"/>
                </a:solidFill>
                <a:latin typeface="Arial"/>
                <a:cs typeface="Arial"/>
              </a:rPr>
              <a:t>edge </a:t>
            </a:r>
            <a:r>
              <a:rPr sz="2700" dirty="0">
                <a:solidFill>
                  <a:srgbClr val="030303"/>
                </a:solidFill>
                <a:latin typeface="Arial"/>
                <a:cs typeface="Arial"/>
              </a:rPr>
              <a:t>has</a:t>
            </a:r>
            <a:r>
              <a:rPr sz="2700" spc="12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30303"/>
                </a:solidFill>
                <a:latin typeface="Arial"/>
                <a:cs typeface="Arial"/>
              </a:rPr>
              <a:t>a</a:t>
            </a:r>
            <a:r>
              <a:rPr sz="2700" spc="22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i="1" dirty="0">
                <a:solidFill>
                  <a:srgbClr val="030303"/>
                </a:solidFill>
                <a:latin typeface="Arial"/>
                <a:cs typeface="Arial"/>
              </a:rPr>
              <a:t>weight,</a:t>
            </a:r>
            <a:r>
              <a:rPr sz="2700" i="1" spc="19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spc="50" dirty="0">
                <a:solidFill>
                  <a:srgbClr val="030303"/>
                </a:solidFill>
                <a:latin typeface="Arial"/>
                <a:cs typeface="Arial"/>
              </a:rPr>
              <a:t>find</a:t>
            </a:r>
            <a:r>
              <a:rPr sz="2700" spc="2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spc="75" dirty="0">
                <a:solidFill>
                  <a:srgbClr val="030303"/>
                </a:solidFill>
                <a:latin typeface="Arial"/>
                <a:cs typeface="Arial"/>
              </a:rPr>
              <a:t>a</a:t>
            </a:r>
            <a:r>
              <a:rPr sz="2700" spc="9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30303"/>
                </a:solidFill>
                <a:latin typeface="Arial"/>
                <a:cs typeface="Arial"/>
              </a:rPr>
              <a:t>spanning</a:t>
            </a:r>
            <a:r>
              <a:rPr sz="2700" spc="25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30303"/>
                </a:solidFill>
                <a:latin typeface="Arial"/>
                <a:cs typeface="Arial"/>
              </a:rPr>
              <a:t>tree</a:t>
            </a:r>
            <a:r>
              <a:rPr sz="2700" spc="15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spc="-20" dirty="0">
                <a:solidFill>
                  <a:srgbClr val="030303"/>
                </a:solidFill>
                <a:latin typeface="Arial"/>
                <a:cs typeface="Arial"/>
              </a:rPr>
              <a:t>with </a:t>
            </a:r>
            <a:r>
              <a:rPr sz="2700" dirty="0">
                <a:solidFill>
                  <a:srgbClr val="030303"/>
                </a:solidFill>
                <a:latin typeface="Arial"/>
                <a:cs typeface="Arial"/>
              </a:rPr>
              <a:t>minimum</a:t>
            </a:r>
            <a:r>
              <a:rPr sz="2700" spc="36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30303"/>
                </a:solidFill>
                <a:latin typeface="Arial"/>
                <a:cs typeface="Arial"/>
              </a:rPr>
              <a:t>total</a:t>
            </a:r>
            <a:r>
              <a:rPr sz="2700" spc="18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spc="-20" dirty="0">
                <a:solidFill>
                  <a:srgbClr val="030303"/>
                </a:solidFill>
                <a:latin typeface="Arial"/>
                <a:cs typeface="Arial"/>
              </a:rPr>
              <a:t>cost.</a:t>
            </a:r>
            <a:endParaRPr sz="2700">
              <a:latin typeface="Arial"/>
              <a:cs typeface="Arial"/>
            </a:endParaRPr>
          </a:p>
          <a:p>
            <a:pPr marL="776605" lvl="1" indent="-312420">
              <a:lnSpc>
                <a:spcPts val="3285"/>
              </a:lnSpc>
              <a:buClr>
                <a:srgbClr val="A8A7B8"/>
              </a:buClr>
              <a:buSzPct val="135416"/>
              <a:buFont typeface="Arial"/>
              <a:buChar char="□"/>
              <a:tabLst>
                <a:tab pos="777240" algn="l"/>
              </a:tabLst>
            </a:pPr>
            <a:r>
              <a:rPr sz="2400" i="1" dirty="0">
                <a:solidFill>
                  <a:srgbClr val="1108BA"/>
                </a:solidFill>
                <a:latin typeface="Arial"/>
                <a:cs typeface="Arial"/>
              </a:rPr>
              <a:t>Kruskal's</a:t>
            </a:r>
            <a:r>
              <a:rPr sz="2400" i="1" spc="330" dirty="0">
                <a:solidFill>
                  <a:srgbClr val="1108BA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1108BA"/>
                </a:solidFill>
                <a:latin typeface="Arial"/>
                <a:cs typeface="Arial"/>
              </a:rPr>
              <a:t>Algorithm</a:t>
            </a:r>
            <a:r>
              <a:rPr sz="2400" i="1" dirty="0">
                <a:solidFill>
                  <a:srgbClr val="1A1190"/>
                </a:solidFill>
                <a:latin typeface="Arial"/>
                <a:cs typeface="Arial"/>
              </a:rPr>
              <a:t>:</a:t>
            </a:r>
            <a:r>
              <a:rPr sz="2400" i="1" spc="-20" dirty="0">
                <a:solidFill>
                  <a:srgbClr val="1A119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30303"/>
                </a:solidFill>
                <a:latin typeface="Arial"/>
                <a:cs typeface="Arial"/>
              </a:rPr>
              <a:t>Build</a:t>
            </a:r>
            <a:r>
              <a:rPr sz="2400" spc="114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spc="50" dirty="0">
                <a:solidFill>
                  <a:srgbClr val="030303"/>
                </a:solidFill>
                <a:latin typeface="Arial"/>
                <a:cs typeface="Arial"/>
              </a:rPr>
              <a:t>tree</a:t>
            </a:r>
            <a:r>
              <a:rPr sz="2400" spc="60" dirty="0">
                <a:solidFill>
                  <a:srgbClr val="030303"/>
                </a:solidFill>
                <a:latin typeface="Arial"/>
                <a:cs typeface="Arial"/>
              </a:rPr>
              <a:t> by</a:t>
            </a:r>
            <a:r>
              <a:rPr sz="2400" spc="21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30303"/>
                </a:solidFill>
                <a:latin typeface="Arial"/>
                <a:cs typeface="Arial"/>
              </a:rPr>
              <a:t>repeatedly</a:t>
            </a:r>
            <a:endParaRPr sz="2400">
              <a:latin typeface="Arial"/>
              <a:cs typeface="Arial"/>
            </a:endParaRPr>
          </a:p>
          <a:p>
            <a:pPr marL="760730">
              <a:lnSpc>
                <a:spcPts val="2555"/>
              </a:lnSpc>
            </a:pPr>
            <a:r>
              <a:rPr sz="2400" dirty="0">
                <a:solidFill>
                  <a:srgbClr val="030303"/>
                </a:solidFill>
                <a:latin typeface="Arial"/>
                <a:cs typeface="Arial"/>
              </a:rPr>
              <a:t>adding</a:t>
            </a:r>
            <a:r>
              <a:rPr sz="2400" spc="16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30303"/>
                </a:solidFill>
                <a:latin typeface="Arial"/>
                <a:cs typeface="Arial"/>
              </a:rPr>
              <a:t>min-weight</a:t>
            </a:r>
            <a:r>
              <a:rPr sz="2400" spc="44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i="1" spc="60" dirty="0">
                <a:solidFill>
                  <a:srgbClr val="1108BA"/>
                </a:solidFill>
                <a:latin typeface="Arial"/>
                <a:cs typeface="Arial"/>
              </a:rPr>
              <a:t>edge</a:t>
            </a:r>
            <a:r>
              <a:rPr sz="2400" i="1" spc="10" dirty="0">
                <a:solidFill>
                  <a:srgbClr val="1108BA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30303"/>
                </a:solidFill>
                <a:latin typeface="Arial"/>
                <a:cs typeface="Arial"/>
              </a:rPr>
              <a:t>that</a:t>
            </a:r>
            <a:r>
              <a:rPr sz="2400" spc="13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30303"/>
                </a:solidFill>
                <a:latin typeface="Arial"/>
                <a:cs typeface="Arial"/>
              </a:rPr>
              <a:t>doesn't</a:t>
            </a:r>
            <a:r>
              <a:rPr sz="2400" spc="254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30303"/>
                </a:solidFill>
                <a:latin typeface="Arial"/>
                <a:cs typeface="Arial"/>
              </a:rPr>
              <a:t>form</a:t>
            </a:r>
            <a:r>
              <a:rPr sz="2400" spc="15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spc="50" dirty="0">
                <a:solidFill>
                  <a:srgbClr val="030303"/>
                </a:solidFill>
                <a:latin typeface="Arial"/>
                <a:cs typeface="Arial"/>
              </a:rPr>
              <a:t>a</a:t>
            </a:r>
            <a:r>
              <a:rPr sz="2400" spc="17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30303"/>
                </a:solidFill>
                <a:latin typeface="Arial"/>
                <a:cs typeface="Arial"/>
              </a:rPr>
              <a:t>cycle</a:t>
            </a:r>
            <a:endParaRPr sz="2400">
              <a:latin typeface="Arial"/>
              <a:cs typeface="Arial"/>
            </a:endParaRPr>
          </a:p>
          <a:p>
            <a:pPr marL="760730" marR="5080" lvl="1" indent="-295910">
              <a:lnSpc>
                <a:spcPct val="90700"/>
              </a:lnSpc>
              <a:spcBef>
                <a:spcPts val="180"/>
              </a:spcBef>
              <a:buClr>
                <a:srgbClr val="A8A7B8"/>
              </a:buClr>
              <a:buSzPct val="133333"/>
              <a:buFont typeface="Arial"/>
              <a:buChar char="□"/>
              <a:tabLst>
                <a:tab pos="777240" algn="l"/>
              </a:tabLst>
            </a:pPr>
            <a:r>
              <a:rPr sz="2400" i="1" dirty="0">
                <a:solidFill>
                  <a:srgbClr val="7E18C8"/>
                </a:solidFill>
                <a:latin typeface="Arial"/>
                <a:cs typeface="Arial"/>
              </a:rPr>
              <a:t>Prim's</a:t>
            </a:r>
            <a:r>
              <a:rPr sz="2400" i="1" spc="235" dirty="0">
                <a:solidFill>
                  <a:srgbClr val="7E18C8"/>
                </a:solidFill>
                <a:latin typeface="Arial"/>
                <a:cs typeface="Arial"/>
              </a:rPr>
              <a:t> </a:t>
            </a:r>
            <a:r>
              <a:rPr sz="2400" i="1" spc="45" dirty="0">
                <a:solidFill>
                  <a:srgbClr val="7E18C8"/>
                </a:solidFill>
                <a:latin typeface="Arial"/>
                <a:cs typeface="Arial"/>
              </a:rPr>
              <a:t>Algorithm</a:t>
            </a:r>
            <a:r>
              <a:rPr sz="2400" i="1" spc="45" dirty="0">
                <a:solidFill>
                  <a:srgbClr val="7034A1"/>
                </a:solidFill>
                <a:latin typeface="Arial"/>
                <a:cs typeface="Arial"/>
              </a:rPr>
              <a:t>:</a:t>
            </a:r>
            <a:r>
              <a:rPr sz="2400" i="1" spc="-65" dirty="0">
                <a:solidFill>
                  <a:srgbClr val="7034A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30303"/>
                </a:solidFill>
                <a:latin typeface="Arial"/>
                <a:cs typeface="Arial"/>
              </a:rPr>
              <a:t>Build</a:t>
            </a:r>
            <a:r>
              <a:rPr sz="2400" spc="6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30303"/>
                </a:solidFill>
                <a:latin typeface="Arial"/>
                <a:cs typeface="Arial"/>
              </a:rPr>
              <a:t>tree</a:t>
            </a:r>
            <a:r>
              <a:rPr sz="2400" spc="11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030303"/>
                </a:solidFill>
                <a:latin typeface="Arial"/>
                <a:cs typeface="Arial"/>
              </a:rPr>
              <a:t>by</a:t>
            </a:r>
            <a:r>
              <a:rPr sz="2400" spc="15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30303"/>
                </a:solidFill>
                <a:latin typeface="Arial"/>
                <a:cs typeface="Arial"/>
              </a:rPr>
              <a:t>adding</a:t>
            </a:r>
            <a:r>
              <a:rPr sz="2400" spc="27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7E18C8"/>
                </a:solidFill>
                <a:latin typeface="Arial"/>
                <a:cs typeface="Arial"/>
              </a:rPr>
              <a:t>vertices</a:t>
            </a:r>
            <a:r>
              <a:rPr sz="2400" i="1" spc="-10" dirty="0">
                <a:solidFill>
                  <a:srgbClr val="161816"/>
                </a:solidFill>
                <a:latin typeface="Arial"/>
                <a:cs typeface="Arial"/>
              </a:rPr>
              <a:t>, </a:t>
            </a:r>
            <a:r>
              <a:rPr sz="2400" dirty="0">
                <a:solidFill>
                  <a:srgbClr val="030303"/>
                </a:solidFill>
                <a:latin typeface="Arial"/>
                <a:cs typeface="Arial"/>
              </a:rPr>
              <a:t>adjacent</a:t>
            </a:r>
            <a:r>
              <a:rPr sz="2400" spc="18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spc="55" dirty="0">
                <a:solidFill>
                  <a:srgbClr val="030303"/>
                </a:solidFill>
                <a:latin typeface="Arial"/>
                <a:cs typeface="Arial"/>
              </a:rPr>
              <a:t>to</a:t>
            </a:r>
            <a:r>
              <a:rPr sz="2400" spc="-2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spc="50" dirty="0">
                <a:solidFill>
                  <a:srgbClr val="030303"/>
                </a:solidFill>
                <a:latin typeface="Arial"/>
                <a:cs typeface="Arial"/>
              </a:rPr>
              <a:t>tree</a:t>
            </a:r>
            <a:r>
              <a:rPr sz="2400" spc="4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spc="85" dirty="0">
                <a:solidFill>
                  <a:srgbClr val="030303"/>
                </a:solidFill>
                <a:latin typeface="Arial"/>
                <a:cs typeface="Arial"/>
              </a:rPr>
              <a:t>so</a:t>
            </a:r>
            <a:r>
              <a:rPr sz="2400" spc="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30303"/>
                </a:solidFill>
                <a:latin typeface="Arial"/>
                <a:cs typeface="Arial"/>
              </a:rPr>
              <a:t>far,</a:t>
            </a:r>
            <a:r>
              <a:rPr sz="2400" spc="11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30303"/>
                </a:solidFill>
                <a:latin typeface="Arial"/>
                <a:cs typeface="Arial"/>
              </a:rPr>
              <a:t>for</a:t>
            </a:r>
            <a:r>
              <a:rPr sz="2400" spc="114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30303"/>
                </a:solidFill>
                <a:latin typeface="Arial"/>
                <a:cs typeface="Arial"/>
              </a:rPr>
              <a:t>which</a:t>
            </a:r>
            <a:r>
              <a:rPr sz="2400" spc="10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spc="55" dirty="0">
                <a:solidFill>
                  <a:srgbClr val="030303"/>
                </a:solidFill>
                <a:latin typeface="Arial"/>
                <a:cs typeface="Arial"/>
              </a:rPr>
              <a:t>new</a:t>
            </a:r>
            <a:r>
              <a:rPr sz="2400" spc="114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30303"/>
                </a:solidFill>
                <a:latin typeface="Arial"/>
                <a:cs typeface="Arial"/>
              </a:rPr>
              <a:t>edges</a:t>
            </a:r>
            <a:r>
              <a:rPr sz="2400" spc="13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030303"/>
                </a:solidFill>
                <a:latin typeface="Arial"/>
                <a:cs typeface="Arial"/>
              </a:rPr>
              <a:t>have </a:t>
            </a:r>
            <a:r>
              <a:rPr sz="2400" spc="60" dirty="0">
                <a:solidFill>
                  <a:srgbClr val="030303"/>
                </a:solidFill>
                <a:latin typeface="Arial"/>
                <a:cs typeface="Arial"/>
              </a:rPr>
              <a:t>min</a:t>
            </a:r>
            <a:r>
              <a:rPr sz="2400" spc="12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30303"/>
                </a:solidFill>
                <a:latin typeface="Arial"/>
                <a:cs typeface="Arial"/>
              </a:rPr>
              <a:t>weight</a:t>
            </a:r>
            <a:r>
              <a:rPr sz="2400" spc="17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030303"/>
                </a:solidFill>
                <a:latin typeface="Arial"/>
                <a:cs typeface="Arial"/>
              </a:rPr>
              <a:t>and</a:t>
            </a:r>
            <a:r>
              <a:rPr sz="2400" spc="3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30303"/>
                </a:solidFill>
                <a:latin typeface="Arial"/>
                <a:cs typeface="Arial"/>
              </a:rPr>
              <a:t>don't</a:t>
            </a:r>
            <a:r>
              <a:rPr sz="2400" spc="20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30303"/>
                </a:solidFill>
                <a:latin typeface="Arial"/>
                <a:cs typeface="Arial"/>
              </a:rPr>
              <a:t>form</a:t>
            </a:r>
            <a:r>
              <a:rPr sz="2400" spc="8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30303"/>
                </a:solidFill>
                <a:latin typeface="Arial"/>
                <a:cs typeface="Arial"/>
              </a:rPr>
              <a:t>cycle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5080" indent="-12065">
              <a:lnSpc>
                <a:spcPct val="105600"/>
              </a:lnSpc>
              <a:spcBef>
                <a:spcPts val="95"/>
              </a:spcBef>
            </a:pPr>
            <a:r>
              <a:rPr sz="3850" b="0" dirty="0">
                <a:solidFill>
                  <a:srgbClr val="010101"/>
                </a:solidFill>
                <a:latin typeface="Arial"/>
                <a:cs typeface="Arial"/>
              </a:rPr>
              <a:t>Properties</a:t>
            </a:r>
            <a:r>
              <a:rPr sz="3850" b="0" spc="4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850" b="0" spc="75" dirty="0">
                <a:solidFill>
                  <a:srgbClr val="010101"/>
                </a:solidFill>
                <a:latin typeface="Arial"/>
                <a:cs typeface="Arial"/>
              </a:rPr>
              <a:t>of</a:t>
            </a:r>
            <a:r>
              <a:rPr sz="3850" b="0" spc="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850" b="0" dirty="0">
                <a:solidFill>
                  <a:srgbClr val="010101"/>
                </a:solidFill>
                <a:latin typeface="Arial"/>
                <a:cs typeface="Arial"/>
              </a:rPr>
              <a:t>Kruskal's</a:t>
            </a:r>
            <a:r>
              <a:rPr sz="3850" b="0" spc="52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850" b="0" spc="60" dirty="0">
                <a:solidFill>
                  <a:srgbClr val="010101"/>
                </a:solidFill>
                <a:latin typeface="Arial"/>
                <a:cs typeface="Arial"/>
              </a:rPr>
              <a:t>and</a:t>
            </a:r>
            <a:r>
              <a:rPr sz="3850" b="0" spc="2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850" b="0" spc="40" dirty="0">
                <a:solidFill>
                  <a:srgbClr val="010101"/>
                </a:solidFill>
                <a:latin typeface="Arial"/>
                <a:cs typeface="Arial"/>
              </a:rPr>
              <a:t>Prim's </a:t>
            </a:r>
            <a:r>
              <a:rPr sz="3850" b="0" spc="-10" dirty="0">
                <a:solidFill>
                  <a:srgbClr val="010101"/>
                </a:solidFill>
                <a:latin typeface="Arial"/>
                <a:cs typeface="Arial"/>
              </a:rPr>
              <a:t>Algorithms</a:t>
            </a:r>
            <a:endParaRPr sz="38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1595" rIns="0" bIns="0" rtlCol="0">
            <a:spAutoFit/>
          </a:bodyPr>
          <a:lstStyle/>
          <a:p>
            <a:pPr marL="365760" indent="-358140">
              <a:lnSpc>
                <a:spcPct val="100000"/>
              </a:lnSpc>
              <a:spcBef>
                <a:spcPts val="100"/>
              </a:spcBef>
              <a:buClr>
                <a:srgbClr val="010172"/>
              </a:buClr>
              <a:buChar char="■"/>
              <a:tabLst>
                <a:tab pos="367030" algn="l"/>
              </a:tabLst>
            </a:pPr>
            <a:r>
              <a:rPr sz="3100" b="0" dirty="0">
                <a:latin typeface="Arial"/>
                <a:cs typeface="Arial"/>
              </a:rPr>
              <a:t>Both</a:t>
            </a:r>
            <a:r>
              <a:rPr sz="3100" b="0" spc="204" dirty="0">
                <a:latin typeface="Arial"/>
                <a:cs typeface="Arial"/>
              </a:rPr>
              <a:t> </a:t>
            </a:r>
            <a:r>
              <a:rPr sz="3100" b="0" dirty="0">
                <a:latin typeface="Arial"/>
                <a:cs typeface="Arial"/>
              </a:rPr>
              <a:t>are</a:t>
            </a:r>
            <a:r>
              <a:rPr sz="3100" b="0" spc="65" dirty="0">
                <a:latin typeface="Arial"/>
                <a:cs typeface="Arial"/>
              </a:rPr>
              <a:t> </a:t>
            </a:r>
            <a:r>
              <a:rPr sz="3050" i="1" spc="95" dirty="0">
                <a:solidFill>
                  <a:srgbClr val="D10C15"/>
                </a:solidFill>
                <a:latin typeface="Arial"/>
                <a:cs typeface="Arial"/>
              </a:rPr>
              <a:t>greedy</a:t>
            </a:r>
            <a:r>
              <a:rPr sz="3050" i="1" spc="95" dirty="0">
                <a:latin typeface="Arial"/>
                <a:cs typeface="Arial"/>
              </a:rPr>
              <a:t>:</a:t>
            </a:r>
            <a:r>
              <a:rPr sz="3050" i="1" spc="-385" dirty="0">
                <a:latin typeface="Arial"/>
                <a:cs typeface="Arial"/>
              </a:rPr>
              <a:t> </a:t>
            </a:r>
            <a:r>
              <a:rPr sz="3100" b="0" dirty="0">
                <a:latin typeface="Arial"/>
                <a:cs typeface="Arial"/>
              </a:rPr>
              <a:t>They</a:t>
            </a:r>
            <a:r>
              <a:rPr sz="3100" b="0" spc="220" dirty="0">
                <a:latin typeface="Arial"/>
                <a:cs typeface="Arial"/>
              </a:rPr>
              <a:t> </a:t>
            </a:r>
            <a:r>
              <a:rPr sz="3100" b="0" dirty="0">
                <a:latin typeface="Arial"/>
                <a:cs typeface="Arial"/>
              </a:rPr>
              <a:t>take</a:t>
            </a:r>
            <a:r>
              <a:rPr sz="3100" b="0" spc="130" dirty="0">
                <a:latin typeface="Arial"/>
                <a:cs typeface="Arial"/>
              </a:rPr>
              <a:t> </a:t>
            </a:r>
            <a:r>
              <a:rPr sz="3100" b="0" dirty="0">
                <a:latin typeface="Arial"/>
                <a:cs typeface="Arial"/>
              </a:rPr>
              <a:t>the</a:t>
            </a:r>
            <a:r>
              <a:rPr sz="3100" b="0" spc="30" dirty="0">
                <a:latin typeface="Arial"/>
                <a:cs typeface="Arial"/>
              </a:rPr>
              <a:t> </a:t>
            </a:r>
            <a:r>
              <a:rPr sz="3100" b="0" spc="-20" dirty="0">
                <a:latin typeface="Arial"/>
                <a:cs typeface="Arial"/>
              </a:rPr>
              <a:t>best</a:t>
            </a:r>
            <a:endParaRPr sz="3100">
              <a:latin typeface="Arial"/>
              <a:cs typeface="Arial"/>
            </a:endParaRPr>
          </a:p>
          <a:p>
            <a:pPr marL="364490" marR="951865" indent="-5080">
              <a:lnSpc>
                <a:spcPct val="102600"/>
              </a:lnSpc>
              <a:spcBef>
                <a:spcPts val="75"/>
              </a:spcBef>
            </a:pPr>
            <a:r>
              <a:rPr sz="3100" b="0" dirty="0">
                <a:latin typeface="Arial"/>
                <a:cs typeface="Arial"/>
              </a:rPr>
              <a:t>immediate</a:t>
            </a:r>
            <a:r>
              <a:rPr sz="3100" b="0" spc="290" dirty="0">
                <a:latin typeface="Arial"/>
                <a:cs typeface="Arial"/>
              </a:rPr>
              <a:t> </a:t>
            </a:r>
            <a:r>
              <a:rPr sz="3100" b="0" dirty="0">
                <a:latin typeface="Arial"/>
                <a:cs typeface="Arial"/>
              </a:rPr>
              <a:t>choice</a:t>
            </a:r>
            <a:r>
              <a:rPr sz="3100" b="0" spc="320" dirty="0">
                <a:latin typeface="Arial"/>
                <a:cs typeface="Arial"/>
              </a:rPr>
              <a:t> </a:t>
            </a:r>
            <a:r>
              <a:rPr sz="3100" b="0" dirty="0">
                <a:latin typeface="Arial"/>
                <a:cs typeface="Arial"/>
              </a:rPr>
              <a:t>without</a:t>
            </a:r>
            <a:r>
              <a:rPr sz="3100" b="0" spc="250" dirty="0">
                <a:latin typeface="Arial"/>
                <a:cs typeface="Arial"/>
              </a:rPr>
              <a:t> </a:t>
            </a:r>
            <a:r>
              <a:rPr sz="3100" b="0" spc="-10" dirty="0">
                <a:latin typeface="Arial"/>
                <a:cs typeface="Arial"/>
              </a:rPr>
              <a:t>considering </a:t>
            </a:r>
            <a:r>
              <a:rPr sz="3100" b="0" dirty="0">
                <a:latin typeface="Arial"/>
                <a:cs typeface="Arial"/>
              </a:rPr>
              <a:t>future</a:t>
            </a:r>
            <a:r>
              <a:rPr sz="3100" b="0" spc="180" dirty="0">
                <a:latin typeface="Arial"/>
                <a:cs typeface="Arial"/>
              </a:rPr>
              <a:t> </a:t>
            </a:r>
            <a:r>
              <a:rPr sz="3100" b="0" spc="-10" dirty="0">
                <a:latin typeface="Arial"/>
                <a:cs typeface="Arial"/>
              </a:rPr>
              <a:t>ramifications</a:t>
            </a:r>
            <a:endParaRPr sz="3100">
              <a:latin typeface="Arial"/>
              <a:cs typeface="Arial"/>
            </a:endParaRPr>
          </a:p>
          <a:p>
            <a:pPr marL="459740">
              <a:lnSpc>
                <a:spcPts val="4240"/>
              </a:lnSpc>
            </a:pPr>
            <a:r>
              <a:rPr sz="3700" b="0" dirty="0">
                <a:solidFill>
                  <a:srgbClr val="9E9AB6"/>
                </a:solidFill>
                <a:latin typeface="Arial"/>
                <a:cs typeface="Arial"/>
              </a:rPr>
              <a:t>□</a:t>
            </a:r>
            <a:r>
              <a:rPr sz="2750" b="0" dirty="0">
                <a:solidFill>
                  <a:srgbClr val="D10C15"/>
                </a:solidFill>
                <a:latin typeface="Arial"/>
                <a:cs typeface="Arial"/>
              </a:rPr>
              <a:t>Greedy</a:t>
            </a:r>
            <a:r>
              <a:rPr sz="2750" b="0" spc="204" dirty="0">
                <a:solidFill>
                  <a:srgbClr val="D10C15"/>
                </a:solidFill>
                <a:latin typeface="Arial"/>
                <a:cs typeface="Arial"/>
              </a:rPr>
              <a:t> </a:t>
            </a:r>
            <a:r>
              <a:rPr sz="2750" b="0" dirty="0">
                <a:solidFill>
                  <a:srgbClr val="D10C15"/>
                </a:solidFill>
                <a:latin typeface="Arial"/>
                <a:cs typeface="Arial"/>
              </a:rPr>
              <a:t>algorithms</a:t>
            </a:r>
            <a:r>
              <a:rPr sz="2750" b="0" spc="145" dirty="0">
                <a:solidFill>
                  <a:srgbClr val="D10C15"/>
                </a:solidFill>
                <a:latin typeface="Arial"/>
                <a:cs typeface="Arial"/>
              </a:rPr>
              <a:t> </a:t>
            </a:r>
            <a:r>
              <a:rPr sz="2750" b="0" dirty="0">
                <a:solidFill>
                  <a:srgbClr val="D10C15"/>
                </a:solidFill>
                <a:latin typeface="Arial"/>
                <a:cs typeface="Arial"/>
              </a:rPr>
              <a:t>don</a:t>
            </a:r>
            <a:r>
              <a:rPr sz="2750" b="0" dirty="0">
                <a:solidFill>
                  <a:srgbClr val="B32131"/>
                </a:solidFill>
                <a:latin typeface="Arial"/>
                <a:cs typeface="Arial"/>
              </a:rPr>
              <a:t>'</a:t>
            </a:r>
            <a:r>
              <a:rPr sz="2750" b="0" dirty="0">
                <a:solidFill>
                  <a:srgbClr val="D10C15"/>
                </a:solidFill>
                <a:latin typeface="Arial"/>
                <a:cs typeface="Arial"/>
              </a:rPr>
              <a:t>t</a:t>
            </a:r>
            <a:r>
              <a:rPr sz="2750" b="0" spc="80" dirty="0">
                <a:solidFill>
                  <a:srgbClr val="D10C15"/>
                </a:solidFill>
                <a:latin typeface="Arial"/>
                <a:cs typeface="Arial"/>
              </a:rPr>
              <a:t> </a:t>
            </a:r>
            <a:r>
              <a:rPr sz="2750" b="0" dirty="0">
                <a:solidFill>
                  <a:srgbClr val="D10C15"/>
                </a:solidFill>
                <a:latin typeface="Arial"/>
                <a:cs typeface="Arial"/>
              </a:rPr>
              <a:t>always</a:t>
            </a:r>
            <a:r>
              <a:rPr sz="2750" b="0" spc="235" dirty="0">
                <a:solidFill>
                  <a:srgbClr val="D10C15"/>
                </a:solidFill>
                <a:latin typeface="Arial"/>
                <a:cs typeface="Arial"/>
              </a:rPr>
              <a:t> </a:t>
            </a:r>
            <a:r>
              <a:rPr sz="2750" b="0" dirty="0">
                <a:solidFill>
                  <a:srgbClr val="D10C15"/>
                </a:solidFill>
                <a:latin typeface="Arial"/>
                <a:cs typeface="Arial"/>
              </a:rPr>
              <a:t>work</a:t>
            </a:r>
            <a:r>
              <a:rPr sz="2750" b="0" spc="180" dirty="0">
                <a:solidFill>
                  <a:srgbClr val="D10C15"/>
                </a:solidFill>
                <a:latin typeface="Arial"/>
                <a:cs typeface="Arial"/>
              </a:rPr>
              <a:t> </a:t>
            </a:r>
            <a:r>
              <a:rPr sz="2750" b="0" dirty="0">
                <a:solidFill>
                  <a:srgbClr val="D10C15"/>
                </a:solidFill>
                <a:latin typeface="Arial"/>
                <a:cs typeface="Arial"/>
              </a:rPr>
              <a:t>best,</a:t>
            </a:r>
            <a:r>
              <a:rPr sz="2750" b="0" spc="5" dirty="0">
                <a:solidFill>
                  <a:srgbClr val="D10C15"/>
                </a:solidFill>
                <a:latin typeface="Arial"/>
                <a:cs typeface="Arial"/>
              </a:rPr>
              <a:t> </a:t>
            </a:r>
            <a:r>
              <a:rPr sz="2750" b="0" spc="-25" dirty="0">
                <a:solidFill>
                  <a:srgbClr val="D10C15"/>
                </a:solidFill>
                <a:latin typeface="Arial"/>
                <a:cs typeface="Arial"/>
              </a:rPr>
              <a:t>but</a:t>
            </a:r>
            <a:endParaRPr sz="2750">
              <a:latin typeface="Arial"/>
              <a:cs typeface="Arial"/>
            </a:endParaRPr>
          </a:p>
          <a:p>
            <a:pPr marL="756285">
              <a:lnSpc>
                <a:spcPts val="3250"/>
              </a:lnSpc>
            </a:pPr>
            <a:r>
              <a:rPr sz="2750" b="0" dirty="0">
                <a:solidFill>
                  <a:srgbClr val="D10C15"/>
                </a:solidFill>
                <a:latin typeface="Arial"/>
                <a:cs typeface="Arial"/>
              </a:rPr>
              <a:t>these</a:t>
            </a:r>
            <a:r>
              <a:rPr sz="2750" b="0" spc="140" dirty="0">
                <a:solidFill>
                  <a:srgbClr val="D10C15"/>
                </a:solidFill>
                <a:latin typeface="Arial"/>
                <a:cs typeface="Arial"/>
              </a:rPr>
              <a:t> </a:t>
            </a:r>
            <a:r>
              <a:rPr sz="2750" b="0" spc="-25" dirty="0">
                <a:solidFill>
                  <a:srgbClr val="D10C15"/>
                </a:solidFill>
                <a:latin typeface="Arial"/>
                <a:cs typeface="Arial"/>
              </a:rPr>
              <a:t>do.</a:t>
            </a:r>
            <a:endParaRPr sz="2750">
              <a:latin typeface="Arial"/>
              <a:cs typeface="Arial"/>
            </a:endParaRPr>
          </a:p>
          <a:p>
            <a:pPr marL="357505" marR="62230" indent="-340995">
              <a:lnSpc>
                <a:spcPct val="102600"/>
              </a:lnSpc>
              <a:spcBef>
                <a:spcPts val="775"/>
              </a:spcBef>
              <a:buClr>
                <a:srgbClr val="010172"/>
              </a:buClr>
              <a:buChar char="■"/>
              <a:tabLst>
                <a:tab pos="365760" algn="l"/>
              </a:tabLst>
            </a:pPr>
            <a:r>
              <a:rPr sz="3100" b="0" dirty="0">
                <a:latin typeface="Arial"/>
                <a:cs typeface="Arial"/>
              </a:rPr>
              <a:t>Prim</a:t>
            </a:r>
            <a:r>
              <a:rPr sz="3100" b="0" spc="204" dirty="0">
                <a:latin typeface="Arial"/>
                <a:cs typeface="Arial"/>
              </a:rPr>
              <a:t> </a:t>
            </a:r>
            <a:r>
              <a:rPr sz="3100" b="0" dirty="0">
                <a:latin typeface="Arial"/>
                <a:cs typeface="Arial"/>
              </a:rPr>
              <a:t>always</a:t>
            </a:r>
            <a:r>
              <a:rPr sz="3100" b="0" spc="254" dirty="0">
                <a:latin typeface="Arial"/>
                <a:cs typeface="Arial"/>
              </a:rPr>
              <a:t> </a:t>
            </a:r>
            <a:r>
              <a:rPr sz="3100" b="0" dirty="0">
                <a:latin typeface="Arial"/>
                <a:cs typeface="Arial"/>
              </a:rPr>
              <a:t>maintains</a:t>
            </a:r>
            <a:r>
              <a:rPr sz="3100" b="0" spc="370" dirty="0">
                <a:latin typeface="Arial"/>
                <a:cs typeface="Arial"/>
              </a:rPr>
              <a:t> </a:t>
            </a:r>
            <a:r>
              <a:rPr sz="3100" b="0" dirty="0">
                <a:latin typeface="Arial"/>
                <a:cs typeface="Arial"/>
              </a:rPr>
              <a:t>a</a:t>
            </a:r>
            <a:r>
              <a:rPr sz="3100" b="0" spc="215" dirty="0">
                <a:latin typeface="Arial"/>
                <a:cs typeface="Arial"/>
              </a:rPr>
              <a:t> </a:t>
            </a:r>
            <a:r>
              <a:rPr sz="3100" b="0" i="1" dirty="0">
                <a:solidFill>
                  <a:srgbClr val="0A03CF"/>
                </a:solidFill>
                <a:latin typeface="Arial"/>
                <a:cs typeface="Arial"/>
              </a:rPr>
              <a:t>connected</a:t>
            </a:r>
            <a:r>
              <a:rPr sz="3100" b="0" i="1" spc="165" dirty="0">
                <a:solidFill>
                  <a:srgbClr val="0A03CF"/>
                </a:solidFill>
                <a:latin typeface="Arial"/>
                <a:cs typeface="Arial"/>
              </a:rPr>
              <a:t> </a:t>
            </a:r>
            <a:r>
              <a:rPr sz="3100" b="0" spc="-10" dirty="0">
                <a:latin typeface="Arial"/>
                <a:cs typeface="Arial"/>
              </a:rPr>
              <a:t>graph, </a:t>
            </a:r>
            <a:r>
              <a:rPr sz="3100" b="0" dirty="0">
                <a:latin typeface="Arial"/>
                <a:cs typeface="Arial"/>
              </a:rPr>
              <a:t>while</a:t>
            </a:r>
            <a:r>
              <a:rPr sz="3100" b="0" spc="185" dirty="0">
                <a:latin typeface="Arial"/>
                <a:cs typeface="Arial"/>
              </a:rPr>
              <a:t> </a:t>
            </a:r>
            <a:r>
              <a:rPr sz="3100" b="0" dirty="0">
                <a:latin typeface="Arial"/>
                <a:cs typeface="Arial"/>
              </a:rPr>
              <a:t>Kruskal</a:t>
            </a:r>
            <a:r>
              <a:rPr sz="3100" b="0" spc="240" dirty="0">
                <a:latin typeface="Arial"/>
                <a:cs typeface="Arial"/>
              </a:rPr>
              <a:t> </a:t>
            </a:r>
            <a:r>
              <a:rPr sz="3100" b="0" dirty="0">
                <a:latin typeface="Arial"/>
                <a:cs typeface="Arial"/>
              </a:rPr>
              <a:t>may</a:t>
            </a:r>
            <a:r>
              <a:rPr sz="3100" b="0" spc="310" dirty="0">
                <a:latin typeface="Arial"/>
                <a:cs typeface="Arial"/>
              </a:rPr>
              <a:t> </a:t>
            </a:r>
            <a:r>
              <a:rPr sz="3100" b="0" spc="-20" dirty="0">
                <a:latin typeface="Arial"/>
                <a:cs typeface="Arial"/>
              </a:rPr>
              <a:t>not.</a:t>
            </a:r>
            <a:endParaRPr sz="3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503" y="0"/>
            <a:ext cx="6024190" cy="50285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65" marR="5080" indent="-10160">
              <a:lnSpc>
                <a:spcPct val="105400"/>
              </a:lnSpc>
              <a:spcBef>
                <a:spcPts val="95"/>
              </a:spcBef>
            </a:pPr>
            <a:r>
              <a:rPr sz="3800" b="0" spc="55" dirty="0">
                <a:solidFill>
                  <a:srgbClr val="010101"/>
                </a:solidFill>
                <a:latin typeface="Arial"/>
                <a:cs typeface="Arial"/>
              </a:rPr>
              <a:t>Measuring</a:t>
            </a:r>
            <a:r>
              <a:rPr sz="3800" b="0" spc="509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800" b="0" dirty="0">
                <a:solidFill>
                  <a:srgbClr val="010101"/>
                </a:solidFill>
                <a:latin typeface="Arial"/>
                <a:cs typeface="Arial"/>
              </a:rPr>
              <a:t>Efficiency</a:t>
            </a:r>
            <a:r>
              <a:rPr sz="3800" b="0" spc="4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800" b="0" dirty="0">
                <a:solidFill>
                  <a:srgbClr val="010101"/>
                </a:solidFill>
                <a:latin typeface="Arial"/>
                <a:cs typeface="Arial"/>
              </a:rPr>
              <a:t>of</a:t>
            </a:r>
            <a:r>
              <a:rPr sz="3800" b="0" spc="33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800" b="0" spc="70" dirty="0">
                <a:solidFill>
                  <a:srgbClr val="010101"/>
                </a:solidFill>
                <a:latin typeface="Arial"/>
                <a:cs typeface="Arial"/>
              </a:rPr>
              <a:t>Graph </a:t>
            </a:r>
            <a:r>
              <a:rPr sz="3800" b="0" spc="-10" dirty="0">
                <a:solidFill>
                  <a:srgbClr val="010101"/>
                </a:solidFill>
                <a:latin typeface="Arial"/>
                <a:cs typeface="Arial"/>
              </a:rPr>
              <a:t>Algorithms</a:t>
            </a:r>
            <a:endParaRPr sz="3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751" y="1959256"/>
            <a:ext cx="7937500" cy="36556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75285" marR="17780" indent="-350520">
              <a:lnSpc>
                <a:spcPct val="100600"/>
              </a:lnSpc>
              <a:spcBef>
                <a:spcPts val="80"/>
              </a:spcBef>
              <a:buClr>
                <a:srgbClr val="010172"/>
              </a:buClr>
              <a:buSzPct val="95312"/>
              <a:buChar char="■"/>
              <a:tabLst>
                <a:tab pos="379730" algn="l"/>
                <a:tab pos="2571115" algn="l"/>
                <a:tab pos="5980430" algn="l"/>
              </a:tabLst>
            </a:pPr>
            <a:r>
              <a:rPr sz="3200" dirty="0">
                <a:solidFill>
                  <a:srgbClr val="010101"/>
                </a:solidFill>
                <a:latin typeface="Arial"/>
                <a:cs typeface="Arial"/>
              </a:rPr>
              <a:t>Efficiency</a:t>
            </a:r>
            <a:r>
              <a:rPr sz="3200" spc="-18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00" spc="-50" dirty="0">
                <a:solidFill>
                  <a:srgbClr val="010101"/>
                </a:solidFill>
                <a:latin typeface="Arial"/>
                <a:cs typeface="Arial"/>
              </a:rPr>
              <a:t>=</a:t>
            </a:r>
            <a:r>
              <a:rPr sz="2600" dirty="0">
                <a:solidFill>
                  <a:srgbClr val="010101"/>
                </a:solidFill>
                <a:latin typeface="Arial"/>
                <a:cs typeface="Arial"/>
              </a:rPr>
              <a:t>	</a:t>
            </a:r>
            <a:r>
              <a:rPr sz="3200" dirty="0">
                <a:solidFill>
                  <a:srgbClr val="010101"/>
                </a:solidFill>
                <a:latin typeface="Arial"/>
                <a:cs typeface="Arial"/>
              </a:rPr>
              <a:t>Time</a:t>
            </a:r>
            <a:r>
              <a:rPr sz="3200" spc="-21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10101"/>
                </a:solidFill>
                <a:latin typeface="Arial"/>
                <a:cs typeface="Arial"/>
              </a:rPr>
              <a:t>complexity</a:t>
            </a:r>
            <a:r>
              <a:rPr sz="3200" spc="-3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00" spc="-50" dirty="0">
                <a:solidFill>
                  <a:srgbClr val="010101"/>
                </a:solidFill>
                <a:latin typeface="Arial"/>
                <a:cs typeface="Arial"/>
              </a:rPr>
              <a:t>=</a:t>
            </a:r>
            <a:r>
              <a:rPr sz="2600" dirty="0">
                <a:solidFill>
                  <a:srgbClr val="010101"/>
                </a:solidFill>
                <a:latin typeface="Arial"/>
                <a:cs typeface="Arial"/>
              </a:rPr>
              <a:t>	</a:t>
            </a:r>
            <a:r>
              <a:rPr sz="3200" spc="-10" dirty="0">
                <a:solidFill>
                  <a:srgbClr val="010101"/>
                </a:solidFill>
                <a:latin typeface="Arial"/>
                <a:cs typeface="Arial"/>
              </a:rPr>
              <a:t>(roughly) </a:t>
            </a:r>
            <a:r>
              <a:rPr sz="3200" dirty="0">
                <a:solidFill>
                  <a:srgbClr val="010101"/>
                </a:solidFill>
                <a:latin typeface="Arial"/>
                <a:cs typeface="Arial"/>
              </a:rPr>
              <a:t>how</a:t>
            </a:r>
            <a:r>
              <a:rPr sz="3200" spc="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10101"/>
                </a:solidFill>
                <a:latin typeface="Arial"/>
                <a:cs typeface="Arial"/>
              </a:rPr>
              <a:t>many</a:t>
            </a:r>
            <a:r>
              <a:rPr sz="3200" spc="10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10101"/>
                </a:solidFill>
                <a:latin typeface="Arial"/>
                <a:cs typeface="Arial"/>
              </a:rPr>
              <a:t>steps</a:t>
            </a:r>
            <a:r>
              <a:rPr sz="3200" spc="-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10101"/>
                </a:solidFill>
                <a:latin typeface="Arial"/>
                <a:cs typeface="Arial"/>
              </a:rPr>
              <a:t>are</a:t>
            </a:r>
            <a:r>
              <a:rPr sz="3200" spc="-6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10101"/>
                </a:solidFill>
                <a:latin typeface="Arial"/>
                <a:cs typeface="Arial"/>
              </a:rPr>
              <a:t>needed</a:t>
            </a:r>
            <a:r>
              <a:rPr sz="3200" spc="-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10101"/>
                </a:solidFill>
                <a:latin typeface="Arial"/>
                <a:cs typeface="Arial"/>
              </a:rPr>
              <a:t>as</a:t>
            </a:r>
            <a:r>
              <a:rPr sz="3200" spc="-5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200" spc="140" dirty="0">
                <a:solidFill>
                  <a:srgbClr val="010101"/>
                </a:solidFill>
                <a:latin typeface="Arial"/>
                <a:cs typeface="Arial"/>
              </a:rPr>
              <a:t>a</a:t>
            </a:r>
            <a:r>
              <a:rPr sz="3200" spc="-1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10101"/>
                </a:solidFill>
                <a:latin typeface="Arial"/>
                <a:cs typeface="Arial"/>
              </a:rPr>
              <a:t>function </a:t>
            </a:r>
            <a:r>
              <a:rPr sz="3200" dirty="0">
                <a:solidFill>
                  <a:srgbClr val="010101"/>
                </a:solidFill>
                <a:latin typeface="Arial"/>
                <a:cs typeface="Arial"/>
              </a:rPr>
              <a:t>of</a:t>
            </a:r>
            <a:r>
              <a:rPr sz="3200" spc="-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200" spc="160" dirty="0">
                <a:solidFill>
                  <a:srgbClr val="010101"/>
                </a:solidFill>
                <a:latin typeface="Arial"/>
                <a:cs typeface="Arial"/>
              </a:rPr>
              <a:t>N</a:t>
            </a:r>
            <a:r>
              <a:rPr sz="3200" spc="-2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10101"/>
                </a:solidFill>
                <a:latin typeface="Arial"/>
                <a:cs typeface="Arial"/>
              </a:rPr>
              <a:t>(number</a:t>
            </a:r>
            <a:r>
              <a:rPr sz="3200" spc="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10101"/>
                </a:solidFill>
                <a:latin typeface="Arial"/>
                <a:cs typeface="Arial"/>
              </a:rPr>
              <a:t>of</a:t>
            </a:r>
            <a:r>
              <a:rPr sz="3200" spc="-1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10101"/>
                </a:solidFill>
                <a:latin typeface="Arial"/>
                <a:cs typeface="Arial"/>
              </a:rPr>
              <a:t>vertices)</a:t>
            </a:r>
            <a:r>
              <a:rPr sz="3200" spc="7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10101"/>
                </a:solidFill>
                <a:latin typeface="Arial"/>
                <a:cs typeface="Arial"/>
              </a:rPr>
              <a:t>and</a:t>
            </a:r>
            <a:r>
              <a:rPr sz="3200" spc="-13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200" spc="85" dirty="0">
                <a:solidFill>
                  <a:srgbClr val="010101"/>
                </a:solidFill>
                <a:latin typeface="Arial"/>
                <a:cs typeface="Arial"/>
              </a:rPr>
              <a:t>E</a:t>
            </a:r>
            <a:r>
              <a:rPr sz="3200" spc="-17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10101"/>
                </a:solidFill>
                <a:latin typeface="Arial"/>
                <a:cs typeface="Arial"/>
              </a:rPr>
              <a:t>(number </a:t>
            </a:r>
            <a:r>
              <a:rPr sz="3200" dirty="0">
                <a:solidFill>
                  <a:srgbClr val="010101"/>
                </a:solidFill>
                <a:latin typeface="Arial"/>
                <a:cs typeface="Arial"/>
              </a:rPr>
              <a:t>of</a:t>
            </a:r>
            <a:r>
              <a:rPr sz="3200" spc="-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10101"/>
                </a:solidFill>
                <a:latin typeface="Arial"/>
                <a:cs typeface="Arial"/>
              </a:rPr>
              <a:t>edges)</a:t>
            </a:r>
            <a:endParaRPr sz="3200">
              <a:latin typeface="Arial"/>
              <a:cs typeface="Arial"/>
            </a:endParaRPr>
          </a:p>
          <a:p>
            <a:pPr marL="377825" indent="-344170">
              <a:lnSpc>
                <a:spcPct val="100000"/>
              </a:lnSpc>
              <a:spcBef>
                <a:spcPts val="325"/>
              </a:spcBef>
              <a:buClr>
                <a:srgbClr val="010172"/>
              </a:buClr>
              <a:buSzPct val="95312"/>
              <a:buChar char="■"/>
              <a:tabLst>
                <a:tab pos="378460" algn="l"/>
              </a:tabLst>
            </a:pPr>
            <a:r>
              <a:rPr sz="3200" dirty="0">
                <a:solidFill>
                  <a:srgbClr val="D60E13"/>
                </a:solidFill>
                <a:latin typeface="Arial"/>
                <a:cs typeface="Arial"/>
              </a:rPr>
              <a:t>For</a:t>
            </a:r>
            <a:r>
              <a:rPr sz="3200" spc="-45" dirty="0">
                <a:solidFill>
                  <a:srgbClr val="D60E13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D60E13"/>
                </a:solidFill>
                <a:latin typeface="Arial"/>
                <a:cs typeface="Arial"/>
              </a:rPr>
              <a:t>any</a:t>
            </a:r>
            <a:r>
              <a:rPr sz="3200" spc="-20" dirty="0">
                <a:solidFill>
                  <a:srgbClr val="D60E13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D60E13"/>
                </a:solidFill>
                <a:latin typeface="Arial"/>
                <a:cs typeface="Arial"/>
              </a:rPr>
              <a:t>graph,</a:t>
            </a:r>
            <a:r>
              <a:rPr sz="3200" spc="-10" dirty="0">
                <a:solidFill>
                  <a:srgbClr val="D60E13"/>
                </a:solidFill>
                <a:latin typeface="Arial"/>
                <a:cs typeface="Arial"/>
              </a:rPr>
              <a:t> </a:t>
            </a:r>
            <a:r>
              <a:rPr sz="3200" spc="105" dirty="0">
                <a:solidFill>
                  <a:srgbClr val="D60E13"/>
                </a:solidFill>
                <a:latin typeface="Arial"/>
                <a:cs typeface="Arial"/>
              </a:rPr>
              <a:t>0</a:t>
            </a:r>
            <a:r>
              <a:rPr sz="3200" spc="-140" dirty="0">
                <a:solidFill>
                  <a:srgbClr val="D60E13"/>
                </a:solidFill>
                <a:latin typeface="Arial"/>
                <a:cs typeface="Arial"/>
              </a:rPr>
              <a:t> </a:t>
            </a:r>
            <a:r>
              <a:rPr sz="3250" u="heavy" dirty="0">
                <a:solidFill>
                  <a:srgbClr val="B8313D"/>
                </a:solidFill>
                <a:uFill>
                  <a:solidFill>
                    <a:srgbClr val="B8313D"/>
                  </a:solidFill>
                </a:uFill>
                <a:latin typeface="Times New Roman"/>
                <a:cs typeface="Times New Roman"/>
              </a:rPr>
              <a:t>&lt;</a:t>
            </a:r>
            <a:r>
              <a:rPr sz="3250" dirty="0">
                <a:solidFill>
                  <a:srgbClr val="B8313D"/>
                </a:solidFill>
                <a:latin typeface="Times New Roman"/>
                <a:cs typeface="Times New Roman"/>
              </a:rPr>
              <a:t> </a:t>
            </a:r>
            <a:r>
              <a:rPr sz="3200" spc="85" dirty="0">
                <a:solidFill>
                  <a:srgbClr val="D60E13"/>
                </a:solidFill>
                <a:latin typeface="Arial"/>
                <a:cs typeface="Arial"/>
              </a:rPr>
              <a:t>E</a:t>
            </a:r>
            <a:r>
              <a:rPr sz="3200" spc="-80" dirty="0">
                <a:solidFill>
                  <a:srgbClr val="D60E13"/>
                </a:solidFill>
                <a:latin typeface="Arial"/>
                <a:cs typeface="Arial"/>
              </a:rPr>
              <a:t> </a:t>
            </a:r>
            <a:r>
              <a:rPr sz="3250" u="heavy" dirty="0">
                <a:solidFill>
                  <a:srgbClr val="B8313D"/>
                </a:solidFill>
                <a:uFill>
                  <a:solidFill>
                    <a:srgbClr val="B8313D"/>
                  </a:solidFill>
                </a:uFill>
                <a:latin typeface="Times New Roman"/>
                <a:cs typeface="Times New Roman"/>
              </a:rPr>
              <a:t>&lt;</a:t>
            </a:r>
            <a:r>
              <a:rPr sz="3250" spc="10" dirty="0">
                <a:solidFill>
                  <a:srgbClr val="B8313D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D60E13"/>
                </a:solidFill>
                <a:latin typeface="Arial"/>
                <a:cs typeface="Arial"/>
              </a:rPr>
              <a:t>N(N</a:t>
            </a:r>
            <a:r>
              <a:rPr sz="3200" dirty="0">
                <a:solidFill>
                  <a:srgbClr val="BA1F26"/>
                </a:solidFill>
                <a:latin typeface="Arial"/>
                <a:cs typeface="Arial"/>
              </a:rPr>
              <a:t>-</a:t>
            </a:r>
            <a:r>
              <a:rPr sz="3200" dirty="0">
                <a:solidFill>
                  <a:srgbClr val="D60E13"/>
                </a:solidFill>
                <a:latin typeface="Arial"/>
                <a:cs typeface="Arial"/>
              </a:rPr>
              <a:t>1)</a:t>
            </a:r>
            <a:r>
              <a:rPr sz="3200" dirty="0">
                <a:solidFill>
                  <a:srgbClr val="B8313D"/>
                </a:solidFill>
                <a:latin typeface="Arial"/>
                <a:cs typeface="Arial"/>
              </a:rPr>
              <a:t>/</a:t>
            </a:r>
            <a:r>
              <a:rPr sz="3200" dirty="0">
                <a:solidFill>
                  <a:srgbClr val="D60E13"/>
                </a:solidFill>
                <a:latin typeface="Arial"/>
                <a:cs typeface="Arial"/>
              </a:rPr>
              <a:t>2</a:t>
            </a:r>
            <a:r>
              <a:rPr sz="3200" spc="10" dirty="0">
                <a:solidFill>
                  <a:srgbClr val="D60E13"/>
                </a:solidFill>
                <a:latin typeface="Arial"/>
                <a:cs typeface="Arial"/>
              </a:rPr>
              <a:t> </a:t>
            </a:r>
            <a:r>
              <a:rPr sz="3700" spc="-420" dirty="0">
                <a:solidFill>
                  <a:srgbClr val="D60E13"/>
                </a:solidFill>
                <a:latin typeface="Times New Roman"/>
                <a:cs typeface="Times New Roman"/>
              </a:rPr>
              <a:t>=</a:t>
            </a:r>
            <a:r>
              <a:rPr sz="3700" spc="-20" dirty="0">
                <a:solidFill>
                  <a:srgbClr val="D60E13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D60E13"/>
                </a:solidFill>
                <a:latin typeface="Arial"/>
                <a:cs typeface="Arial"/>
              </a:rPr>
              <a:t>O(N</a:t>
            </a:r>
            <a:r>
              <a:rPr sz="3000" spc="-15" baseline="27777" dirty="0">
                <a:solidFill>
                  <a:srgbClr val="BA1F26"/>
                </a:solidFill>
                <a:latin typeface="Arial"/>
                <a:cs typeface="Arial"/>
              </a:rPr>
              <a:t>2</a:t>
            </a:r>
            <a:r>
              <a:rPr sz="2000" spc="-10" dirty="0">
                <a:solidFill>
                  <a:srgbClr val="D60E13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376555" marR="120014" indent="-342900">
              <a:lnSpc>
                <a:spcPct val="101200"/>
              </a:lnSpc>
              <a:spcBef>
                <a:spcPts val="605"/>
              </a:spcBef>
              <a:buClr>
                <a:srgbClr val="010172"/>
              </a:buClr>
              <a:buSzPct val="95312"/>
              <a:buChar char="■"/>
              <a:tabLst>
                <a:tab pos="378460" algn="l"/>
              </a:tabLst>
            </a:pPr>
            <a:r>
              <a:rPr sz="3200" dirty="0">
                <a:solidFill>
                  <a:srgbClr val="0A05CC"/>
                </a:solidFill>
                <a:latin typeface="Arial"/>
                <a:cs typeface="Arial"/>
              </a:rPr>
              <a:t>For</a:t>
            </a:r>
            <a:r>
              <a:rPr sz="3200" spc="75" dirty="0">
                <a:solidFill>
                  <a:srgbClr val="0A05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A05CC"/>
                </a:solidFill>
                <a:latin typeface="Arial"/>
                <a:cs typeface="Arial"/>
              </a:rPr>
              <a:t>any</a:t>
            </a:r>
            <a:r>
              <a:rPr sz="3200" spc="135" dirty="0">
                <a:solidFill>
                  <a:srgbClr val="0A05CC"/>
                </a:solidFill>
                <a:latin typeface="Arial"/>
                <a:cs typeface="Arial"/>
              </a:rPr>
              <a:t> </a:t>
            </a:r>
            <a:r>
              <a:rPr sz="3100" i="1" dirty="0">
                <a:solidFill>
                  <a:srgbClr val="0A05CC"/>
                </a:solidFill>
                <a:latin typeface="Arial"/>
                <a:cs typeface="Arial"/>
              </a:rPr>
              <a:t>connected</a:t>
            </a:r>
            <a:r>
              <a:rPr sz="3100" i="1" spc="45" dirty="0">
                <a:solidFill>
                  <a:srgbClr val="0A05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A05CC"/>
                </a:solidFill>
                <a:latin typeface="Arial"/>
                <a:cs typeface="Arial"/>
              </a:rPr>
              <a:t>graph</a:t>
            </a:r>
            <a:r>
              <a:rPr sz="3200" dirty="0">
                <a:solidFill>
                  <a:srgbClr val="281FA8"/>
                </a:solidFill>
                <a:latin typeface="Arial"/>
                <a:cs typeface="Arial"/>
              </a:rPr>
              <a:t>,</a:t>
            </a:r>
            <a:r>
              <a:rPr sz="3200" spc="-210" dirty="0">
                <a:solidFill>
                  <a:srgbClr val="281FA8"/>
                </a:solidFill>
                <a:latin typeface="Arial"/>
                <a:cs typeface="Arial"/>
              </a:rPr>
              <a:t> </a:t>
            </a:r>
            <a:r>
              <a:rPr sz="3200" spc="-45" dirty="0">
                <a:solidFill>
                  <a:srgbClr val="0A05CC"/>
                </a:solidFill>
                <a:latin typeface="Arial"/>
                <a:cs typeface="Arial"/>
              </a:rPr>
              <a:t>N-</a:t>
            </a:r>
            <a:r>
              <a:rPr sz="3200" dirty="0">
                <a:solidFill>
                  <a:srgbClr val="0A05CC"/>
                </a:solidFill>
                <a:latin typeface="Arial"/>
                <a:cs typeface="Arial"/>
              </a:rPr>
              <a:t>1</a:t>
            </a:r>
            <a:r>
              <a:rPr sz="3200" spc="95" dirty="0">
                <a:solidFill>
                  <a:srgbClr val="0A05CC"/>
                </a:solidFill>
                <a:latin typeface="Arial"/>
                <a:cs typeface="Arial"/>
              </a:rPr>
              <a:t> </a:t>
            </a:r>
            <a:r>
              <a:rPr sz="3050" u="heavy" spc="120" dirty="0">
                <a:solidFill>
                  <a:srgbClr val="281FA8"/>
                </a:solidFill>
                <a:uFill>
                  <a:solidFill>
                    <a:srgbClr val="281FA8"/>
                  </a:solidFill>
                </a:uFill>
                <a:latin typeface="Times New Roman"/>
                <a:cs typeface="Times New Roman"/>
              </a:rPr>
              <a:t>&lt;</a:t>
            </a:r>
            <a:r>
              <a:rPr sz="3050" spc="120" dirty="0">
                <a:solidFill>
                  <a:srgbClr val="281FA8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A05CC"/>
                </a:solidFill>
                <a:latin typeface="Arial"/>
                <a:cs typeface="Arial"/>
              </a:rPr>
              <a:t>E</a:t>
            </a:r>
            <a:r>
              <a:rPr sz="3200" spc="-105" dirty="0">
                <a:solidFill>
                  <a:srgbClr val="0A05CC"/>
                </a:solidFill>
                <a:latin typeface="Arial"/>
                <a:cs typeface="Arial"/>
              </a:rPr>
              <a:t> </a:t>
            </a:r>
            <a:r>
              <a:rPr sz="3050" u="heavy" dirty="0">
                <a:solidFill>
                  <a:srgbClr val="281FA8"/>
                </a:solidFill>
                <a:uFill>
                  <a:solidFill>
                    <a:srgbClr val="281FA8"/>
                  </a:solidFill>
                </a:uFill>
                <a:latin typeface="Arial"/>
                <a:cs typeface="Arial"/>
              </a:rPr>
              <a:t>&lt;</a:t>
            </a:r>
            <a:r>
              <a:rPr sz="3050" spc="145" dirty="0">
                <a:solidFill>
                  <a:srgbClr val="281FA8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0A05CC"/>
                </a:solidFill>
                <a:latin typeface="Arial"/>
                <a:cs typeface="Arial"/>
              </a:rPr>
              <a:t>N(N- </a:t>
            </a:r>
            <a:r>
              <a:rPr sz="3200" dirty="0">
                <a:solidFill>
                  <a:srgbClr val="0A05CC"/>
                </a:solidFill>
                <a:latin typeface="Arial"/>
                <a:cs typeface="Arial"/>
              </a:rPr>
              <a:t>1)</a:t>
            </a:r>
            <a:r>
              <a:rPr sz="3200" dirty="0">
                <a:solidFill>
                  <a:srgbClr val="281FA8"/>
                </a:solidFill>
                <a:latin typeface="Arial"/>
                <a:cs typeface="Arial"/>
              </a:rPr>
              <a:t>/</a:t>
            </a:r>
            <a:r>
              <a:rPr sz="3200" dirty="0">
                <a:solidFill>
                  <a:srgbClr val="0A05CC"/>
                </a:solidFill>
                <a:latin typeface="Arial"/>
                <a:cs typeface="Arial"/>
              </a:rPr>
              <a:t>2</a:t>
            </a:r>
            <a:r>
              <a:rPr sz="3200" spc="-100" dirty="0">
                <a:solidFill>
                  <a:srgbClr val="0A05C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281FA8"/>
                </a:solidFill>
                <a:latin typeface="Arial"/>
                <a:cs typeface="Arial"/>
              </a:rPr>
              <a:t>,</a:t>
            </a:r>
            <a:r>
              <a:rPr sz="3200" spc="-105" dirty="0">
                <a:solidFill>
                  <a:srgbClr val="281FA8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A05CC"/>
                </a:solidFill>
                <a:latin typeface="Arial"/>
                <a:cs typeface="Arial"/>
              </a:rPr>
              <a:t>O(N)</a:t>
            </a:r>
            <a:r>
              <a:rPr sz="3200" spc="45" dirty="0">
                <a:solidFill>
                  <a:srgbClr val="0A05CC"/>
                </a:solidFill>
                <a:latin typeface="Arial"/>
                <a:cs typeface="Arial"/>
              </a:rPr>
              <a:t> </a:t>
            </a:r>
            <a:r>
              <a:rPr sz="3050" u="heavy" dirty="0">
                <a:solidFill>
                  <a:srgbClr val="281FA8"/>
                </a:solidFill>
                <a:uFill>
                  <a:solidFill>
                    <a:srgbClr val="281FA8"/>
                  </a:solidFill>
                </a:uFill>
                <a:latin typeface="Arial"/>
                <a:cs typeface="Arial"/>
              </a:rPr>
              <a:t>&lt;</a:t>
            </a:r>
            <a:r>
              <a:rPr sz="3050" spc="110" dirty="0">
                <a:solidFill>
                  <a:srgbClr val="281FA8"/>
                </a:solidFill>
                <a:latin typeface="Arial"/>
                <a:cs typeface="Arial"/>
              </a:rPr>
              <a:t> </a:t>
            </a:r>
            <a:r>
              <a:rPr sz="3200" spc="85" dirty="0">
                <a:solidFill>
                  <a:srgbClr val="0A05CC"/>
                </a:solidFill>
                <a:latin typeface="Arial"/>
                <a:cs typeface="Arial"/>
              </a:rPr>
              <a:t>E</a:t>
            </a:r>
            <a:r>
              <a:rPr sz="3200" spc="-229" dirty="0">
                <a:solidFill>
                  <a:srgbClr val="0A05CC"/>
                </a:solidFill>
                <a:latin typeface="Arial"/>
                <a:cs typeface="Arial"/>
              </a:rPr>
              <a:t> </a:t>
            </a:r>
            <a:r>
              <a:rPr sz="3050" u="heavy" spc="70" dirty="0">
                <a:solidFill>
                  <a:srgbClr val="281FA8"/>
                </a:solidFill>
                <a:uFill>
                  <a:solidFill>
                    <a:srgbClr val="281FA8"/>
                  </a:solidFill>
                </a:uFill>
                <a:latin typeface="Arial"/>
                <a:cs typeface="Arial"/>
              </a:rPr>
              <a:t>&lt;</a:t>
            </a:r>
            <a:r>
              <a:rPr sz="3050" spc="-40" dirty="0">
                <a:solidFill>
                  <a:srgbClr val="281FA8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A05CC"/>
                </a:solidFill>
                <a:latin typeface="Arial"/>
                <a:cs typeface="Arial"/>
              </a:rPr>
              <a:t>O(N</a:t>
            </a:r>
            <a:r>
              <a:rPr sz="3000" spc="-15" baseline="27777" dirty="0">
                <a:solidFill>
                  <a:srgbClr val="281FA8"/>
                </a:solidFill>
                <a:latin typeface="Arial"/>
                <a:cs typeface="Arial"/>
              </a:rPr>
              <a:t>2</a:t>
            </a:r>
            <a:r>
              <a:rPr sz="2000" spc="-10" dirty="0">
                <a:solidFill>
                  <a:srgbClr val="0A05CC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4884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105"/>
              </a:spcBef>
            </a:pPr>
            <a:r>
              <a:rPr sz="3950" spc="-180" dirty="0">
                <a:solidFill>
                  <a:srgbClr val="030303"/>
                </a:solidFill>
              </a:rPr>
              <a:t>Running</a:t>
            </a:r>
            <a:r>
              <a:rPr sz="3950" spc="75" dirty="0">
                <a:solidFill>
                  <a:srgbClr val="030303"/>
                </a:solidFill>
              </a:rPr>
              <a:t> </a:t>
            </a:r>
            <a:r>
              <a:rPr sz="3950" spc="-105" dirty="0">
                <a:solidFill>
                  <a:srgbClr val="030303"/>
                </a:solidFill>
              </a:rPr>
              <a:t>time</a:t>
            </a:r>
            <a:r>
              <a:rPr sz="3950" spc="-90" dirty="0">
                <a:solidFill>
                  <a:srgbClr val="030303"/>
                </a:solidFill>
              </a:rPr>
              <a:t> </a:t>
            </a:r>
            <a:r>
              <a:rPr sz="3950" spc="-320" dirty="0">
                <a:solidFill>
                  <a:srgbClr val="030303"/>
                </a:solidFill>
              </a:rPr>
              <a:t>of</a:t>
            </a:r>
            <a:r>
              <a:rPr sz="3950" spc="45" dirty="0">
                <a:solidFill>
                  <a:srgbClr val="030303"/>
                </a:solidFill>
              </a:rPr>
              <a:t> </a:t>
            </a:r>
            <a:r>
              <a:rPr sz="3950" spc="-195" dirty="0">
                <a:solidFill>
                  <a:srgbClr val="030303"/>
                </a:solidFill>
              </a:rPr>
              <a:t>Kruskal</a:t>
            </a:r>
            <a:r>
              <a:rPr sz="3950" spc="-80" dirty="0">
                <a:solidFill>
                  <a:srgbClr val="030303"/>
                </a:solidFill>
              </a:rPr>
              <a:t> </a:t>
            </a:r>
            <a:r>
              <a:rPr sz="3950" spc="-265" dirty="0">
                <a:solidFill>
                  <a:srgbClr val="030303"/>
                </a:solidFill>
              </a:rPr>
              <a:t>Algorithm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502220" y="1888195"/>
            <a:ext cx="7640320" cy="3364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715" indent="-349250">
              <a:lnSpc>
                <a:spcPts val="2925"/>
              </a:lnSpc>
              <a:spcBef>
                <a:spcPts val="100"/>
              </a:spcBef>
              <a:buClr>
                <a:srgbClr val="010075"/>
              </a:buClr>
              <a:buChar char="■"/>
              <a:tabLst>
                <a:tab pos="387350" algn="l"/>
              </a:tabLst>
            </a:pPr>
            <a:r>
              <a:rPr sz="2700" spc="-10" dirty="0">
                <a:solidFill>
                  <a:srgbClr val="030303"/>
                </a:solidFill>
                <a:latin typeface="Arial"/>
                <a:cs typeface="Arial"/>
              </a:rPr>
              <a:t>Kruskal:</a:t>
            </a:r>
            <a:endParaRPr sz="2700">
              <a:latin typeface="Arial"/>
              <a:cs typeface="Arial"/>
            </a:endParaRPr>
          </a:p>
          <a:p>
            <a:pPr marL="795655" marR="166370" lvl="1" indent="-305435">
              <a:lnSpc>
                <a:spcPct val="79000"/>
              </a:lnSpc>
              <a:spcBef>
                <a:spcPts val="495"/>
              </a:spcBef>
              <a:buClr>
                <a:srgbClr val="A1A0AC"/>
              </a:buClr>
              <a:buSzPct val="136170"/>
              <a:buChar char="□"/>
              <a:tabLst>
                <a:tab pos="793115" algn="l"/>
              </a:tabLst>
            </a:pPr>
            <a:r>
              <a:rPr sz="2350" spc="50" dirty="0">
                <a:solidFill>
                  <a:srgbClr val="1108B8"/>
                </a:solidFill>
                <a:latin typeface="Arial"/>
                <a:cs typeface="Arial"/>
              </a:rPr>
              <a:t>Sort</a:t>
            </a:r>
            <a:r>
              <a:rPr sz="2350" spc="135" dirty="0">
                <a:solidFill>
                  <a:srgbClr val="1108B8"/>
                </a:solidFill>
                <a:latin typeface="Arial"/>
                <a:cs typeface="Arial"/>
              </a:rPr>
              <a:t> </a:t>
            </a:r>
            <a:r>
              <a:rPr sz="2350" spc="75" dirty="0">
                <a:solidFill>
                  <a:srgbClr val="1108B8"/>
                </a:solidFill>
                <a:latin typeface="Arial"/>
                <a:cs typeface="Arial"/>
              </a:rPr>
              <a:t>E</a:t>
            </a:r>
            <a:r>
              <a:rPr sz="2350" spc="114" dirty="0">
                <a:solidFill>
                  <a:srgbClr val="1108B8"/>
                </a:solidFill>
                <a:latin typeface="Arial"/>
                <a:cs typeface="Arial"/>
              </a:rPr>
              <a:t> </a:t>
            </a:r>
            <a:r>
              <a:rPr sz="2350" spc="70" dirty="0">
                <a:solidFill>
                  <a:srgbClr val="1108B8"/>
                </a:solidFill>
                <a:latin typeface="Arial"/>
                <a:cs typeface="Arial"/>
              </a:rPr>
              <a:t>edges</a:t>
            </a:r>
            <a:r>
              <a:rPr sz="2350" spc="50" dirty="0">
                <a:solidFill>
                  <a:srgbClr val="1108B8"/>
                </a:solidFill>
                <a:latin typeface="Arial"/>
                <a:cs typeface="Arial"/>
              </a:rPr>
              <a:t> </a:t>
            </a:r>
            <a:r>
              <a:rPr sz="2350" spc="80" dirty="0">
                <a:solidFill>
                  <a:srgbClr val="1108B8"/>
                </a:solidFill>
                <a:latin typeface="Arial"/>
                <a:cs typeface="Arial"/>
              </a:rPr>
              <a:t>into</a:t>
            </a:r>
            <a:r>
              <a:rPr sz="2350" spc="50" dirty="0">
                <a:solidFill>
                  <a:srgbClr val="1108B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1108B8"/>
                </a:solidFill>
                <a:latin typeface="Arial"/>
                <a:cs typeface="Arial"/>
              </a:rPr>
              <a:t>increasing</a:t>
            </a:r>
            <a:r>
              <a:rPr sz="2350" spc="150" dirty="0">
                <a:solidFill>
                  <a:srgbClr val="1108B8"/>
                </a:solidFill>
                <a:latin typeface="Arial"/>
                <a:cs typeface="Arial"/>
              </a:rPr>
              <a:t> </a:t>
            </a:r>
            <a:r>
              <a:rPr sz="2350" spc="65" dirty="0">
                <a:solidFill>
                  <a:srgbClr val="1108B8"/>
                </a:solidFill>
                <a:latin typeface="Arial"/>
                <a:cs typeface="Arial"/>
              </a:rPr>
              <a:t>order:</a:t>
            </a:r>
            <a:r>
              <a:rPr sz="2350" spc="114" dirty="0">
                <a:solidFill>
                  <a:srgbClr val="1108B8"/>
                </a:solidFill>
                <a:latin typeface="Arial"/>
                <a:cs typeface="Arial"/>
              </a:rPr>
              <a:t> </a:t>
            </a:r>
            <a:r>
              <a:rPr sz="2350" spc="55" dirty="0">
                <a:solidFill>
                  <a:srgbClr val="1108B8"/>
                </a:solidFill>
                <a:latin typeface="Arial"/>
                <a:cs typeface="Arial"/>
              </a:rPr>
              <a:t>Best</a:t>
            </a:r>
            <a:r>
              <a:rPr sz="2350" spc="114" dirty="0">
                <a:solidFill>
                  <a:srgbClr val="1108B8"/>
                </a:solidFill>
                <a:latin typeface="Arial"/>
                <a:cs typeface="Arial"/>
              </a:rPr>
              <a:t> </a:t>
            </a:r>
            <a:r>
              <a:rPr sz="2350" spc="45" dirty="0">
                <a:solidFill>
                  <a:srgbClr val="1108B8"/>
                </a:solidFill>
                <a:latin typeface="Arial"/>
                <a:cs typeface="Arial"/>
              </a:rPr>
              <a:t>sorting </a:t>
            </a:r>
            <a:r>
              <a:rPr sz="2350" dirty="0">
                <a:solidFill>
                  <a:srgbClr val="1108B8"/>
                </a:solidFill>
                <a:latin typeface="Arial"/>
                <a:cs typeface="Arial"/>
              </a:rPr>
              <a:t>algorithms</a:t>
            </a:r>
            <a:r>
              <a:rPr sz="2350" spc="254" dirty="0">
                <a:solidFill>
                  <a:srgbClr val="1108B8"/>
                </a:solidFill>
                <a:latin typeface="Arial"/>
                <a:cs typeface="Arial"/>
              </a:rPr>
              <a:t> </a:t>
            </a:r>
            <a:r>
              <a:rPr sz="2350" spc="70" dirty="0">
                <a:solidFill>
                  <a:srgbClr val="0803D4"/>
                </a:solidFill>
                <a:latin typeface="Arial"/>
                <a:cs typeface="Arial"/>
              </a:rPr>
              <a:t>take</a:t>
            </a:r>
            <a:r>
              <a:rPr sz="2350" spc="145" dirty="0">
                <a:solidFill>
                  <a:srgbClr val="0803D4"/>
                </a:solidFill>
                <a:latin typeface="Arial"/>
                <a:cs typeface="Arial"/>
              </a:rPr>
              <a:t> </a:t>
            </a:r>
            <a:r>
              <a:rPr sz="2400" b="1" spc="55" dirty="0">
                <a:solidFill>
                  <a:srgbClr val="0803D4"/>
                </a:solidFill>
                <a:latin typeface="Arial"/>
                <a:cs typeface="Arial"/>
              </a:rPr>
              <a:t>O(E</a:t>
            </a:r>
            <a:r>
              <a:rPr sz="2400" b="1" spc="85" dirty="0">
                <a:solidFill>
                  <a:srgbClr val="0803D4"/>
                </a:solidFill>
                <a:latin typeface="Arial"/>
                <a:cs typeface="Arial"/>
              </a:rPr>
              <a:t> </a:t>
            </a:r>
            <a:r>
              <a:rPr sz="2400" b="1" spc="55" dirty="0">
                <a:solidFill>
                  <a:srgbClr val="0803D4"/>
                </a:solidFill>
                <a:latin typeface="Arial"/>
                <a:cs typeface="Arial"/>
              </a:rPr>
              <a:t>log</a:t>
            </a:r>
            <a:r>
              <a:rPr sz="2400" b="1" spc="40" dirty="0">
                <a:solidFill>
                  <a:srgbClr val="0803D4"/>
                </a:solidFill>
                <a:latin typeface="Arial"/>
                <a:cs typeface="Arial"/>
              </a:rPr>
              <a:t> </a:t>
            </a:r>
            <a:r>
              <a:rPr sz="2400" b="1" spc="90" dirty="0">
                <a:solidFill>
                  <a:srgbClr val="0803D4"/>
                </a:solidFill>
                <a:latin typeface="Arial"/>
                <a:cs typeface="Arial"/>
              </a:rPr>
              <a:t>E)</a:t>
            </a:r>
            <a:r>
              <a:rPr sz="2400" b="1" spc="35" dirty="0">
                <a:solidFill>
                  <a:srgbClr val="0803D4"/>
                </a:solidFill>
                <a:latin typeface="Arial"/>
                <a:cs typeface="Arial"/>
              </a:rPr>
              <a:t> </a:t>
            </a:r>
            <a:r>
              <a:rPr sz="2350" spc="30" dirty="0">
                <a:solidFill>
                  <a:srgbClr val="1108B8"/>
                </a:solidFill>
                <a:latin typeface="Arial"/>
                <a:cs typeface="Arial"/>
              </a:rPr>
              <a:t>time</a:t>
            </a:r>
            <a:endParaRPr sz="2350">
              <a:latin typeface="Arial"/>
              <a:cs typeface="Arial"/>
            </a:endParaRPr>
          </a:p>
          <a:p>
            <a:pPr marL="785495" marR="30480" lvl="1" indent="-295275">
              <a:lnSpc>
                <a:spcPct val="82000"/>
              </a:lnSpc>
              <a:spcBef>
                <a:spcPts val="50"/>
              </a:spcBef>
              <a:buClr>
                <a:srgbClr val="A1A0AC"/>
              </a:buClr>
              <a:buSzPct val="136170"/>
              <a:buChar char="□"/>
              <a:tabLst>
                <a:tab pos="794385" algn="l"/>
              </a:tabLst>
            </a:pPr>
            <a:r>
              <a:rPr sz="2350" spc="90" dirty="0">
                <a:solidFill>
                  <a:srgbClr val="C6131D"/>
                </a:solidFill>
                <a:latin typeface="Arial"/>
                <a:cs typeface="Arial"/>
              </a:rPr>
              <a:t>Keep</a:t>
            </a:r>
            <a:r>
              <a:rPr sz="2350" spc="-60" dirty="0">
                <a:solidFill>
                  <a:srgbClr val="C6131D"/>
                </a:solidFill>
                <a:latin typeface="Arial"/>
                <a:cs typeface="Arial"/>
              </a:rPr>
              <a:t> </a:t>
            </a:r>
            <a:r>
              <a:rPr sz="2350" spc="60" dirty="0">
                <a:solidFill>
                  <a:srgbClr val="C6131D"/>
                </a:solidFill>
                <a:latin typeface="Arial"/>
                <a:cs typeface="Arial"/>
              </a:rPr>
              <a:t>track</a:t>
            </a:r>
            <a:r>
              <a:rPr sz="2350" spc="125" dirty="0">
                <a:solidFill>
                  <a:srgbClr val="C6131D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C6131D"/>
                </a:solidFill>
                <a:latin typeface="Arial"/>
                <a:cs typeface="Arial"/>
              </a:rPr>
              <a:t>of</a:t>
            </a:r>
            <a:r>
              <a:rPr sz="2350" spc="215" dirty="0">
                <a:solidFill>
                  <a:srgbClr val="C6131D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C6131D"/>
                </a:solidFill>
                <a:latin typeface="Arial"/>
                <a:cs typeface="Arial"/>
              </a:rPr>
              <a:t>number</a:t>
            </a:r>
            <a:r>
              <a:rPr sz="2350" spc="225" dirty="0">
                <a:solidFill>
                  <a:srgbClr val="C6131D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C6131D"/>
                </a:solidFill>
                <a:latin typeface="Arial"/>
                <a:cs typeface="Arial"/>
              </a:rPr>
              <a:t>of</a:t>
            </a:r>
            <a:r>
              <a:rPr sz="2350" spc="130" dirty="0">
                <a:solidFill>
                  <a:srgbClr val="C6131D"/>
                </a:solidFill>
                <a:latin typeface="Arial"/>
                <a:cs typeface="Arial"/>
              </a:rPr>
              <a:t> </a:t>
            </a:r>
            <a:r>
              <a:rPr sz="2350" spc="60" dirty="0">
                <a:solidFill>
                  <a:srgbClr val="C6131D"/>
                </a:solidFill>
                <a:latin typeface="Arial"/>
                <a:cs typeface="Arial"/>
              </a:rPr>
              <a:t>components,</a:t>
            </a:r>
            <a:r>
              <a:rPr sz="2350" spc="260" dirty="0">
                <a:solidFill>
                  <a:srgbClr val="C6131D"/>
                </a:solidFill>
                <a:latin typeface="Arial"/>
                <a:cs typeface="Arial"/>
              </a:rPr>
              <a:t> </a:t>
            </a:r>
            <a:r>
              <a:rPr sz="2350" spc="110" dirty="0">
                <a:solidFill>
                  <a:srgbClr val="C6131D"/>
                </a:solidFill>
                <a:latin typeface="Arial"/>
                <a:cs typeface="Arial"/>
              </a:rPr>
              <a:t>and</a:t>
            </a:r>
            <a:r>
              <a:rPr sz="2350" spc="-60" dirty="0">
                <a:solidFill>
                  <a:srgbClr val="C6131D"/>
                </a:solidFill>
                <a:latin typeface="Arial"/>
                <a:cs typeface="Arial"/>
              </a:rPr>
              <a:t> </a:t>
            </a:r>
            <a:r>
              <a:rPr sz="2350" spc="40" dirty="0">
                <a:solidFill>
                  <a:srgbClr val="C6131D"/>
                </a:solidFill>
                <a:latin typeface="Arial"/>
                <a:cs typeface="Arial"/>
              </a:rPr>
              <a:t>never </a:t>
            </a:r>
            <a:r>
              <a:rPr sz="2350" spc="85" dirty="0">
                <a:solidFill>
                  <a:srgbClr val="C6131D"/>
                </a:solidFill>
                <a:latin typeface="Arial"/>
                <a:cs typeface="Arial"/>
              </a:rPr>
              <a:t>add</a:t>
            </a:r>
            <a:r>
              <a:rPr sz="2350" spc="-10" dirty="0">
                <a:solidFill>
                  <a:srgbClr val="C6131D"/>
                </a:solidFill>
                <a:latin typeface="Arial"/>
                <a:cs typeface="Arial"/>
              </a:rPr>
              <a:t> </a:t>
            </a:r>
            <a:r>
              <a:rPr sz="2350" spc="85" dirty="0">
                <a:solidFill>
                  <a:srgbClr val="C6131D"/>
                </a:solidFill>
                <a:latin typeface="Arial"/>
                <a:cs typeface="Arial"/>
              </a:rPr>
              <a:t>an</a:t>
            </a:r>
            <a:r>
              <a:rPr sz="2350" spc="-10" dirty="0">
                <a:solidFill>
                  <a:srgbClr val="C6131D"/>
                </a:solidFill>
                <a:latin typeface="Arial"/>
                <a:cs typeface="Arial"/>
              </a:rPr>
              <a:t> </a:t>
            </a:r>
            <a:r>
              <a:rPr sz="2350" spc="70" dirty="0">
                <a:solidFill>
                  <a:srgbClr val="C6131D"/>
                </a:solidFill>
                <a:latin typeface="Arial"/>
                <a:cs typeface="Arial"/>
              </a:rPr>
              <a:t>edge</a:t>
            </a:r>
            <a:r>
              <a:rPr sz="2350" spc="60" dirty="0">
                <a:solidFill>
                  <a:srgbClr val="C6131D"/>
                </a:solidFill>
                <a:latin typeface="Arial"/>
                <a:cs typeface="Arial"/>
              </a:rPr>
              <a:t> </a:t>
            </a:r>
            <a:r>
              <a:rPr sz="2350" spc="55" dirty="0">
                <a:solidFill>
                  <a:srgbClr val="C6131D"/>
                </a:solidFill>
                <a:latin typeface="Arial"/>
                <a:cs typeface="Arial"/>
              </a:rPr>
              <a:t>with</a:t>
            </a:r>
            <a:r>
              <a:rPr sz="2350" spc="-35" dirty="0">
                <a:solidFill>
                  <a:srgbClr val="C6131D"/>
                </a:solidFill>
                <a:latin typeface="Arial"/>
                <a:cs typeface="Arial"/>
              </a:rPr>
              <a:t> </a:t>
            </a:r>
            <a:r>
              <a:rPr sz="2350" spc="85" dirty="0">
                <a:solidFill>
                  <a:srgbClr val="C6131D"/>
                </a:solidFill>
                <a:latin typeface="Arial"/>
                <a:cs typeface="Arial"/>
              </a:rPr>
              <a:t>both</a:t>
            </a:r>
            <a:r>
              <a:rPr sz="2350" spc="15" dirty="0">
                <a:solidFill>
                  <a:srgbClr val="C6131D"/>
                </a:solidFill>
                <a:latin typeface="Arial"/>
                <a:cs typeface="Arial"/>
              </a:rPr>
              <a:t> </a:t>
            </a:r>
            <a:r>
              <a:rPr sz="2350" spc="70" dirty="0">
                <a:solidFill>
                  <a:srgbClr val="C6131D"/>
                </a:solidFill>
                <a:latin typeface="Arial"/>
                <a:cs typeface="Arial"/>
              </a:rPr>
              <a:t>ends</a:t>
            </a:r>
            <a:r>
              <a:rPr sz="2350" spc="50" dirty="0">
                <a:solidFill>
                  <a:srgbClr val="C6131D"/>
                </a:solidFill>
                <a:latin typeface="Arial"/>
                <a:cs typeface="Arial"/>
              </a:rPr>
              <a:t> </a:t>
            </a:r>
            <a:r>
              <a:rPr sz="2350" spc="75" dirty="0">
                <a:solidFill>
                  <a:srgbClr val="C6131D"/>
                </a:solidFill>
                <a:latin typeface="Arial"/>
                <a:cs typeface="Arial"/>
              </a:rPr>
              <a:t>in</a:t>
            </a:r>
            <a:r>
              <a:rPr sz="2350" spc="-70" dirty="0">
                <a:solidFill>
                  <a:srgbClr val="C6131D"/>
                </a:solidFill>
                <a:latin typeface="Arial"/>
                <a:cs typeface="Arial"/>
              </a:rPr>
              <a:t> </a:t>
            </a:r>
            <a:r>
              <a:rPr sz="2350" spc="80" dirty="0">
                <a:solidFill>
                  <a:srgbClr val="C6131D"/>
                </a:solidFill>
                <a:latin typeface="Arial"/>
                <a:cs typeface="Arial"/>
              </a:rPr>
              <a:t>the</a:t>
            </a:r>
            <a:r>
              <a:rPr sz="2350" spc="-5" dirty="0">
                <a:solidFill>
                  <a:srgbClr val="C6131D"/>
                </a:solidFill>
                <a:latin typeface="Arial"/>
                <a:cs typeface="Arial"/>
              </a:rPr>
              <a:t> </a:t>
            </a:r>
            <a:r>
              <a:rPr sz="2350" spc="65" dirty="0">
                <a:solidFill>
                  <a:srgbClr val="C6131D"/>
                </a:solidFill>
                <a:latin typeface="Arial"/>
                <a:cs typeface="Arial"/>
              </a:rPr>
              <a:t>same </a:t>
            </a:r>
            <a:r>
              <a:rPr sz="2350" spc="60" dirty="0">
                <a:solidFill>
                  <a:srgbClr val="C6131D"/>
                </a:solidFill>
                <a:latin typeface="Arial"/>
                <a:cs typeface="Arial"/>
              </a:rPr>
              <a:t>component:</a:t>
            </a:r>
            <a:r>
              <a:rPr sz="2350" spc="155" dirty="0">
                <a:solidFill>
                  <a:srgbClr val="C6131D"/>
                </a:solidFill>
                <a:latin typeface="Arial"/>
                <a:cs typeface="Arial"/>
              </a:rPr>
              <a:t> </a:t>
            </a:r>
            <a:r>
              <a:rPr sz="2400" b="1" spc="40" dirty="0">
                <a:solidFill>
                  <a:srgbClr val="DB0A11"/>
                </a:solidFill>
                <a:latin typeface="Arial"/>
                <a:cs typeface="Arial"/>
              </a:rPr>
              <a:t>O(N)</a:t>
            </a:r>
            <a:endParaRPr sz="2400">
              <a:latin typeface="Arial"/>
              <a:cs typeface="Arial"/>
            </a:endParaRPr>
          </a:p>
          <a:p>
            <a:pPr marL="506095">
              <a:lnSpc>
                <a:spcPts val="2750"/>
              </a:lnSpc>
            </a:pPr>
            <a:r>
              <a:rPr sz="3000" spc="75" dirty="0">
                <a:solidFill>
                  <a:srgbClr val="A1A0AC"/>
                </a:solidFill>
                <a:latin typeface="Times New Roman"/>
                <a:cs typeface="Times New Roman"/>
              </a:rPr>
              <a:t>o</a:t>
            </a:r>
            <a:r>
              <a:rPr sz="3000" spc="-150" dirty="0">
                <a:solidFill>
                  <a:srgbClr val="A1A0AC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1108B8"/>
                </a:solidFill>
                <a:latin typeface="Arial"/>
                <a:cs typeface="Arial"/>
              </a:rPr>
              <a:t>Total</a:t>
            </a:r>
            <a:r>
              <a:rPr sz="2350" spc="95" dirty="0">
                <a:solidFill>
                  <a:srgbClr val="1108B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1108B8"/>
                </a:solidFill>
                <a:latin typeface="Arial"/>
                <a:cs typeface="Arial"/>
              </a:rPr>
              <a:t>is</a:t>
            </a:r>
            <a:r>
              <a:rPr sz="2350" spc="175" dirty="0">
                <a:solidFill>
                  <a:srgbClr val="1108B8"/>
                </a:solidFill>
                <a:latin typeface="Arial"/>
                <a:cs typeface="Arial"/>
              </a:rPr>
              <a:t> </a:t>
            </a:r>
            <a:r>
              <a:rPr sz="2400" b="1" spc="65" dirty="0">
                <a:solidFill>
                  <a:srgbClr val="0803D4"/>
                </a:solidFill>
                <a:latin typeface="Arial"/>
                <a:cs typeface="Arial"/>
              </a:rPr>
              <a:t>O(E</a:t>
            </a:r>
            <a:r>
              <a:rPr sz="2400" b="1" spc="-10" dirty="0">
                <a:solidFill>
                  <a:srgbClr val="0803D4"/>
                </a:solidFill>
                <a:latin typeface="Arial"/>
                <a:cs typeface="Arial"/>
              </a:rPr>
              <a:t> </a:t>
            </a:r>
            <a:r>
              <a:rPr sz="2400" b="1" spc="55" dirty="0">
                <a:solidFill>
                  <a:srgbClr val="0803D4"/>
                </a:solidFill>
                <a:latin typeface="Arial"/>
                <a:cs typeface="Arial"/>
              </a:rPr>
              <a:t>log</a:t>
            </a:r>
            <a:r>
              <a:rPr sz="2400" b="1" spc="70" dirty="0">
                <a:solidFill>
                  <a:srgbClr val="0803D4"/>
                </a:solidFill>
                <a:latin typeface="Arial"/>
                <a:cs typeface="Arial"/>
              </a:rPr>
              <a:t> </a:t>
            </a:r>
            <a:r>
              <a:rPr sz="2400" b="1" spc="85" dirty="0">
                <a:solidFill>
                  <a:srgbClr val="0803D4"/>
                </a:solidFill>
                <a:latin typeface="Arial"/>
                <a:cs typeface="Arial"/>
              </a:rPr>
              <a:t>E)</a:t>
            </a:r>
            <a:r>
              <a:rPr sz="2400" b="1" spc="85" dirty="0">
                <a:solidFill>
                  <a:srgbClr val="2F1FB6"/>
                </a:solidFill>
                <a:latin typeface="Arial"/>
                <a:cs typeface="Arial"/>
              </a:rPr>
              <a:t>,</a:t>
            </a:r>
            <a:r>
              <a:rPr sz="2400" b="1" spc="-95" dirty="0">
                <a:solidFill>
                  <a:srgbClr val="2F1FB6"/>
                </a:solidFill>
                <a:latin typeface="Arial"/>
                <a:cs typeface="Arial"/>
              </a:rPr>
              <a:t> </a:t>
            </a:r>
            <a:r>
              <a:rPr sz="2350" spc="50" dirty="0">
                <a:solidFill>
                  <a:srgbClr val="1108B8"/>
                </a:solidFill>
                <a:latin typeface="Arial"/>
                <a:cs typeface="Arial"/>
              </a:rPr>
              <a:t>since</a:t>
            </a:r>
            <a:r>
              <a:rPr sz="2350" spc="90" dirty="0">
                <a:solidFill>
                  <a:srgbClr val="1108B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1108B8"/>
                </a:solidFill>
                <a:latin typeface="Arial"/>
                <a:cs typeface="Arial"/>
              </a:rPr>
              <a:t>O(N)</a:t>
            </a:r>
            <a:r>
              <a:rPr sz="2350" spc="160" dirty="0">
                <a:solidFill>
                  <a:srgbClr val="1108B8"/>
                </a:solidFill>
                <a:latin typeface="Arial"/>
                <a:cs typeface="Arial"/>
              </a:rPr>
              <a:t> </a:t>
            </a:r>
            <a:r>
              <a:rPr sz="2450" u="heavy" spc="55" dirty="0">
                <a:solidFill>
                  <a:srgbClr val="342D95"/>
                </a:solidFill>
                <a:uFill>
                  <a:solidFill>
                    <a:srgbClr val="342D95"/>
                  </a:solidFill>
                </a:uFill>
                <a:latin typeface="Arial"/>
                <a:cs typeface="Arial"/>
              </a:rPr>
              <a:t>&lt;</a:t>
            </a:r>
            <a:r>
              <a:rPr sz="2450" spc="-20" dirty="0">
                <a:solidFill>
                  <a:srgbClr val="342D95"/>
                </a:solidFill>
                <a:latin typeface="Arial"/>
                <a:cs typeface="Arial"/>
              </a:rPr>
              <a:t> </a:t>
            </a:r>
            <a:r>
              <a:rPr sz="2350" spc="10" dirty="0">
                <a:solidFill>
                  <a:srgbClr val="1108B8"/>
                </a:solidFill>
                <a:latin typeface="Arial"/>
                <a:cs typeface="Arial"/>
              </a:rPr>
              <a:t>E</a:t>
            </a:r>
            <a:endParaRPr sz="2350">
              <a:latin typeface="Arial"/>
              <a:cs typeface="Arial"/>
            </a:endParaRPr>
          </a:p>
          <a:p>
            <a:pPr marL="388620" indent="-351155">
              <a:lnSpc>
                <a:spcPts val="3740"/>
              </a:lnSpc>
              <a:buClr>
                <a:srgbClr val="010075"/>
              </a:buClr>
              <a:buChar char="■"/>
              <a:tabLst>
                <a:tab pos="389255" algn="l"/>
              </a:tabLst>
            </a:pPr>
            <a:r>
              <a:rPr sz="2700" dirty="0">
                <a:solidFill>
                  <a:srgbClr val="030303"/>
                </a:solidFill>
                <a:latin typeface="Arial"/>
                <a:cs typeface="Arial"/>
              </a:rPr>
              <a:t>If</a:t>
            </a:r>
            <a:r>
              <a:rPr sz="2700" spc="20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spc="90" dirty="0">
                <a:solidFill>
                  <a:srgbClr val="030303"/>
                </a:solidFill>
                <a:latin typeface="Arial"/>
                <a:cs typeface="Arial"/>
              </a:rPr>
              <a:t>E</a:t>
            </a:r>
            <a:r>
              <a:rPr sz="2700" spc="8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400" spc="-385" dirty="0">
                <a:solidFill>
                  <a:srgbClr val="030303"/>
                </a:solidFill>
                <a:latin typeface="Times New Roman"/>
                <a:cs typeface="Times New Roman"/>
              </a:rPr>
              <a:t>=</a:t>
            </a:r>
            <a:r>
              <a:rPr sz="3400" spc="-25" dirty="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30303"/>
                </a:solidFill>
                <a:latin typeface="Arial"/>
                <a:cs typeface="Arial"/>
              </a:rPr>
              <a:t>O(N)</a:t>
            </a:r>
            <a:r>
              <a:rPr sz="2700" spc="21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30303"/>
                </a:solidFill>
                <a:latin typeface="Arial"/>
                <a:cs typeface="Arial"/>
              </a:rPr>
              <a:t>then</a:t>
            </a:r>
            <a:r>
              <a:rPr sz="2700" spc="13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30303"/>
                </a:solidFill>
                <a:latin typeface="Arial"/>
                <a:cs typeface="Arial"/>
              </a:rPr>
              <a:t>Kruskal</a:t>
            </a:r>
            <a:r>
              <a:rPr sz="2700" spc="14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spc="65" dirty="0">
                <a:solidFill>
                  <a:srgbClr val="030303"/>
                </a:solidFill>
                <a:latin typeface="Arial"/>
                <a:cs typeface="Arial"/>
              </a:rPr>
              <a:t>is</a:t>
            </a:r>
            <a:r>
              <a:rPr sz="2700" spc="3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spc="-10" dirty="0">
                <a:solidFill>
                  <a:srgbClr val="030303"/>
                </a:solidFill>
                <a:latin typeface="Arial"/>
                <a:cs typeface="Arial"/>
              </a:rPr>
              <a:t>faster</a:t>
            </a:r>
            <a:endParaRPr sz="2700">
              <a:latin typeface="Arial"/>
              <a:cs typeface="Arial"/>
            </a:endParaRPr>
          </a:p>
          <a:p>
            <a:pPr marL="388620" indent="-351155">
              <a:lnSpc>
                <a:spcPct val="100000"/>
              </a:lnSpc>
              <a:spcBef>
                <a:spcPts val="10"/>
              </a:spcBef>
              <a:buClr>
                <a:srgbClr val="010075"/>
              </a:buClr>
              <a:buChar char="■"/>
              <a:tabLst>
                <a:tab pos="389255" algn="l"/>
                <a:tab pos="2333625" algn="l"/>
              </a:tabLst>
            </a:pPr>
            <a:r>
              <a:rPr sz="2700" dirty="0">
                <a:solidFill>
                  <a:srgbClr val="030303"/>
                </a:solidFill>
                <a:latin typeface="Arial"/>
                <a:cs typeface="Arial"/>
              </a:rPr>
              <a:t>If</a:t>
            </a:r>
            <a:r>
              <a:rPr sz="2700" spc="12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spc="90" dirty="0">
                <a:solidFill>
                  <a:srgbClr val="030303"/>
                </a:solidFill>
                <a:latin typeface="Arial"/>
                <a:cs typeface="Arial"/>
              </a:rPr>
              <a:t>E</a:t>
            </a:r>
            <a:r>
              <a:rPr sz="2700" spc="-5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400" spc="70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400" spc="23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spc="55" dirty="0">
                <a:solidFill>
                  <a:srgbClr val="030303"/>
                </a:solidFill>
                <a:latin typeface="Arial"/>
                <a:cs typeface="Arial"/>
              </a:rPr>
              <a:t>O(N</a:t>
            </a:r>
            <a:r>
              <a:rPr sz="2625" spc="82" baseline="26984" dirty="0">
                <a:solidFill>
                  <a:srgbClr val="030303"/>
                </a:solidFill>
                <a:latin typeface="Arial"/>
                <a:cs typeface="Arial"/>
              </a:rPr>
              <a:t>2</a:t>
            </a:r>
            <a:r>
              <a:rPr sz="1750" spc="55" dirty="0">
                <a:solidFill>
                  <a:srgbClr val="030303"/>
                </a:solidFill>
                <a:latin typeface="Arial"/>
                <a:cs typeface="Arial"/>
              </a:rPr>
              <a:t>)</a:t>
            </a:r>
            <a:r>
              <a:rPr sz="175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700" dirty="0">
                <a:solidFill>
                  <a:srgbClr val="030303"/>
                </a:solidFill>
                <a:latin typeface="Arial"/>
                <a:cs typeface="Arial"/>
              </a:rPr>
              <a:t>then</a:t>
            </a:r>
            <a:r>
              <a:rPr sz="2700" spc="6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spc="50" dirty="0">
                <a:solidFill>
                  <a:srgbClr val="030303"/>
                </a:solidFill>
                <a:latin typeface="Arial"/>
                <a:cs typeface="Arial"/>
              </a:rPr>
              <a:t>Prim</a:t>
            </a:r>
            <a:r>
              <a:rPr sz="2700" spc="2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spc="65" dirty="0">
                <a:solidFill>
                  <a:srgbClr val="030303"/>
                </a:solidFill>
                <a:latin typeface="Arial"/>
                <a:cs typeface="Arial"/>
              </a:rPr>
              <a:t>is</a:t>
            </a:r>
            <a:r>
              <a:rPr sz="2700" spc="5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700" spc="-10" dirty="0">
                <a:solidFill>
                  <a:srgbClr val="030303"/>
                </a:solidFill>
                <a:latin typeface="Arial"/>
                <a:cs typeface="Arial"/>
              </a:rPr>
              <a:t>faster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169" y="729518"/>
            <a:ext cx="20802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4" dirty="0">
                <a:solidFill>
                  <a:srgbClr val="030303"/>
                </a:solidFill>
              </a:rPr>
              <a:t>Problem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0880" y="1491075"/>
            <a:ext cx="8944610" cy="4972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5125" marR="434975" indent="-353060">
              <a:lnSpc>
                <a:spcPct val="106700"/>
              </a:lnSpc>
              <a:spcBef>
                <a:spcPts val="95"/>
              </a:spcBef>
              <a:buClr>
                <a:srgbClr val="030172"/>
              </a:buClr>
              <a:buChar char="■"/>
              <a:tabLst>
                <a:tab pos="368935" algn="l"/>
              </a:tabLst>
            </a:pPr>
            <a:r>
              <a:rPr sz="2650" dirty="0">
                <a:solidFill>
                  <a:srgbClr val="030303"/>
                </a:solidFill>
                <a:latin typeface="Arial"/>
                <a:cs typeface="Arial"/>
              </a:rPr>
              <a:t>A</a:t>
            </a:r>
            <a:r>
              <a:rPr sz="2650" spc="-5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030303"/>
                </a:solidFill>
                <a:latin typeface="Arial"/>
                <a:cs typeface="Arial"/>
              </a:rPr>
              <a:t>motorist</a:t>
            </a:r>
            <a:r>
              <a:rPr sz="2650" spc="18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60" dirty="0">
                <a:solidFill>
                  <a:srgbClr val="030303"/>
                </a:solidFill>
                <a:latin typeface="Arial"/>
                <a:cs typeface="Arial"/>
              </a:rPr>
              <a:t>wishes</a:t>
            </a:r>
            <a:r>
              <a:rPr sz="2650" spc="8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50" dirty="0">
                <a:solidFill>
                  <a:srgbClr val="030303"/>
                </a:solidFill>
                <a:latin typeface="Arial"/>
                <a:cs typeface="Arial"/>
              </a:rPr>
              <a:t>to</a:t>
            </a:r>
            <a:r>
              <a:rPr sz="2650" spc="17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70" dirty="0">
                <a:solidFill>
                  <a:srgbClr val="030303"/>
                </a:solidFill>
                <a:latin typeface="Arial"/>
                <a:cs typeface="Arial"/>
              </a:rPr>
              <a:t>find</a:t>
            </a:r>
            <a:r>
              <a:rPr sz="2650" spc="-3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80" dirty="0">
                <a:solidFill>
                  <a:srgbClr val="030303"/>
                </a:solidFill>
                <a:latin typeface="Arial"/>
                <a:cs typeface="Arial"/>
              </a:rPr>
              <a:t>the</a:t>
            </a:r>
            <a:r>
              <a:rPr sz="2650" spc="2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030303"/>
                </a:solidFill>
                <a:latin typeface="Arial"/>
                <a:cs typeface="Arial"/>
              </a:rPr>
              <a:t>shortest</a:t>
            </a:r>
            <a:r>
              <a:rPr sz="2650" spc="10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030303"/>
                </a:solidFill>
                <a:latin typeface="Arial"/>
                <a:cs typeface="Arial"/>
              </a:rPr>
              <a:t>possible</a:t>
            </a:r>
            <a:r>
              <a:rPr sz="2650" spc="17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35" dirty="0">
                <a:solidFill>
                  <a:srgbClr val="030303"/>
                </a:solidFill>
                <a:latin typeface="Arial"/>
                <a:cs typeface="Arial"/>
              </a:rPr>
              <a:t>route </a:t>
            </a:r>
            <a:r>
              <a:rPr sz="2650" spc="65" dirty="0">
                <a:solidFill>
                  <a:srgbClr val="030303"/>
                </a:solidFill>
                <a:latin typeface="Arial"/>
                <a:cs typeface="Arial"/>
              </a:rPr>
              <a:t>from</a:t>
            </a:r>
            <a:r>
              <a:rPr sz="2650" spc="-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lang="en-US" sz="2650" spc="-5" dirty="0">
                <a:solidFill>
                  <a:srgbClr val="030303"/>
                </a:solidFill>
                <a:latin typeface="Arial"/>
                <a:cs typeface="Arial"/>
              </a:rPr>
              <a:t>Dhaka to Khulna. </a:t>
            </a:r>
          </a:p>
          <a:p>
            <a:pPr marL="365125" marR="434975" indent="-353060">
              <a:lnSpc>
                <a:spcPct val="106700"/>
              </a:lnSpc>
              <a:spcBef>
                <a:spcPts val="95"/>
              </a:spcBef>
              <a:buClr>
                <a:srgbClr val="030172"/>
              </a:buClr>
              <a:buChar char="■"/>
              <a:tabLst>
                <a:tab pos="368935" algn="l"/>
              </a:tabLst>
            </a:pPr>
            <a:endParaRPr lang="en-US" sz="2650" spc="-5" dirty="0">
              <a:solidFill>
                <a:srgbClr val="030303"/>
              </a:solidFill>
              <a:latin typeface="Arial"/>
              <a:cs typeface="Arial"/>
            </a:endParaRPr>
          </a:p>
          <a:p>
            <a:pPr marL="365125" marR="434975" indent="-353060">
              <a:lnSpc>
                <a:spcPct val="106700"/>
              </a:lnSpc>
              <a:spcBef>
                <a:spcPts val="95"/>
              </a:spcBef>
              <a:buClr>
                <a:srgbClr val="030172"/>
              </a:buClr>
              <a:buChar char="■"/>
              <a:tabLst>
                <a:tab pos="368935" algn="l"/>
              </a:tabLst>
            </a:pPr>
            <a:r>
              <a:rPr lang="en-US" sz="2650" spc="50" dirty="0">
                <a:solidFill>
                  <a:srgbClr val="030303"/>
                </a:solidFill>
                <a:latin typeface="Arial"/>
                <a:cs typeface="Arial"/>
              </a:rPr>
              <a:t>Route</a:t>
            </a:r>
            <a:r>
              <a:rPr lang="en-US" sz="2650" spc="7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lang="en-US" sz="2650" spc="100" dirty="0">
                <a:solidFill>
                  <a:srgbClr val="030303"/>
                </a:solidFill>
                <a:latin typeface="Arial"/>
                <a:cs typeface="Arial"/>
              </a:rPr>
              <a:t>map</a:t>
            </a:r>
            <a:r>
              <a:rPr lang="en-US" sz="2650" spc="4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lang="en-US" sz="2650" spc="80" dirty="0">
                <a:solidFill>
                  <a:srgbClr val="030303"/>
                </a:solidFill>
                <a:latin typeface="Arial"/>
                <a:cs typeface="Arial"/>
              </a:rPr>
              <a:t>is</a:t>
            </a:r>
            <a:r>
              <a:rPr lang="en-US" sz="2650" spc="-6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lang="en-US" sz="2650" spc="55" dirty="0">
                <a:solidFill>
                  <a:srgbClr val="030303"/>
                </a:solidFill>
                <a:latin typeface="Arial"/>
                <a:cs typeface="Arial"/>
              </a:rPr>
              <a:t>given</a:t>
            </a:r>
            <a:r>
              <a:rPr lang="en-US" sz="2650" spc="13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lang="en-US" sz="2650" spc="50" dirty="0">
                <a:solidFill>
                  <a:srgbClr val="030303"/>
                </a:solidFill>
                <a:latin typeface="Arial"/>
                <a:cs typeface="Arial"/>
              </a:rPr>
              <a:t>where</a:t>
            </a:r>
            <a:r>
              <a:rPr lang="en-US" sz="2650" spc="8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lang="en-US" sz="2650" spc="45" dirty="0">
                <a:solidFill>
                  <a:srgbClr val="030303"/>
                </a:solidFill>
                <a:latin typeface="Arial"/>
                <a:cs typeface="Arial"/>
              </a:rPr>
              <a:t>distance</a:t>
            </a:r>
            <a:r>
              <a:rPr lang="en-US" sz="2650" spc="12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lang="en-US" sz="2650" spc="65" dirty="0">
                <a:solidFill>
                  <a:srgbClr val="030303"/>
                </a:solidFill>
                <a:latin typeface="Arial"/>
                <a:cs typeface="Arial"/>
              </a:rPr>
              <a:t>between</a:t>
            </a:r>
            <a:r>
              <a:rPr lang="en-US" sz="2650" spc="17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lang="en-US" sz="2650" spc="50" dirty="0">
                <a:solidFill>
                  <a:srgbClr val="030303"/>
                </a:solidFill>
                <a:latin typeface="Arial"/>
                <a:cs typeface="Arial"/>
              </a:rPr>
              <a:t>each</a:t>
            </a:r>
            <a:r>
              <a:rPr lang="en-US" sz="2650" spc="8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lang="en-US" sz="2650" spc="-20" dirty="0">
                <a:solidFill>
                  <a:srgbClr val="030303"/>
                </a:solidFill>
                <a:latin typeface="Arial"/>
                <a:cs typeface="Arial"/>
              </a:rPr>
              <a:t>pair </a:t>
            </a:r>
            <a:r>
              <a:rPr lang="en-US" sz="2650" dirty="0">
                <a:solidFill>
                  <a:srgbClr val="030303"/>
                </a:solidFill>
                <a:latin typeface="Arial"/>
                <a:cs typeface="Arial"/>
              </a:rPr>
              <a:t>of</a:t>
            </a:r>
            <a:r>
              <a:rPr lang="en-US" sz="2650" spc="36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lang="en-US" sz="2650" dirty="0">
                <a:solidFill>
                  <a:srgbClr val="030303"/>
                </a:solidFill>
                <a:latin typeface="Arial"/>
                <a:cs typeface="Arial"/>
              </a:rPr>
              <a:t>adjacent</a:t>
            </a:r>
            <a:r>
              <a:rPr lang="en-US" sz="2650" spc="42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lang="en-US" sz="2650" dirty="0">
                <a:solidFill>
                  <a:srgbClr val="030303"/>
                </a:solidFill>
                <a:latin typeface="Arial"/>
                <a:cs typeface="Arial"/>
              </a:rPr>
              <a:t>intersections</a:t>
            </a:r>
            <a:r>
              <a:rPr lang="en-US" sz="2650" spc="41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lang="en-US" sz="2650" dirty="0">
                <a:solidFill>
                  <a:srgbClr val="030303"/>
                </a:solidFill>
                <a:latin typeface="Arial"/>
                <a:cs typeface="Arial"/>
              </a:rPr>
              <a:t>is</a:t>
            </a:r>
            <a:r>
              <a:rPr lang="en-US" sz="2650" spc="29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lang="en-US" sz="2650" spc="55" dirty="0">
                <a:solidFill>
                  <a:srgbClr val="030303"/>
                </a:solidFill>
                <a:latin typeface="Arial"/>
                <a:cs typeface="Arial"/>
              </a:rPr>
              <a:t>marked.</a:t>
            </a:r>
            <a:endParaRPr lang="en-US" sz="2650" dirty="0">
              <a:latin typeface="Arial"/>
              <a:cs typeface="Arial"/>
            </a:endParaRPr>
          </a:p>
          <a:p>
            <a:pPr marL="363855" marR="238125" indent="-351790">
              <a:lnSpc>
                <a:spcPct val="106700"/>
              </a:lnSpc>
              <a:spcBef>
                <a:spcPts val="2405"/>
              </a:spcBef>
              <a:buClr>
                <a:srgbClr val="030172"/>
              </a:buClr>
              <a:buChar char="■"/>
              <a:tabLst>
                <a:tab pos="361315" algn="l"/>
              </a:tabLst>
            </a:pPr>
            <a:r>
              <a:rPr sz="2650" spc="80" dirty="0">
                <a:solidFill>
                  <a:srgbClr val="030303"/>
                </a:solidFill>
                <a:latin typeface="Arial"/>
                <a:cs typeface="Arial"/>
              </a:rPr>
              <a:t>One</a:t>
            </a:r>
            <a:r>
              <a:rPr sz="2650" spc="-2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030303"/>
                </a:solidFill>
                <a:latin typeface="Arial"/>
                <a:cs typeface="Arial"/>
              </a:rPr>
              <a:t>possible</a:t>
            </a:r>
            <a:r>
              <a:rPr sz="2650" spc="15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030303"/>
                </a:solidFill>
                <a:latin typeface="Arial"/>
                <a:cs typeface="Arial"/>
              </a:rPr>
              <a:t>way</a:t>
            </a:r>
            <a:r>
              <a:rPr sz="2650" spc="8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80" dirty="0">
                <a:solidFill>
                  <a:srgbClr val="030303"/>
                </a:solidFill>
                <a:latin typeface="Arial"/>
                <a:cs typeface="Arial"/>
              </a:rPr>
              <a:t>is</a:t>
            </a:r>
            <a:r>
              <a:rPr sz="2650" spc="-2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60" dirty="0">
                <a:solidFill>
                  <a:srgbClr val="030303"/>
                </a:solidFill>
                <a:latin typeface="Arial"/>
                <a:cs typeface="Arial"/>
              </a:rPr>
              <a:t>to</a:t>
            </a:r>
            <a:r>
              <a:rPr sz="2650" spc="3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50" dirty="0">
                <a:solidFill>
                  <a:srgbClr val="030303"/>
                </a:solidFill>
                <a:latin typeface="Arial"/>
                <a:cs typeface="Arial"/>
              </a:rPr>
              <a:t>enumerate</a:t>
            </a:r>
            <a:r>
              <a:rPr sz="2650" spc="24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030303"/>
                </a:solidFill>
                <a:latin typeface="Arial"/>
                <a:cs typeface="Arial"/>
              </a:rPr>
              <a:t>all</a:t>
            </a:r>
            <a:r>
              <a:rPr sz="2650" spc="-1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030303"/>
                </a:solidFill>
                <a:latin typeface="Arial"/>
                <a:cs typeface="Arial"/>
              </a:rPr>
              <a:t>the</a:t>
            </a:r>
            <a:r>
              <a:rPr sz="2650" spc="4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030303"/>
                </a:solidFill>
                <a:latin typeface="Arial"/>
                <a:cs typeface="Arial"/>
              </a:rPr>
              <a:t>routes</a:t>
            </a:r>
            <a:r>
              <a:rPr sz="2650" spc="9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45" dirty="0">
                <a:solidFill>
                  <a:srgbClr val="030303"/>
                </a:solidFill>
                <a:latin typeface="Arial"/>
                <a:cs typeface="Arial"/>
              </a:rPr>
              <a:t>from </a:t>
            </a:r>
            <a:r>
              <a:rPr lang="en-US" sz="2650" spc="50" dirty="0">
                <a:solidFill>
                  <a:srgbClr val="030303"/>
                </a:solidFill>
                <a:latin typeface="Arial"/>
                <a:cs typeface="Arial"/>
              </a:rPr>
              <a:t>Dhaka to Khulna</a:t>
            </a:r>
            <a:r>
              <a:rPr sz="2650" spc="45" dirty="0">
                <a:solidFill>
                  <a:srgbClr val="030303"/>
                </a:solidFill>
                <a:latin typeface="Arial"/>
                <a:cs typeface="Arial"/>
              </a:rPr>
              <a:t>,</a:t>
            </a:r>
            <a:r>
              <a:rPr sz="2650" spc="18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85" dirty="0">
                <a:solidFill>
                  <a:srgbClr val="030303"/>
                </a:solidFill>
                <a:latin typeface="Arial"/>
                <a:cs typeface="Arial"/>
              </a:rPr>
              <a:t>add</a:t>
            </a:r>
            <a:r>
              <a:rPr sz="2650" spc="4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114" dirty="0">
                <a:solidFill>
                  <a:srgbClr val="030303"/>
                </a:solidFill>
                <a:latin typeface="Arial"/>
                <a:cs typeface="Arial"/>
              </a:rPr>
              <a:t>up</a:t>
            </a:r>
            <a:r>
              <a:rPr sz="2650" spc="-7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80" dirty="0">
                <a:solidFill>
                  <a:srgbClr val="030303"/>
                </a:solidFill>
                <a:latin typeface="Arial"/>
                <a:cs typeface="Arial"/>
              </a:rPr>
              <a:t>the</a:t>
            </a:r>
            <a:r>
              <a:rPr sz="2650" spc="-1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45" dirty="0">
                <a:solidFill>
                  <a:srgbClr val="030303"/>
                </a:solidFill>
                <a:latin typeface="Arial"/>
                <a:cs typeface="Arial"/>
              </a:rPr>
              <a:t>distance</a:t>
            </a:r>
            <a:r>
              <a:rPr sz="2650" spc="22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114" dirty="0">
                <a:solidFill>
                  <a:srgbClr val="030303"/>
                </a:solidFill>
                <a:latin typeface="Arial"/>
                <a:cs typeface="Arial"/>
              </a:rPr>
              <a:t>on</a:t>
            </a:r>
            <a:r>
              <a:rPr sz="2650" spc="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30" dirty="0">
                <a:solidFill>
                  <a:srgbClr val="030303"/>
                </a:solidFill>
                <a:latin typeface="Arial"/>
                <a:cs typeface="Arial"/>
              </a:rPr>
              <a:t>each </a:t>
            </a:r>
            <a:r>
              <a:rPr sz="2650" spc="55" dirty="0">
                <a:solidFill>
                  <a:srgbClr val="030303"/>
                </a:solidFill>
                <a:latin typeface="Arial"/>
                <a:cs typeface="Arial"/>
              </a:rPr>
              <a:t>route</a:t>
            </a:r>
            <a:r>
              <a:rPr sz="2650" spc="14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85" dirty="0">
                <a:solidFill>
                  <a:srgbClr val="030303"/>
                </a:solidFill>
                <a:latin typeface="Arial"/>
                <a:cs typeface="Arial"/>
              </a:rPr>
              <a:t>and</a:t>
            </a:r>
            <a:r>
              <a:rPr sz="2650" spc="4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030303"/>
                </a:solidFill>
                <a:latin typeface="Arial"/>
                <a:cs typeface="Arial"/>
              </a:rPr>
              <a:t>select</a:t>
            </a:r>
            <a:r>
              <a:rPr sz="2650" spc="16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80" dirty="0">
                <a:solidFill>
                  <a:srgbClr val="030303"/>
                </a:solidFill>
                <a:latin typeface="Arial"/>
                <a:cs typeface="Arial"/>
              </a:rPr>
              <a:t>the</a:t>
            </a:r>
            <a:r>
              <a:rPr sz="2650" spc="12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030303"/>
                </a:solidFill>
                <a:latin typeface="Arial"/>
                <a:cs typeface="Arial"/>
              </a:rPr>
              <a:t>shortest.</a:t>
            </a:r>
            <a:endParaRPr sz="2650" dirty="0">
              <a:latin typeface="Arial"/>
              <a:cs typeface="Arial"/>
            </a:endParaRPr>
          </a:p>
          <a:p>
            <a:pPr marL="363855" marR="562610" indent="-351790">
              <a:lnSpc>
                <a:spcPct val="106700"/>
              </a:lnSpc>
              <a:spcBef>
                <a:spcPts val="2330"/>
              </a:spcBef>
              <a:buClr>
                <a:srgbClr val="030172"/>
              </a:buClr>
              <a:buChar char="■"/>
              <a:tabLst>
                <a:tab pos="360680" algn="l"/>
              </a:tabLst>
            </a:pPr>
            <a:r>
              <a:rPr sz="2650" spc="65" dirty="0">
                <a:solidFill>
                  <a:srgbClr val="030303"/>
                </a:solidFill>
                <a:latin typeface="Arial"/>
                <a:cs typeface="Arial"/>
              </a:rPr>
              <a:t>There</a:t>
            </a:r>
            <a:r>
              <a:rPr sz="2650" spc="16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70" dirty="0">
                <a:solidFill>
                  <a:srgbClr val="030303"/>
                </a:solidFill>
                <a:latin typeface="Arial"/>
                <a:cs typeface="Arial"/>
              </a:rPr>
              <a:t>are</a:t>
            </a:r>
            <a:r>
              <a:rPr sz="2650" spc="10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50" dirty="0">
                <a:solidFill>
                  <a:srgbClr val="030303"/>
                </a:solidFill>
                <a:latin typeface="Arial"/>
                <a:cs typeface="Arial"/>
              </a:rPr>
              <a:t>hundreds</a:t>
            </a:r>
            <a:r>
              <a:rPr sz="2650" spc="26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85" dirty="0">
                <a:solidFill>
                  <a:srgbClr val="030303"/>
                </a:solidFill>
                <a:latin typeface="Arial"/>
                <a:cs typeface="Arial"/>
              </a:rPr>
              <a:t>and</a:t>
            </a:r>
            <a:r>
              <a:rPr sz="2650" spc="10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030303"/>
                </a:solidFill>
                <a:latin typeface="Arial"/>
                <a:cs typeface="Arial"/>
              </a:rPr>
              <a:t>thousands</a:t>
            </a:r>
            <a:r>
              <a:rPr sz="2650" spc="23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030303"/>
                </a:solidFill>
                <a:latin typeface="Arial"/>
                <a:cs typeface="Arial"/>
              </a:rPr>
              <a:t>of</a:t>
            </a:r>
            <a:r>
              <a:rPr sz="2650" spc="15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45" dirty="0">
                <a:solidFill>
                  <a:srgbClr val="030303"/>
                </a:solidFill>
                <a:latin typeface="Arial"/>
                <a:cs typeface="Arial"/>
              </a:rPr>
              <a:t>possibilities, </a:t>
            </a:r>
            <a:r>
              <a:rPr sz="2650" spc="55" dirty="0">
                <a:solidFill>
                  <a:srgbClr val="030303"/>
                </a:solidFill>
                <a:latin typeface="Arial"/>
                <a:cs typeface="Arial"/>
              </a:rPr>
              <a:t>most</a:t>
            </a:r>
            <a:r>
              <a:rPr sz="2650" spc="18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030303"/>
                </a:solidFill>
                <a:latin typeface="Arial"/>
                <a:cs typeface="Arial"/>
              </a:rPr>
              <a:t>of</a:t>
            </a:r>
            <a:r>
              <a:rPr sz="2650" spc="15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65" dirty="0">
                <a:solidFill>
                  <a:srgbClr val="030303"/>
                </a:solidFill>
                <a:latin typeface="Arial"/>
                <a:cs typeface="Arial"/>
              </a:rPr>
              <a:t>them</a:t>
            </a:r>
            <a:r>
              <a:rPr sz="2650" spc="18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70" dirty="0">
                <a:solidFill>
                  <a:srgbClr val="030303"/>
                </a:solidFill>
                <a:latin typeface="Arial"/>
                <a:cs typeface="Arial"/>
              </a:rPr>
              <a:t>are</a:t>
            </a:r>
            <a:r>
              <a:rPr sz="2650" spc="14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030303"/>
                </a:solidFill>
                <a:latin typeface="Arial"/>
                <a:cs typeface="Arial"/>
              </a:rPr>
              <a:t>simply</a:t>
            </a:r>
            <a:r>
              <a:rPr sz="2650" spc="28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030303"/>
                </a:solidFill>
                <a:latin typeface="Arial"/>
                <a:cs typeface="Arial"/>
              </a:rPr>
              <a:t>not</a:t>
            </a:r>
            <a:r>
              <a:rPr sz="2650" spc="17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60" dirty="0">
                <a:solidFill>
                  <a:srgbClr val="030303"/>
                </a:solidFill>
                <a:latin typeface="Arial"/>
                <a:cs typeface="Arial"/>
              </a:rPr>
              <a:t>worth</a:t>
            </a:r>
            <a:r>
              <a:rPr sz="2650" spc="7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030303"/>
                </a:solidFill>
                <a:latin typeface="Arial"/>
                <a:cs typeface="Arial"/>
              </a:rPr>
              <a:t>considering.</a:t>
            </a:r>
            <a:endParaRPr sz="26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503" y="0"/>
            <a:ext cx="6024190" cy="50285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366" y="742234"/>
            <a:ext cx="1967864" cy="681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300" spc="-210" dirty="0">
                <a:solidFill>
                  <a:srgbClr val="010101"/>
                </a:solidFill>
              </a:rPr>
              <a:t>Contd</a:t>
            </a:r>
            <a:r>
              <a:rPr sz="4300" spc="-730" dirty="0">
                <a:solidFill>
                  <a:srgbClr val="010101"/>
                </a:solidFill>
              </a:rPr>
              <a:t> </a:t>
            </a:r>
            <a:r>
              <a:rPr sz="4300" spc="-30" dirty="0">
                <a:solidFill>
                  <a:srgbClr val="010101"/>
                </a:solidFill>
              </a:rPr>
              <a:t>...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70880" y="1491075"/>
            <a:ext cx="8996920" cy="27865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6700"/>
              </a:lnSpc>
              <a:spcBef>
                <a:spcPts val="95"/>
              </a:spcBef>
              <a:buClr>
                <a:srgbClr val="030172"/>
              </a:buClr>
              <a:buChar char="■"/>
              <a:tabLst>
                <a:tab pos="368935" algn="l"/>
              </a:tabLst>
            </a:pPr>
            <a:r>
              <a:rPr sz="2650" dirty="0">
                <a:solidFill>
                  <a:srgbClr val="010101"/>
                </a:solidFill>
                <a:latin typeface="Arial"/>
                <a:cs typeface="Arial"/>
              </a:rPr>
              <a:t>A</a:t>
            </a:r>
            <a:r>
              <a:rPr sz="2650" spc="-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010101"/>
                </a:solidFill>
                <a:latin typeface="Arial"/>
                <a:cs typeface="Arial"/>
              </a:rPr>
              <a:t>route</a:t>
            </a:r>
            <a:r>
              <a:rPr sz="2650" spc="13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65" dirty="0">
                <a:solidFill>
                  <a:srgbClr val="010101"/>
                </a:solidFill>
                <a:latin typeface="Arial"/>
                <a:cs typeface="Arial"/>
              </a:rPr>
              <a:t>from</a:t>
            </a:r>
            <a:r>
              <a:rPr sz="2650" spc="114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lang="en-US" sz="2650" spc="50" dirty="0">
                <a:solidFill>
                  <a:srgbClr val="010101"/>
                </a:solidFill>
                <a:latin typeface="Arial"/>
                <a:cs typeface="Arial"/>
              </a:rPr>
              <a:t>Dhaka</a:t>
            </a:r>
            <a:r>
              <a:rPr sz="2650" spc="25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60" dirty="0">
                <a:solidFill>
                  <a:srgbClr val="010101"/>
                </a:solidFill>
                <a:latin typeface="Arial"/>
                <a:cs typeface="Arial"/>
              </a:rPr>
              <a:t>to</a:t>
            </a:r>
            <a:r>
              <a:rPr sz="2650" spc="114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lang="en-US" sz="2650" spc="114" dirty="0" err="1">
                <a:solidFill>
                  <a:srgbClr val="010101"/>
                </a:solidFill>
                <a:latin typeface="Arial"/>
                <a:cs typeface="Arial"/>
              </a:rPr>
              <a:t>Rajshahi</a:t>
            </a:r>
            <a:r>
              <a:rPr sz="2650" spc="29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010101"/>
                </a:solidFill>
                <a:latin typeface="Arial"/>
                <a:cs typeface="Arial"/>
              </a:rPr>
              <a:t>to</a:t>
            </a:r>
            <a:r>
              <a:rPr sz="2650" spc="19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lang="en-US" sz="2650" spc="60" dirty="0">
                <a:solidFill>
                  <a:srgbClr val="010101"/>
                </a:solidFill>
                <a:latin typeface="Arial"/>
                <a:cs typeface="Arial"/>
              </a:rPr>
              <a:t>Khulna</a:t>
            </a:r>
            <a:r>
              <a:rPr sz="2650" spc="1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010101"/>
                </a:solidFill>
                <a:latin typeface="Arial"/>
                <a:cs typeface="Arial"/>
              </a:rPr>
              <a:t>is </a:t>
            </a:r>
            <a:r>
              <a:rPr sz="2650" dirty="0">
                <a:solidFill>
                  <a:srgbClr val="010101"/>
                </a:solidFill>
                <a:latin typeface="Arial"/>
                <a:cs typeface="Arial"/>
              </a:rPr>
              <a:t>obviously</a:t>
            </a:r>
            <a:r>
              <a:rPr sz="2650" spc="32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010101"/>
                </a:solidFill>
                <a:latin typeface="Arial"/>
                <a:cs typeface="Arial"/>
              </a:rPr>
              <a:t>a</a:t>
            </a:r>
            <a:r>
              <a:rPr sz="2650" spc="4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60" dirty="0">
                <a:solidFill>
                  <a:srgbClr val="010101"/>
                </a:solidFill>
                <a:latin typeface="Arial"/>
                <a:cs typeface="Arial"/>
              </a:rPr>
              <a:t>poor</a:t>
            </a:r>
            <a:r>
              <a:rPr sz="2650" spc="23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60" dirty="0">
                <a:solidFill>
                  <a:srgbClr val="010101"/>
                </a:solidFill>
                <a:latin typeface="Arial"/>
                <a:cs typeface="Arial"/>
              </a:rPr>
              <a:t>choice,</a:t>
            </a:r>
            <a:r>
              <a:rPr sz="2650" spc="2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80" dirty="0">
                <a:solidFill>
                  <a:srgbClr val="010101"/>
                </a:solidFill>
                <a:latin typeface="Arial"/>
                <a:cs typeface="Arial"/>
              </a:rPr>
              <a:t>as</a:t>
            </a:r>
            <a:r>
              <a:rPr lang="en-US" sz="2650" spc="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lang="en-US" sz="2650" spc="45" dirty="0" err="1">
                <a:solidFill>
                  <a:srgbClr val="010101"/>
                </a:solidFill>
                <a:latin typeface="Arial"/>
                <a:cs typeface="Arial"/>
              </a:rPr>
              <a:t>Rajshahi</a:t>
            </a:r>
            <a:r>
              <a:rPr sz="2650" spc="43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80" dirty="0">
                <a:solidFill>
                  <a:srgbClr val="010101"/>
                </a:solidFill>
                <a:latin typeface="Arial"/>
                <a:cs typeface="Arial"/>
              </a:rPr>
              <a:t>is</a:t>
            </a:r>
            <a:r>
              <a:rPr sz="2650" spc="-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50" dirty="0">
                <a:solidFill>
                  <a:srgbClr val="010101"/>
                </a:solidFill>
                <a:latin typeface="Arial"/>
                <a:cs typeface="Arial"/>
              </a:rPr>
              <a:t>hundreds</a:t>
            </a:r>
            <a:r>
              <a:rPr sz="2650" spc="3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-25" dirty="0">
                <a:solidFill>
                  <a:srgbClr val="010101"/>
                </a:solidFill>
                <a:latin typeface="Arial"/>
                <a:cs typeface="Arial"/>
              </a:rPr>
              <a:t>of </a:t>
            </a:r>
            <a:r>
              <a:rPr sz="2650" spc="60" dirty="0">
                <a:solidFill>
                  <a:srgbClr val="010101"/>
                </a:solidFill>
                <a:latin typeface="Arial"/>
                <a:cs typeface="Arial"/>
              </a:rPr>
              <a:t>miles</a:t>
            </a:r>
            <a:r>
              <a:rPr sz="2650" spc="-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70" dirty="0">
                <a:solidFill>
                  <a:srgbClr val="010101"/>
                </a:solidFill>
                <a:latin typeface="Arial"/>
                <a:cs typeface="Arial"/>
              </a:rPr>
              <a:t>out</a:t>
            </a:r>
            <a:r>
              <a:rPr sz="2650" spc="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010101"/>
                </a:solidFill>
                <a:latin typeface="Arial"/>
                <a:cs typeface="Arial"/>
              </a:rPr>
              <a:t>of</a:t>
            </a:r>
            <a:r>
              <a:rPr sz="2650" spc="13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80" dirty="0">
                <a:solidFill>
                  <a:srgbClr val="010101"/>
                </a:solidFill>
                <a:latin typeface="Arial"/>
                <a:cs typeface="Arial"/>
              </a:rPr>
              <a:t>the</a:t>
            </a:r>
            <a:r>
              <a:rPr sz="2650" spc="5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-20" dirty="0">
                <a:solidFill>
                  <a:srgbClr val="010101"/>
                </a:solidFill>
                <a:latin typeface="Arial"/>
                <a:cs typeface="Arial"/>
              </a:rPr>
              <a:t>way.</a:t>
            </a:r>
            <a:endParaRPr sz="26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30172"/>
              </a:buClr>
              <a:buFont typeface="Arial"/>
              <a:buChar char="■"/>
            </a:pPr>
            <a:endParaRPr sz="4150" dirty="0">
              <a:latin typeface="Arial"/>
              <a:cs typeface="Arial"/>
            </a:endParaRPr>
          </a:p>
          <a:p>
            <a:pPr marL="354965" marR="779145" indent="-342900">
              <a:lnSpc>
                <a:spcPct val="104500"/>
              </a:lnSpc>
              <a:buClr>
                <a:srgbClr val="030172"/>
              </a:buClr>
              <a:buChar char="■"/>
              <a:tabLst>
                <a:tab pos="364490" algn="l"/>
              </a:tabLst>
            </a:pPr>
            <a:r>
              <a:rPr sz="2650" spc="85" dirty="0">
                <a:solidFill>
                  <a:srgbClr val="010101"/>
                </a:solidFill>
                <a:latin typeface="Arial"/>
                <a:cs typeface="Arial"/>
              </a:rPr>
              <a:t>In</a:t>
            </a:r>
            <a:r>
              <a:rPr sz="2650" spc="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010101"/>
                </a:solidFill>
                <a:latin typeface="Arial"/>
                <a:cs typeface="Arial"/>
              </a:rPr>
              <a:t>this</a:t>
            </a:r>
            <a:r>
              <a:rPr sz="2650" spc="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50" dirty="0">
                <a:solidFill>
                  <a:srgbClr val="010101"/>
                </a:solidFill>
                <a:latin typeface="Arial"/>
                <a:cs typeface="Arial"/>
              </a:rPr>
              <a:t>presentation,</a:t>
            </a:r>
            <a:r>
              <a:rPr sz="2650" spc="21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80" dirty="0">
                <a:solidFill>
                  <a:srgbClr val="010101"/>
                </a:solidFill>
                <a:latin typeface="Arial"/>
                <a:cs typeface="Arial"/>
              </a:rPr>
              <a:t>we</a:t>
            </a:r>
            <a:r>
              <a:rPr sz="2650" spc="10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75" dirty="0">
                <a:solidFill>
                  <a:srgbClr val="010101"/>
                </a:solidFill>
                <a:latin typeface="Arial"/>
                <a:cs typeface="Arial"/>
              </a:rPr>
              <a:t>show</a:t>
            </a:r>
            <a:r>
              <a:rPr sz="2650" spc="16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60" dirty="0">
                <a:solidFill>
                  <a:srgbClr val="010101"/>
                </a:solidFill>
                <a:latin typeface="Arial"/>
                <a:cs typeface="Arial"/>
              </a:rPr>
              <a:t>how</a:t>
            </a:r>
            <a:r>
              <a:rPr sz="2650" spc="15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60" dirty="0">
                <a:solidFill>
                  <a:srgbClr val="010101"/>
                </a:solidFill>
                <a:latin typeface="Arial"/>
                <a:cs typeface="Arial"/>
              </a:rPr>
              <a:t>to</a:t>
            </a:r>
            <a:r>
              <a:rPr sz="2650" spc="10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010101"/>
                </a:solidFill>
                <a:latin typeface="Arial"/>
                <a:cs typeface="Arial"/>
              </a:rPr>
              <a:t>solve</a:t>
            </a:r>
            <a:r>
              <a:rPr sz="2650" spc="17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60" dirty="0">
                <a:solidFill>
                  <a:srgbClr val="010101"/>
                </a:solidFill>
                <a:latin typeface="Arial"/>
                <a:cs typeface="Arial"/>
              </a:rPr>
              <a:t>such problems</a:t>
            </a:r>
            <a:r>
              <a:rPr sz="2650" spc="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010101"/>
                </a:solidFill>
                <a:latin typeface="Arial"/>
                <a:cs typeface="Arial"/>
              </a:rPr>
              <a:t>efficiently.</a:t>
            </a:r>
            <a:endParaRPr sz="26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04" y="748592"/>
            <a:ext cx="5518785" cy="674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250" b="0" dirty="0">
                <a:solidFill>
                  <a:srgbClr val="010101"/>
                </a:solidFill>
                <a:latin typeface="Arial"/>
                <a:cs typeface="Arial"/>
              </a:rPr>
              <a:t>Shortest</a:t>
            </a:r>
            <a:r>
              <a:rPr sz="4250" b="0" spc="3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250" b="0" spc="55" dirty="0">
                <a:solidFill>
                  <a:srgbClr val="010101"/>
                </a:solidFill>
                <a:latin typeface="Arial"/>
                <a:cs typeface="Arial"/>
              </a:rPr>
              <a:t>path</a:t>
            </a:r>
            <a:r>
              <a:rPr sz="4250" b="0" spc="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250" b="0" spc="-10" dirty="0">
                <a:solidFill>
                  <a:srgbClr val="010101"/>
                </a:solidFill>
                <a:latin typeface="Arial"/>
                <a:cs typeface="Arial"/>
              </a:rPr>
              <a:t>problem</a:t>
            </a:r>
            <a:endParaRPr sz="42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-4504" y="1501172"/>
            <a:ext cx="8806180" cy="4100829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410209" marR="30480" indent="-321945">
              <a:lnSpc>
                <a:spcPts val="4310"/>
              </a:lnSpc>
              <a:spcBef>
                <a:spcPts val="280"/>
              </a:spcBef>
              <a:buClr>
                <a:srgbClr val="010172"/>
              </a:buClr>
              <a:buSzPct val="101470"/>
              <a:buChar char="■"/>
              <a:tabLst>
                <a:tab pos="433705" algn="l"/>
              </a:tabLst>
            </a:pPr>
            <a:r>
              <a:rPr sz="3400" spc="325" dirty="0">
                <a:solidFill>
                  <a:srgbClr val="010101"/>
                </a:solidFill>
                <a:latin typeface="Arial"/>
                <a:cs typeface="Arial"/>
              </a:rPr>
              <a:t>Weare</a:t>
            </a:r>
            <a:r>
              <a:rPr sz="3400" spc="8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75" dirty="0">
                <a:solidFill>
                  <a:srgbClr val="010101"/>
                </a:solidFill>
                <a:latin typeface="Arial"/>
                <a:cs typeface="Arial"/>
              </a:rPr>
              <a:t>given</a:t>
            </a:r>
            <a:r>
              <a:rPr sz="3400" spc="10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90" dirty="0">
                <a:solidFill>
                  <a:srgbClr val="010101"/>
                </a:solidFill>
                <a:latin typeface="Arial"/>
                <a:cs typeface="Arial"/>
              </a:rPr>
              <a:t>a</a:t>
            </a:r>
            <a:r>
              <a:rPr sz="3400" spc="6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60" dirty="0">
                <a:solidFill>
                  <a:srgbClr val="010101"/>
                </a:solidFill>
                <a:latin typeface="Arial"/>
                <a:cs typeface="Arial"/>
              </a:rPr>
              <a:t>weighted,</a:t>
            </a:r>
            <a:r>
              <a:rPr sz="3400" spc="204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80" dirty="0">
                <a:solidFill>
                  <a:srgbClr val="010101"/>
                </a:solidFill>
                <a:latin typeface="Arial"/>
                <a:cs typeface="Arial"/>
              </a:rPr>
              <a:t>graph</a:t>
            </a:r>
            <a:r>
              <a:rPr sz="3400" spc="8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-10" dirty="0">
                <a:solidFill>
                  <a:srgbClr val="010101"/>
                </a:solidFill>
                <a:latin typeface="Arial"/>
                <a:cs typeface="Arial"/>
              </a:rPr>
              <a:t>G=(V,E), 	</a:t>
            </a:r>
            <a:r>
              <a:rPr sz="3400" spc="70" dirty="0">
                <a:solidFill>
                  <a:srgbClr val="010101"/>
                </a:solidFill>
                <a:latin typeface="Arial"/>
                <a:cs typeface="Arial"/>
              </a:rPr>
              <a:t>with</a:t>
            </a:r>
            <a:r>
              <a:rPr sz="3400" spc="13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60" dirty="0">
                <a:solidFill>
                  <a:srgbClr val="010101"/>
                </a:solidFill>
                <a:latin typeface="Arial"/>
                <a:cs typeface="Arial"/>
              </a:rPr>
              <a:t>weight</a:t>
            </a:r>
            <a:r>
              <a:rPr sz="3400" spc="16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55" dirty="0">
                <a:solidFill>
                  <a:srgbClr val="010101"/>
                </a:solidFill>
                <a:latin typeface="Arial"/>
                <a:cs typeface="Arial"/>
              </a:rPr>
              <a:t>function</a:t>
            </a:r>
            <a:r>
              <a:rPr sz="3400" spc="21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60" dirty="0">
                <a:solidFill>
                  <a:srgbClr val="010101"/>
                </a:solidFill>
                <a:latin typeface="Arial"/>
                <a:cs typeface="Arial"/>
              </a:rPr>
              <a:t>w:E-</a:t>
            </a:r>
            <a:r>
              <a:rPr sz="3400" spc="85" dirty="0">
                <a:solidFill>
                  <a:srgbClr val="010101"/>
                </a:solidFill>
                <a:latin typeface="Arial"/>
                <a:cs typeface="Arial"/>
              </a:rPr>
              <a:t>&gt;R</a:t>
            </a:r>
            <a:r>
              <a:rPr sz="3400" spc="254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60" dirty="0">
                <a:solidFill>
                  <a:srgbClr val="010101"/>
                </a:solidFill>
                <a:latin typeface="Arial"/>
                <a:cs typeface="Arial"/>
              </a:rPr>
              <a:t>mapping 	</a:t>
            </a:r>
            <a:r>
              <a:rPr sz="3400" spc="70" dirty="0">
                <a:solidFill>
                  <a:srgbClr val="010101"/>
                </a:solidFill>
                <a:latin typeface="Arial"/>
                <a:cs typeface="Arial"/>
              </a:rPr>
              <a:t>edges</a:t>
            </a:r>
            <a:r>
              <a:rPr sz="3400" spc="14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125" dirty="0">
                <a:solidFill>
                  <a:srgbClr val="010101"/>
                </a:solidFill>
                <a:latin typeface="Arial"/>
                <a:cs typeface="Arial"/>
              </a:rPr>
              <a:t>to</a:t>
            </a:r>
            <a:r>
              <a:rPr sz="3400" spc="1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50" dirty="0">
                <a:solidFill>
                  <a:srgbClr val="010101"/>
                </a:solidFill>
                <a:latin typeface="Arial"/>
                <a:cs typeface="Arial"/>
              </a:rPr>
              <a:t>real-</a:t>
            </a:r>
            <a:r>
              <a:rPr sz="3400" spc="65" dirty="0">
                <a:solidFill>
                  <a:srgbClr val="010101"/>
                </a:solidFill>
                <a:latin typeface="Arial"/>
                <a:cs typeface="Arial"/>
              </a:rPr>
              <a:t>valued</a:t>
            </a:r>
            <a:r>
              <a:rPr sz="3400" spc="25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45" dirty="0">
                <a:solidFill>
                  <a:srgbClr val="010101"/>
                </a:solidFill>
                <a:latin typeface="Arial"/>
                <a:cs typeface="Arial"/>
              </a:rPr>
              <a:t>weights.</a:t>
            </a:r>
            <a:endParaRPr sz="3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10172"/>
              </a:buClr>
              <a:buFont typeface="Arial"/>
              <a:buChar char="■"/>
            </a:pPr>
            <a:endParaRPr sz="5100" dirty="0">
              <a:latin typeface="Arial"/>
              <a:cs typeface="Arial"/>
            </a:endParaRPr>
          </a:p>
          <a:p>
            <a:pPr marL="393700" marR="278765" indent="-305435">
              <a:lnSpc>
                <a:spcPct val="105200"/>
              </a:lnSpc>
              <a:buClr>
                <a:srgbClr val="010172"/>
              </a:buClr>
              <a:buSzPct val="101470"/>
              <a:buChar char="■"/>
              <a:tabLst>
                <a:tab pos="436245" algn="l"/>
                <a:tab pos="6641465" algn="l"/>
              </a:tabLst>
            </a:pPr>
            <a:r>
              <a:rPr sz="3400" spc="204" dirty="0">
                <a:solidFill>
                  <a:srgbClr val="010101"/>
                </a:solidFill>
                <a:latin typeface="Arial"/>
                <a:cs typeface="Arial"/>
              </a:rPr>
              <a:t>The</a:t>
            </a:r>
            <a:r>
              <a:rPr sz="3400" spc="1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60" dirty="0">
                <a:solidFill>
                  <a:srgbClr val="010101"/>
                </a:solidFill>
                <a:latin typeface="Arial"/>
                <a:cs typeface="Arial"/>
              </a:rPr>
              <a:t>weight</a:t>
            </a:r>
            <a:r>
              <a:rPr sz="3400" spc="20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010101"/>
                </a:solidFill>
                <a:latin typeface="Arial"/>
                <a:cs typeface="Arial"/>
              </a:rPr>
              <a:t>of</a:t>
            </a:r>
            <a:r>
              <a:rPr sz="3400" spc="20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95" dirty="0">
                <a:solidFill>
                  <a:srgbClr val="010101"/>
                </a:solidFill>
                <a:latin typeface="Arial"/>
                <a:cs typeface="Arial"/>
              </a:rPr>
              <a:t>path</a:t>
            </a:r>
            <a:r>
              <a:rPr sz="3400" spc="3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010101"/>
                </a:solidFill>
                <a:latin typeface="Arial"/>
                <a:cs typeface="Arial"/>
              </a:rPr>
              <a:t>P=&lt;V</a:t>
            </a:r>
            <a:r>
              <a:rPr sz="3525" baseline="-20094" dirty="0">
                <a:solidFill>
                  <a:srgbClr val="010101"/>
                </a:solidFill>
                <a:latin typeface="Times New Roman"/>
                <a:cs typeface="Times New Roman"/>
              </a:rPr>
              <a:t>0</a:t>
            </a:r>
            <a:r>
              <a:rPr sz="3400" dirty="0">
                <a:solidFill>
                  <a:srgbClr val="010101"/>
                </a:solidFill>
                <a:latin typeface="Arial"/>
                <a:cs typeface="Arial"/>
              </a:rPr>
              <a:t>,v</a:t>
            </a:r>
            <a:r>
              <a:rPr sz="3525" baseline="-18912" dirty="0">
                <a:solidFill>
                  <a:srgbClr val="010101"/>
                </a:solidFill>
                <a:latin typeface="Times New Roman"/>
                <a:cs typeface="Times New Roman"/>
              </a:rPr>
              <a:t>1</a:t>
            </a:r>
            <a:r>
              <a:rPr sz="2350" dirty="0">
                <a:solidFill>
                  <a:srgbClr val="010101"/>
                </a:solidFill>
                <a:latin typeface="Times New Roman"/>
                <a:cs typeface="Times New Roman"/>
              </a:rPr>
              <a:t>,</a:t>
            </a:r>
            <a:r>
              <a:rPr sz="2350" spc="-180" dirty="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sz="2350" spc="-25" dirty="0">
                <a:solidFill>
                  <a:srgbClr val="010101"/>
                </a:solidFill>
                <a:latin typeface="Times New Roman"/>
                <a:cs typeface="Times New Roman"/>
              </a:rPr>
              <a:t>...</a:t>
            </a:r>
            <a:r>
              <a:rPr sz="2350" dirty="0">
                <a:solidFill>
                  <a:srgbClr val="010101"/>
                </a:solidFill>
                <a:latin typeface="Times New Roman"/>
                <a:cs typeface="Times New Roman"/>
              </a:rPr>
              <a:t>	</a:t>
            </a:r>
            <a:r>
              <a:rPr sz="3400" spc="-35" dirty="0">
                <a:solidFill>
                  <a:srgbClr val="010101"/>
                </a:solidFill>
                <a:latin typeface="Arial"/>
                <a:cs typeface="Arial"/>
              </a:rPr>
              <a:t>vk&gt;</a:t>
            </a:r>
            <a:r>
              <a:rPr sz="3400" spc="-12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010101"/>
                </a:solidFill>
                <a:latin typeface="Arial"/>
                <a:cs typeface="Arial"/>
              </a:rPr>
              <a:t>is</a:t>
            </a:r>
            <a:r>
              <a:rPr sz="3400" spc="13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60" dirty="0">
                <a:solidFill>
                  <a:srgbClr val="010101"/>
                </a:solidFill>
                <a:latin typeface="Arial"/>
                <a:cs typeface="Arial"/>
              </a:rPr>
              <a:t>the 	</a:t>
            </a:r>
            <a:r>
              <a:rPr sz="3400" spc="105" dirty="0">
                <a:solidFill>
                  <a:srgbClr val="010101"/>
                </a:solidFill>
                <a:latin typeface="Arial"/>
                <a:cs typeface="Arial"/>
              </a:rPr>
              <a:t>sum</a:t>
            </a:r>
            <a:r>
              <a:rPr sz="3400" spc="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010101"/>
                </a:solidFill>
                <a:latin typeface="Arial"/>
                <a:cs typeface="Arial"/>
              </a:rPr>
              <a:t>of</a:t>
            </a:r>
            <a:r>
              <a:rPr sz="3400" spc="16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90" dirty="0">
                <a:solidFill>
                  <a:srgbClr val="010101"/>
                </a:solidFill>
                <a:latin typeface="Arial"/>
                <a:cs typeface="Arial"/>
              </a:rPr>
              <a:t>the</a:t>
            </a:r>
            <a:r>
              <a:rPr sz="3400" spc="114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60" dirty="0">
                <a:solidFill>
                  <a:srgbClr val="010101"/>
                </a:solidFill>
                <a:latin typeface="Arial"/>
                <a:cs typeface="Arial"/>
              </a:rPr>
              <a:t>weights</a:t>
            </a:r>
            <a:r>
              <a:rPr sz="3400" spc="19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dirty="0">
                <a:solidFill>
                  <a:srgbClr val="010101"/>
                </a:solidFill>
                <a:latin typeface="Arial"/>
                <a:cs typeface="Arial"/>
              </a:rPr>
              <a:t>of</a:t>
            </a:r>
            <a:r>
              <a:rPr sz="3400" spc="204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85" dirty="0">
                <a:solidFill>
                  <a:srgbClr val="010101"/>
                </a:solidFill>
                <a:latin typeface="Arial"/>
                <a:cs typeface="Arial"/>
              </a:rPr>
              <a:t>its</a:t>
            </a:r>
            <a:r>
              <a:rPr sz="3400" spc="-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400" spc="45" dirty="0">
                <a:solidFill>
                  <a:srgbClr val="010101"/>
                </a:solidFill>
                <a:latin typeface="Arial"/>
                <a:cs typeface="Arial"/>
              </a:rPr>
              <a:t>constituent 	</a:t>
            </a:r>
            <a:r>
              <a:rPr sz="3400" spc="50" dirty="0">
                <a:solidFill>
                  <a:srgbClr val="010101"/>
                </a:solidFill>
                <a:latin typeface="Arial"/>
                <a:cs typeface="Arial"/>
              </a:rPr>
              <a:t>edges.</a:t>
            </a:r>
            <a:endParaRPr sz="3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404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05"/>
              </a:spcBef>
            </a:pPr>
            <a:r>
              <a:rPr sz="4150" b="0" spc="-10" dirty="0">
                <a:solidFill>
                  <a:srgbClr val="010101"/>
                </a:solidFill>
                <a:latin typeface="Arial"/>
                <a:cs typeface="Arial"/>
              </a:rPr>
              <a:t>Variants</a:t>
            </a:r>
            <a:endParaRPr sz="41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63855" marR="360680" indent="-336550">
              <a:lnSpc>
                <a:spcPts val="3040"/>
              </a:lnSpc>
              <a:spcBef>
                <a:spcPts val="370"/>
              </a:spcBef>
            </a:pPr>
            <a:r>
              <a:rPr dirty="0"/>
              <a:t>Assume</a:t>
            </a:r>
            <a:r>
              <a:rPr spc="235" dirty="0"/>
              <a:t> </a:t>
            </a:r>
            <a:r>
              <a:rPr dirty="0"/>
              <a:t>that</a:t>
            </a:r>
            <a:r>
              <a:rPr spc="260" dirty="0"/>
              <a:t> </a:t>
            </a:r>
            <a:r>
              <a:rPr spc="50" dirty="0"/>
              <a:t>the</a:t>
            </a:r>
            <a:r>
              <a:rPr spc="45" dirty="0"/>
              <a:t> </a:t>
            </a:r>
            <a:r>
              <a:rPr dirty="0"/>
              <a:t>graph</a:t>
            </a:r>
            <a:r>
              <a:rPr spc="165" dirty="0"/>
              <a:t> </a:t>
            </a:r>
            <a:r>
              <a:rPr dirty="0"/>
              <a:t>is</a:t>
            </a:r>
            <a:r>
              <a:rPr spc="140" dirty="0"/>
              <a:t> </a:t>
            </a:r>
            <a:r>
              <a:rPr dirty="0"/>
              <a:t>connected.</a:t>
            </a:r>
            <a:r>
              <a:rPr spc="375" dirty="0"/>
              <a:t> </a:t>
            </a:r>
            <a:r>
              <a:rPr spc="50" dirty="0"/>
              <a:t>The </a:t>
            </a:r>
            <a:r>
              <a:rPr dirty="0"/>
              <a:t>shortest</a:t>
            </a:r>
            <a:r>
              <a:rPr spc="315" dirty="0"/>
              <a:t> </a:t>
            </a:r>
            <a:r>
              <a:rPr spc="50" dirty="0"/>
              <a:t>path</a:t>
            </a:r>
            <a:r>
              <a:rPr spc="145" dirty="0"/>
              <a:t> </a:t>
            </a:r>
            <a:r>
              <a:rPr dirty="0"/>
              <a:t>problem</a:t>
            </a:r>
            <a:r>
              <a:rPr spc="254" dirty="0"/>
              <a:t> </a:t>
            </a:r>
            <a:r>
              <a:rPr spc="70" dirty="0"/>
              <a:t>has</a:t>
            </a:r>
            <a:r>
              <a:rPr spc="40" dirty="0"/>
              <a:t> </a:t>
            </a:r>
            <a:r>
              <a:rPr dirty="0"/>
              <a:t>several</a:t>
            </a:r>
            <a:r>
              <a:rPr spc="140" dirty="0"/>
              <a:t> </a:t>
            </a:r>
            <a:r>
              <a:rPr spc="-10" dirty="0"/>
              <a:t>different forms:</a:t>
            </a:r>
          </a:p>
          <a:p>
            <a:pPr marL="362585" marR="432434" indent="-350520">
              <a:lnSpc>
                <a:spcPts val="2970"/>
              </a:lnSpc>
              <a:spcBef>
                <a:spcPts val="760"/>
              </a:spcBef>
              <a:buClr>
                <a:srgbClr val="010072"/>
              </a:buClr>
              <a:buSzPct val="98148"/>
              <a:buFont typeface="Arial"/>
              <a:buChar char="■"/>
              <a:tabLst>
                <a:tab pos="361315" algn="l"/>
              </a:tabLst>
            </a:pPr>
            <a:r>
              <a:rPr dirty="0"/>
              <a:t>Given</a:t>
            </a:r>
            <a:r>
              <a:rPr spc="190" dirty="0"/>
              <a:t> </a:t>
            </a:r>
            <a:r>
              <a:rPr dirty="0"/>
              <a:t>two</a:t>
            </a:r>
            <a:r>
              <a:rPr spc="95" dirty="0"/>
              <a:t> </a:t>
            </a:r>
            <a:r>
              <a:rPr dirty="0"/>
              <a:t>nodes</a:t>
            </a:r>
            <a:r>
              <a:rPr spc="190" dirty="0"/>
              <a:t> </a:t>
            </a:r>
            <a:r>
              <a:rPr spc="55" dirty="0"/>
              <a:t>A</a:t>
            </a:r>
            <a:r>
              <a:rPr spc="-30" dirty="0"/>
              <a:t> </a:t>
            </a:r>
            <a:r>
              <a:rPr dirty="0"/>
              <a:t>and</a:t>
            </a:r>
            <a:r>
              <a:rPr spc="215" dirty="0"/>
              <a:t> </a:t>
            </a:r>
            <a:r>
              <a:rPr spc="90" dirty="0"/>
              <a:t>B,</a:t>
            </a:r>
            <a:r>
              <a:rPr spc="-20" dirty="0"/>
              <a:t> </a:t>
            </a:r>
            <a:r>
              <a:rPr dirty="0"/>
              <a:t>find</a:t>
            </a:r>
            <a:r>
              <a:rPr spc="90" dirty="0"/>
              <a:t> </a:t>
            </a:r>
            <a:r>
              <a:rPr spc="65" dirty="0"/>
              <a:t>the</a:t>
            </a:r>
            <a:r>
              <a:rPr spc="135" dirty="0"/>
              <a:t> </a:t>
            </a:r>
            <a:r>
              <a:rPr spc="-10" dirty="0"/>
              <a:t>shortest </a:t>
            </a:r>
            <a:r>
              <a:rPr dirty="0"/>
              <a:t>path</a:t>
            </a:r>
            <a:r>
              <a:rPr spc="75" dirty="0"/>
              <a:t> </a:t>
            </a:r>
            <a:r>
              <a:rPr spc="105" dirty="0"/>
              <a:t>in</a:t>
            </a:r>
            <a:r>
              <a:rPr spc="-85" dirty="0"/>
              <a:t> </a:t>
            </a:r>
            <a:r>
              <a:rPr spc="65" dirty="0"/>
              <a:t>the</a:t>
            </a:r>
            <a:r>
              <a:rPr spc="60" dirty="0"/>
              <a:t> </a:t>
            </a:r>
            <a:r>
              <a:rPr dirty="0"/>
              <a:t>weighted</a:t>
            </a:r>
            <a:r>
              <a:rPr spc="235" dirty="0"/>
              <a:t> </a:t>
            </a:r>
            <a:r>
              <a:rPr spc="55" dirty="0"/>
              <a:t>graph</a:t>
            </a:r>
            <a:r>
              <a:rPr spc="50" dirty="0"/>
              <a:t> </a:t>
            </a:r>
            <a:r>
              <a:rPr dirty="0"/>
              <a:t>from</a:t>
            </a:r>
            <a:r>
              <a:rPr spc="16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60" dirty="0"/>
              <a:t>to</a:t>
            </a:r>
            <a:r>
              <a:rPr spc="45" dirty="0"/>
              <a:t> </a:t>
            </a:r>
            <a:r>
              <a:rPr spc="65" dirty="0"/>
              <a:t>B.</a:t>
            </a:r>
          </a:p>
          <a:p>
            <a:pPr marL="363220" marR="5080" indent="-351155">
              <a:lnSpc>
                <a:spcPts val="3040"/>
              </a:lnSpc>
              <a:spcBef>
                <a:spcPts val="720"/>
              </a:spcBef>
              <a:buClr>
                <a:srgbClr val="010072"/>
              </a:buClr>
              <a:buSzPct val="98148"/>
              <a:buFont typeface="Arial"/>
              <a:buChar char="■"/>
              <a:tabLst>
                <a:tab pos="361315" algn="l"/>
              </a:tabLst>
            </a:pPr>
            <a:r>
              <a:rPr dirty="0"/>
              <a:t>Given</a:t>
            </a:r>
            <a:r>
              <a:rPr spc="95" dirty="0"/>
              <a:t> </a:t>
            </a:r>
            <a:r>
              <a:rPr dirty="0"/>
              <a:t>a</a:t>
            </a:r>
            <a:r>
              <a:rPr spc="70" dirty="0"/>
              <a:t> </a:t>
            </a:r>
            <a:r>
              <a:rPr spc="75" dirty="0"/>
              <a:t>node</a:t>
            </a:r>
            <a:r>
              <a:rPr spc="90" dirty="0"/>
              <a:t> </a:t>
            </a:r>
            <a:r>
              <a:rPr dirty="0"/>
              <a:t>A,</a:t>
            </a:r>
            <a:r>
              <a:rPr spc="65" dirty="0"/>
              <a:t> </a:t>
            </a:r>
            <a:r>
              <a:rPr dirty="0"/>
              <a:t>find</a:t>
            </a:r>
            <a:r>
              <a:rPr spc="100" dirty="0"/>
              <a:t> </a:t>
            </a:r>
            <a:r>
              <a:rPr spc="50" dirty="0"/>
              <a:t>the</a:t>
            </a:r>
            <a:r>
              <a:rPr spc="140" dirty="0"/>
              <a:t> </a:t>
            </a:r>
            <a:r>
              <a:rPr dirty="0"/>
              <a:t>shortest</a:t>
            </a:r>
            <a:r>
              <a:rPr spc="285" dirty="0"/>
              <a:t> </a:t>
            </a:r>
            <a:r>
              <a:rPr spc="50" dirty="0"/>
              <a:t>path</a:t>
            </a:r>
            <a:r>
              <a:rPr spc="130" dirty="0"/>
              <a:t> </a:t>
            </a:r>
            <a:r>
              <a:rPr dirty="0"/>
              <a:t>from</a:t>
            </a:r>
            <a:r>
              <a:rPr spc="105" dirty="0"/>
              <a:t> </a:t>
            </a:r>
            <a:r>
              <a:rPr spc="-50" dirty="0"/>
              <a:t>A </a:t>
            </a:r>
            <a:r>
              <a:rPr spc="60" dirty="0"/>
              <a:t>to</a:t>
            </a:r>
            <a:r>
              <a:rPr spc="30" dirty="0"/>
              <a:t> </a:t>
            </a:r>
            <a:r>
              <a:rPr dirty="0"/>
              <a:t>every</a:t>
            </a:r>
            <a:r>
              <a:rPr spc="160" dirty="0"/>
              <a:t> </a:t>
            </a:r>
            <a:r>
              <a:rPr dirty="0"/>
              <a:t>other</a:t>
            </a:r>
            <a:r>
              <a:rPr spc="215" dirty="0"/>
              <a:t> </a:t>
            </a:r>
            <a:r>
              <a:rPr spc="60" dirty="0"/>
              <a:t>node</a:t>
            </a:r>
            <a:r>
              <a:rPr spc="35" dirty="0"/>
              <a:t> </a:t>
            </a:r>
            <a:r>
              <a:rPr spc="105" dirty="0"/>
              <a:t>in</a:t>
            </a:r>
            <a:r>
              <a:rPr spc="15" dirty="0"/>
              <a:t> </a:t>
            </a:r>
            <a:r>
              <a:rPr spc="50" dirty="0"/>
              <a:t>the</a:t>
            </a:r>
            <a:r>
              <a:rPr spc="85" dirty="0"/>
              <a:t> </a:t>
            </a:r>
            <a:r>
              <a:rPr dirty="0"/>
              <a:t>graph.</a:t>
            </a:r>
            <a:r>
              <a:rPr spc="90" dirty="0"/>
              <a:t> </a:t>
            </a:r>
            <a:r>
              <a:rPr b="0" spc="-10" dirty="0">
                <a:latin typeface="Arial"/>
                <a:cs typeface="Arial"/>
              </a:rPr>
              <a:t>(single­ </a:t>
            </a:r>
            <a:r>
              <a:rPr b="0" dirty="0">
                <a:latin typeface="Arial"/>
                <a:cs typeface="Arial"/>
              </a:rPr>
              <a:t>source</a:t>
            </a:r>
            <a:r>
              <a:rPr b="0" spc="27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shortest</a:t>
            </a:r>
            <a:r>
              <a:rPr b="0" spc="180" dirty="0">
                <a:latin typeface="Arial"/>
                <a:cs typeface="Arial"/>
              </a:rPr>
              <a:t> </a:t>
            </a:r>
            <a:r>
              <a:rPr b="0" spc="60" dirty="0">
                <a:latin typeface="Arial"/>
                <a:cs typeface="Arial"/>
              </a:rPr>
              <a:t>path</a:t>
            </a:r>
            <a:r>
              <a:rPr b="0" spc="7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problem)</a:t>
            </a:r>
          </a:p>
          <a:p>
            <a:pPr marL="354330" marR="187325" indent="-342265">
              <a:lnSpc>
                <a:spcPts val="3040"/>
              </a:lnSpc>
              <a:spcBef>
                <a:spcPts val="705"/>
              </a:spcBef>
              <a:buClr>
                <a:srgbClr val="010072"/>
              </a:buClr>
              <a:buSzPct val="98148"/>
              <a:buFont typeface="Arial"/>
              <a:buChar char="■"/>
              <a:tabLst>
                <a:tab pos="361315" algn="l"/>
              </a:tabLst>
            </a:pPr>
            <a:r>
              <a:rPr dirty="0"/>
              <a:t>Find</a:t>
            </a:r>
            <a:r>
              <a:rPr spc="150" dirty="0"/>
              <a:t> </a:t>
            </a:r>
            <a:r>
              <a:rPr spc="50" dirty="0"/>
              <a:t>the</a:t>
            </a:r>
            <a:r>
              <a:rPr spc="165" dirty="0"/>
              <a:t> </a:t>
            </a:r>
            <a:r>
              <a:rPr dirty="0"/>
              <a:t>shortest</a:t>
            </a:r>
            <a:r>
              <a:rPr spc="320" dirty="0"/>
              <a:t> </a:t>
            </a:r>
            <a:r>
              <a:rPr spc="50" dirty="0"/>
              <a:t>path</a:t>
            </a:r>
            <a:r>
              <a:rPr spc="150" dirty="0"/>
              <a:t> </a:t>
            </a:r>
            <a:r>
              <a:rPr dirty="0"/>
              <a:t>between</a:t>
            </a:r>
            <a:r>
              <a:rPr spc="270" dirty="0"/>
              <a:t> </a:t>
            </a:r>
            <a:r>
              <a:rPr dirty="0"/>
              <a:t>every</a:t>
            </a:r>
            <a:r>
              <a:rPr spc="175" dirty="0"/>
              <a:t> </a:t>
            </a:r>
            <a:r>
              <a:rPr dirty="0"/>
              <a:t>pair</a:t>
            </a:r>
            <a:r>
              <a:rPr spc="135" dirty="0"/>
              <a:t> </a:t>
            </a:r>
            <a:r>
              <a:rPr spc="-25" dirty="0"/>
              <a:t>of </a:t>
            </a:r>
            <a:r>
              <a:rPr dirty="0"/>
              <a:t>nodes</a:t>
            </a:r>
            <a:r>
              <a:rPr spc="135" dirty="0"/>
              <a:t> </a:t>
            </a:r>
            <a:r>
              <a:rPr spc="105" dirty="0"/>
              <a:t>in</a:t>
            </a:r>
            <a:r>
              <a:rPr spc="55" dirty="0"/>
              <a:t> </a:t>
            </a:r>
            <a:r>
              <a:rPr spc="50" dirty="0"/>
              <a:t>the</a:t>
            </a:r>
            <a:r>
              <a:rPr spc="130" dirty="0"/>
              <a:t> </a:t>
            </a:r>
            <a:r>
              <a:rPr dirty="0"/>
              <a:t>graph.</a:t>
            </a:r>
            <a:r>
              <a:rPr spc="135" dirty="0"/>
              <a:t> </a:t>
            </a:r>
            <a:r>
              <a:rPr b="0" dirty="0">
                <a:latin typeface="Arial"/>
                <a:cs typeface="Arial"/>
              </a:rPr>
              <a:t>(all-pair</a:t>
            </a:r>
            <a:r>
              <a:rPr b="0" spc="38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shortest</a:t>
            </a:r>
            <a:r>
              <a:rPr b="0" spc="200" dirty="0">
                <a:latin typeface="Arial"/>
                <a:cs typeface="Arial"/>
              </a:rPr>
              <a:t> </a:t>
            </a:r>
            <a:r>
              <a:rPr b="0" spc="-20" dirty="0">
                <a:latin typeface="Arial"/>
                <a:cs typeface="Arial"/>
              </a:rPr>
              <a:t>path </a:t>
            </a:r>
            <a:r>
              <a:rPr b="0" spc="-10" dirty="0">
                <a:latin typeface="Arial"/>
                <a:cs typeface="Arial"/>
              </a:rPr>
              <a:t>problem)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1046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5"/>
              </a:spcBef>
            </a:pPr>
            <a:r>
              <a:rPr sz="4200" b="0" spc="50" dirty="0">
                <a:solidFill>
                  <a:srgbClr val="010101"/>
                </a:solidFill>
                <a:latin typeface="Arial"/>
                <a:cs typeface="Arial"/>
              </a:rPr>
              <a:t>Single-</a:t>
            </a:r>
            <a:r>
              <a:rPr sz="4200" b="0" spc="60" dirty="0">
                <a:solidFill>
                  <a:srgbClr val="010101"/>
                </a:solidFill>
                <a:latin typeface="Arial"/>
                <a:cs typeface="Arial"/>
              </a:rPr>
              <a:t>Source</a:t>
            </a:r>
            <a:r>
              <a:rPr sz="4200" b="0" spc="56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200" b="0" dirty="0">
                <a:solidFill>
                  <a:srgbClr val="010101"/>
                </a:solidFill>
                <a:latin typeface="Arial"/>
                <a:cs typeface="Arial"/>
              </a:rPr>
              <a:t>Shortest</a:t>
            </a:r>
            <a:r>
              <a:rPr sz="4200" b="0" spc="6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200" b="0" spc="40" dirty="0">
                <a:solidFill>
                  <a:srgbClr val="010101"/>
                </a:solidFill>
                <a:latin typeface="Arial"/>
                <a:cs typeface="Arial"/>
              </a:rPr>
              <a:t>Path</a:t>
            </a:r>
            <a:endParaRPr sz="4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998" y="1971972"/>
            <a:ext cx="7666355" cy="25425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65760" marR="5080" indent="-353695">
              <a:lnSpc>
                <a:spcPct val="102600"/>
              </a:lnSpc>
              <a:spcBef>
                <a:spcPts val="5"/>
              </a:spcBef>
              <a:buClr>
                <a:srgbClr val="030174"/>
              </a:buClr>
              <a:buChar char="■"/>
              <a:tabLst>
                <a:tab pos="369570" algn="l"/>
              </a:tabLst>
            </a:pP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Problem:</a:t>
            </a:r>
            <a:r>
              <a:rPr sz="3100" spc="229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given</a:t>
            </a:r>
            <a:r>
              <a:rPr sz="3100" spc="21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a</a:t>
            </a:r>
            <a:r>
              <a:rPr sz="3100" spc="20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weighted</a:t>
            </a:r>
            <a:r>
              <a:rPr sz="3100" spc="2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graph</a:t>
            </a:r>
            <a:r>
              <a:rPr sz="3100" spc="10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spc="110" dirty="0">
                <a:solidFill>
                  <a:srgbClr val="010101"/>
                </a:solidFill>
                <a:latin typeface="Arial"/>
                <a:cs typeface="Arial"/>
              </a:rPr>
              <a:t>G,</a:t>
            </a:r>
            <a:r>
              <a:rPr sz="3100" spc="7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spc="-20" dirty="0">
                <a:solidFill>
                  <a:srgbClr val="010101"/>
                </a:solidFill>
                <a:latin typeface="Arial"/>
                <a:cs typeface="Arial"/>
              </a:rPr>
              <a:t>find </a:t>
            </a: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the</a:t>
            </a:r>
            <a:r>
              <a:rPr sz="3100" spc="1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spc="50" dirty="0">
                <a:solidFill>
                  <a:srgbClr val="010101"/>
                </a:solidFill>
                <a:latin typeface="Arial"/>
                <a:cs typeface="Arial"/>
              </a:rPr>
              <a:t>minimum-</a:t>
            </a: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weight path</a:t>
            </a:r>
            <a:r>
              <a:rPr sz="3100" spc="18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from</a:t>
            </a:r>
            <a:r>
              <a:rPr sz="3100" spc="23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a</a:t>
            </a:r>
            <a:r>
              <a:rPr sz="3100" spc="13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spc="-10" dirty="0">
                <a:solidFill>
                  <a:srgbClr val="010101"/>
                </a:solidFill>
                <a:latin typeface="Arial"/>
                <a:cs typeface="Arial"/>
              </a:rPr>
              <a:t>given</a:t>
            </a:r>
            <a:endParaRPr sz="3100">
              <a:latin typeface="Arial"/>
              <a:cs typeface="Arial"/>
            </a:endParaRPr>
          </a:p>
          <a:p>
            <a:pPr marL="368935">
              <a:lnSpc>
                <a:spcPts val="3645"/>
              </a:lnSpc>
              <a:spcBef>
                <a:spcPts val="170"/>
              </a:spcBef>
            </a:pP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source</a:t>
            </a:r>
            <a:r>
              <a:rPr sz="3100" spc="114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vertex</a:t>
            </a:r>
            <a:r>
              <a:rPr sz="3100" spc="2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s</a:t>
            </a:r>
            <a:r>
              <a:rPr sz="3100" spc="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spc="60" dirty="0">
                <a:solidFill>
                  <a:srgbClr val="010101"/>
                </a:solidFill>
                <a:latin typeface="Arial"/>
                <a:cs typeface="Arial"/>
              </a:rPr>
              <a:t>to</a:t>
            </a:r>
            <a:r>
              <a:rPr sz="3100" spc="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another</a:t>
            </a:r>
            <a:r>
              <a:rPr sz="3100" spc="3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vertex</a:t>
            </a:r>
            <a:r>
              <a:rPr sz="3100" spc="1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spc="55" dirty="0">
                <a:solidFill>
                  <a:srgbClr val="010101"/>
                </a:solidFill>
                <a:latin typeface="Arial"/>
                <a:cs typeface="Arial"/>
              </a:rPr>
              <a:t>v</a:t>
            </a:r>
            <a:endParaRPr sz="3100">
              <a:latin typeface="Arial"/>
              <a:cs typeface="Arial"/>
            </a:endParaRPr>
          </a:p>
          <a:p>
            <a:pPr marL="464184">
              <a:lnSpc>
                <a:spcPts val="4195"/>
              </a:lnSpc>
            </a:pPr>
            <a:r>
              <a:rPr sz="3700" dirty="0">
                <a:solidFill>
                  <a:srgbClr val="9E9AB5"/>
                </a:solidFill>
                <a:latin typeface="Arial"/>
                <a:cs typeface="Arial"/>
              </a:rPr>
              <a:t>□</a:t>
            </a: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"Shortest-path"</a:t>
            </a:r>
            <a:r>
              <a:rPr sz="2700" spc="18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010101"/>
                </a:solidFill>
                <a:latin typeface="Arial"/>
                <a:cs typeface="Arial"/>
              </a:rPr>
              <a:t>=</a:t>
            </a:r>
            <a:r>
              <a:rPr sz="2750" spc="30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minimum</a:t>
            </a:r>
            <a:r>
              <a:rPr sz="2700" spc="56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spc="-10" dirty="0">
                <a:solidFill>
                  <a:srgbClr val="010101"/>
                </a:solidFill>
                <a:latin typeface="Arial"/>
                <a:cs typeface="Arial"/>
              </a:rPr>
              <a:t>weight</a:t>
            </a:r>
            <a:endParaRPr sz="2700">
              <a:latin typeface="Arial"/>
              <a:cs typeface="Arial"/>
            </a:endParaRPr>
          </a:p>
          <a:p>
            <a:pPr marL="464184">
              <a:lnSpc>
                <a:spcPts val="4270"/>
              </a:lnSpc>
            </a:pPr>
            <a:r>
              <a:rPr sz="3700" dirty="0">
                <a:solidFill>
                  <a:srgbClr val="9E9AB5"/>
                </a:solidFill>
                <a:latin typeface="Arial"/>
                <a:cs typeface="Arial"/>
              </a:rPr>
              <a:t>□</a:t>
            </a: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Weight</a:t>
            </a:r>
            <a:r>
              <a:rPr sz="2700" spc="1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of</a:t>
            </a:r>
            <a:r>
              <a:rPr sz="2700" spc="20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path</a:t>
            </a:r>
            <a:r>
              <a:rPr sz="2700" spc="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spc="65" dirty="0">
                <a:solidFill>
                  <a:srgbClr val="010101"/>
                </a:solidFill>
                <a:latin typeface="Arial"/>
                <a:cs typeface="Arial"/>
              </a:rPr>
              <a:t>is</a:t>
            </a:r>
            <a:r>
              <a:rPr sz="2700" spc="-3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spc="50" dirty="0">
                <a:solidFill>
                  <a:srgbClr val="010101"/>
                </a:solidFill>
                <a:latin typeface="Arial"/>
                <a:cs typeface="Arial"/>
              </a:rPr>
              <a:t>sum</a:t>
            </a:r>
            <a:r>
              <a:rPr sz="2700" spc="1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of</a:t>
            </a:r>
            <a:r>
              <a:rPr sz="2700" spc="28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spc="-10" dirty="0">
                <a:solidFill>
                  <a:srgbClr val="010101"/>
                </a:solidFill>
                <a:latin typeface="Arial"/>
                <a:cs typeface="Arial"/>
              </a:rPr>
              <a:t>edges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33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300" spc="-165" dirty="0">
                <a:solidFill>
                  <a:srgbClr val="010101"/>
                </a:solidFill>
              </a:rPr>
              <a:t>Dijkstra's</a:t>
            </a:r>
            <a:r>
              <a:rPr sz="4300" spc="-85" dirty="0">
                <a:solidFill>
                  <a:srgbClr val="010101"/>
                </a:solidFill>
              </a:rPr>
              <a:t> </a:t>
            </a:r>
            <a:r>
              <a:rPr sz="4300" spc="-265" dirty="0">
                <a:solidFill>
                  <a:srgbClr val="010101"/>
                </a:solidFill>
              </a:rPr>
              <a:t>Algorithm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66805" y="1828353"/>
            <a:ext cx="8144509" cy="282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220" indent="-351155">
              <a:lnSpc>
                <a:spcPts val="3660"/>
              </a:lnSpc>
              <a:spcBef>
                <a:spcPts val="100"/>
              </a:spcBef>
              <a:buClr>
                <a:srgbClr val="010074"/>
              </a:buClr>
              <a:buChar char="■"/>
              <a:tabLst>
                <a:tab pos="363855" algn="l"/>
              </a:tabLst>
            </a:pP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Similar</a:t>
            </a:r>
            <a:r>
              <a:rPr sz="3100" spc="2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spc="60" dirty="0">
                <a:solidFill>
                  <a:srgbClr val="010101"/>
                </a:solidFill>
                <a:latin typeface="Arial"/>
                <a:cs typeface="Arial"/>
              </a:rPr>
              <a:t>to</a:t>
            </a:r>
            <a:r>
              <a:rPr sz="3100" spc="-4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breadth-first</a:t>
            </a:r>
            <a:r>
              <a:rPr sz="3100" spc="3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spc="-10" dirty="0">
                <a:solidFill>
                  <a:srgbClr val="010101"/>
                </a:solidFill>
                <a:latin typeface="Arial"/>
                <a:cs typeface="Arial"/>
              </a:rPr>
              <a:t>search</a:t>
            </a:r>
            <a:endParaRPr sz="3100">
              <a:latin typeface="Arial"/>
              <a:cs typeface="Arial"/>
            </a:endParaRPr>
          </a:p>
          <a:p>
            <a:pPr marL="766445" lvl="1" indent="-301625">
              <a:lnSpc>
                <a:spcPts val="4245"/>
              </a:lnSpc>
              <a:buClr>
                <a:srgbClr val="9E9AB5"/>
              </a:buClr>
              <a:buSzPct val="133333"/>
              <a:buChar char="□"/>
              <a:tabLst>
                <a:tab pos="767080" algn="l"/>
              </a:tabLst>
            </a:pP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Grow</a:t>
            </a:r>
            <a:r>
              <a:rPr sz="2700" spc="1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a</a:t>
            </a:r>
            <a:r>
              <a:rPr sz="2700" spc="1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tree</a:t>
            </a:r>
            <a:r>
              <a:rPr sz="2700" spc="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gradually,</a:t>
            </a:r>
            <a:r>
              <a:rPr sz="2700" spc="2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advancing</a:t>
            </a:r>
            <a:r>
              <a:rPr sz="2700" spc="4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from</a:t>
            </a:r>
            <a:r>
              <a:rPr sz="2700" spc="2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spc="-10" dirty="0">
                <a:solidFill>
                  <a:srgbClr val="010101"/>
                </a:solidFill>
                <a:latin typeface="Arial"/>
                <a:cs typeface="Arial"/>
              </a:rPr>
              <a:t>vertices</a:t>
            </a:r>
            <a:endParaRPr sz="2700">
              <a:latin typeface="Arial"/>
              <a:cs typeface="Arial"/>
            </a:endParaRPr>
          </a:p>
          <a:p>
            <a:pPr marL="761365">
              <a:lnSpc>
                <a:spcPts val="3225"/>
              </a:lnSpc>
            </a:pP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taken</a:t>
            </a:r>
            <a:r>
              <a:rPr sz="2700" spc="22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from</a:t>
            </a:r>
            <a:r>
              <a:rPr sz="2700" spc="18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a</a:t>
            </a:r>
            <a:r>
              <a:rPr sz="2700" spc="14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spc="-10" dirty="0">
                <a:solidFill>
                  <a:srgbClr val="010101"/>
                </a:solidFill>
                <a:latin typeface="Arial"/>
                <a:cs typeface="Arial"/>
              </a:rPr>
              <a:t>queue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550">
              <a:latin typeface="Arial"/>
              <a:cs typeface="Arial"/>
            </a:endParaRPr>
          </a:p>
          <a:p>
            <a:pPr marL="363855" indent="-351790">
              <a:lnSpc>
                <a:spcPts val="3695"/>
              </a:lnSpc>
              <a:spcBef>
                <a:spcPts val="5"/>
              </a:spcBef>
              <a:buClr>
                <a:srgbClr val="010074"/>
              </a:buClr>
              <a:buChar char="■"/>
              <a:tabLst>
                <a:tab pos="364490" algn="l"/>
              </a:tabLst>
            </a:pP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Also</a:t>
            </a:r>
            <a:r>
              <a:rPr sz="3100" spc="1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similar</a:t>
            </a:r>
            <a:r>
              <a:rPr sz="3100" spc="28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spc="60" dirty="0">
                <a:solidFill>
                  <a:srgbClr val="010101"/>
                </a:solidFill>
                <a:latin typeface="Arial"/>
                <a:cs typeface="Arial"/>
              </a:rPr>
              <a:t>to</a:t>
            </a:r>
            <a:r>
              <a:rPr sz="3100" spc="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Prim's</a:t>
            </a:r>
            <a:r>
              <a:rPr sz="3100" spc="13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algorithm</a:t>
            </a:r>
            <a:r>
              <a:rPr sz="3100" spc="4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010101"/>
                </a:solidFill>
                <a:latin typeface="Arial"/>
                <a:cs typeface="Arial"/>
              </a:rPr>
              <a:t>for</a:t>
            </a:r>
            <a:r>
              <a:rPr sz="3100" spc="4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3100" spc="35" dirty="0">
                <a:solidFill>
                  <a:srgbClr val="010101"/>
                </a:solidFill>
                <a:latin typeface="Arial"/>
                <a:cs typeface="Arial"/>
              </a:rPr>
              <a:t>MST</a:t>
            </a:r>
            <a:endParaRPr sz="3100">
              <a:latin typeface="Arial"/>
              <a:cs typeface="Arial"/>
            </a:endParaRPr>
          </a:p>
          <a:p>
            <a:pPr marL="766445" lvl="1" indent="-301625">
              <a:lnSpc>
                <a:spcPts val="4295"/>
              </a:lnSpc>
              <a:buClr>
                <a:srgbClr val="9E9AB5"/>
              </a:buClr>
              <a:buSzPct val="133333"/>
              <a:buChar char="□"/>
              <a:tabLst>
                <a:tab pos="767080" algn="l"/>
              </a:tabLst>
            </a:pP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Use</a:t>
            </a:r>
            <a:r>
              <a:rPr sz="2700" spc="20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a</a:t>
            </a:r>
            <a:r>
              <a:rPr sz="2700" spc="2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priority</a:t>
            </a:r>
            <a:r>
              <a:rPr sz="2700" spc="20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10101"/>
                </a:solidFill>
                <a:latin typeface="Arial"/>
                <a:cs typeface="Arial"/>
              </a:rPr>
              <a:t>queue</a:t>
            </a:r>
            <a:r>
              <a:rPr sz="2700" spc="1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spc="70" dirty="0">
                <a:solidFill>
                  <a:srgbClr val="010101"/>
                </a:solidFill>
                <a:latin typeface="Arial"/>
                <a:cs typeface="Arial"/>
              </a:rPr>
              <a:t>keyed</a:t>
            </a:r>
            <a:r>
              <a:rPr sz="2700" spc="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spc="85" dirty="0">
                <a:solidFill>
                  <a:srgbClr val="010101"/>
                </a:solidFill>
                <a:latin typeface="Arial"/>
                <a:cs typeface="Arial"/>
              </a:rPr>
              <a:t>on</a:t>
            </a:r>
            <a:r>
              <a:rPr sz="2700" spc="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00" spc="-20" dirty="0">
                <a:solidFill>
                  <a:srgbClr val="010101"/>
                </a:solidFill>
                <a:latin typeface="Arial"/>
                <a:cs typeface="Arial"/>
              </a:rPr>
              <a:t>d[v]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50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105"/>
              </a:spcBef>
            </a:pPr>
            <a:r>
              <a:rPr sz="3500" i="1" dirty="0">
                <a:solidFill>
                  <a:srgbClr val="133BC8"/>
                </a:solidFill>
                <a:latin typeface="Times New Roman"/>
                <a:cs typeface="Times New Roman"/>
              </a:rPr>
              <a:t>Dijkstra's</a:t>
            </a:r>
            <a:r>
              <a:rPr sz="3500" i="1" spc="210" dirty="0">
                <a:solidFill>
                  <a:srgbClr val="133BC8"/>
                </a:solidFill>
                <a:latin typeface="Times New Roman"/>
                <a:cs typeface="Times New Roman"/>
              </a:rPr>
              <a:t> </a:t>
            </a:r>
            <a:r>
              <a:rPr sz="3500" i="1" spc="-10" dirty="0">
                <a:solidFill>
                  <a:srgbClr val="133BC8"/>
                </a:solidFill>
                <a:latin typeface="Times New Roman"/>
                <a:cs typeface="Times New Roman"/>
              </a:rPr>
              <a:t>Algorithm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561" y="1741584"/>
            <a:ext cx="7625080" cy="33750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181610" indent="10160" algn="just">
              <a:lnSpc>
                <a:spcPts val="2900"/>
              </a:lnSpc>
              <a:spcBef>
                <a:spcPts val="80"/>
              </a:spcBef>
            </a:pPr>
            <a:r>
              <a:rPr sz="2300" b="1" spc="70" dirty="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sz="2300" b="1" spc="4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111111"/>
                </a:solidFill>
                <a:latin typeface="Times New Roman"/>
                <a:cs typeface="Times New Roman"/>
              </a:rPr>
              <a:t>idea</a:t>
            </a:r>
            <a:r>
              <a:rPr sz="2300" b="1" spc="15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b="1" spc="55" dirty="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sz="2300" b="1" spc="3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b="1" spc="65" dirty="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sz="2300" b="1" spc="9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111111"/>
                </a:solidFill>
                <a:latin typeface="Times New Roman"/>
                <a:cs typeface="Times New Roman"/>
              </a:rPr>
              <a:t>visit</a:t>
            </a:r>
            <a:r>
              <a:rPr sz="2300" b="1" spc="8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b="1" spc="60" dirty="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sz="2300" b="1" dirty="0">
                <a:solidFill>
                  <a:srgbClr val="111111"/>
                </a:solidFill>
                <a:latin typeface="Times New Roman"/>
                <a:cs typeface="Times New Roman"/>
              </a:rPr>
              <a:t> nodes</a:t>
            </a:r>
            <a:r>
              <a:rPr sz="2300" b="1" spc="16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sz="2300" b="1" spc="8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b="1" spc="50" dirty="0">
                <a:solidFill>
                  <a:srgbClr val="111111"/>
                </a:solidFill>
                <a:latin typeface="Times New Roman"/>
                <a:cs typeface="Times New Roman"/>
              </a:rPr>
              <a:t>order</a:t>
            </a:r>
            <a:r>
              <a:rPr sz="2300" b="1" spc="-2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sz="2300" b="1" spc="15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111111"/>
                </a:solidFill>
                <a:latin typeface="Times New Roman"/>
                <a:cs typeface="Times New Roman"/>
              </a:rPr>
              <a:t>their</a:t>
            </a:r>
            <a:r>
              <a:rPr sz="2300" b="1" spc="4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111111"/>
                </a:solidFill>
                <a:latin typeface="Times New Roman"/>
                <a:cs typeface="Times New Roman"/>
              </a:rPr>
              <a:t>closeness</a:t>
            </a:r>
            <a:r>
              <a:rPr sz="2300" b="1" spc="16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b="1" spc="-25" dirty="0">
                <a:solidFill>
                  <a:srgbClr val="111111"/>
                </a:solidFill>
                <a:latin typeface="Times New Roman"/>
                <a:cs typeface="Times New Roman"/>
              </a:rPr>
              <a:t>to </a:t>
            </a:r>
            <a:r>
              <a:rPr sz="2150" i="1" dirty="0">
                <a:solidFill>
                  <a:srgbClr val="111111"/>
                </a:solidFill>
                <a:latin typeface="Arial"/>
                <a:cs typeface="Arial"/>
              </a:rPr>
              <a:t>A;</a:t>
            </a:r>
            <a:r>
              <a:rPr sz="2150" i="1" spc="43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visit</a:t>
            </a:r>
            <a:r>
              <a:rPr sz="2300" spc="-5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sz="2300" spc="-4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first,</a:t>
            </a:r>
            <a:r>
              <a:rPr sz="2300" spc="15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then</a:t>
            </a:r>
            <a:r>
              <a:rPr sz="2300" spc="24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visit</a:t>
            </a:r>
            <a:r>
              <a:rPr sz="2300" spc="2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spc="50" dirty="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sz="2300" spc="2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62626"/>
                </a:solidFill>
                <a:latin typeface="Times New Roman"/>
                <a:cs typeface="Times New Roman"/>
              </a:rPr>
              <a:t>closest</a:t>
            </a:r>
            <a:r>
              <a:rPr sz="2300" spc="27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node</a:t>
            </a:r>
            <a:r>
              <a:rPr sz="2300" spc="15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spc="40" dirty="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sz="2300" spc="-1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A,</a:t>
            </a:r>
            <a:r>
              <a:rPr sz="2300" spc="10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then</a:t>
            </a:r>
            <a:r>
              <a:rPr sz="2300" spc="1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spc="50" dirty="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sz="2300" spc="1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spc="-20" dirty="0">
                <a:solidFill>
                  <a:srgbClr val="111111"/>
                </a:solidFill>
                <a:latin typeface="Times New Roman"/>
                <a:cs typeface="Times New Roman"/>
              </a:rPr>
              <a:t>next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closest</a:t>
            </a:r>
            <a:r>
              <a:rPr sz="2300" spc="13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spc="55" dirty="0">
                <a:solidFill>
                  <a:srgbClr val="111111"/>
                </a:solidFill>
                <a:latin typeface="Times New Roman"/>
                <a:cs typeface="Times New Roman"/>
              </a:rPr>
              <a:t>node</a:t>
            </a:r>
            <a:r>
              <a:rPr sz="2300" spc="4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spc="50" dirty="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sz="2300" spc="-2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A,</a:t>
            </a:r>
            <a:r>
              <a:rPr sz="2300" spc="13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62626"/>
                </a:solidFill>
                <a:latin typeface="Times New Roman"/>
                <a:cs typeface="Times New Roman"/>
              </a:rPr>
              <a:t>and</a:t>
            </a:r>
            <a:r>
              <a:rPr sz="2300" spc="-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62626"/>
                </a:solidFill>
                <a:latin typeface="Times New Roman"/>
                <a:cs typeface="Times New Roman"/>
              </a:rPr>
              <a:t>so</a:t>
            </a:r>
            <a:r>
              <a:rPr sz="2300" spc="14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300" spc="40" dirty="0">
                <a:solidFill>
                  <a:srgbClr val="111111"/>
                </a:solidFill>
                <a:latin typeface="Times New Roman"/>
                <a:cs typeface="Times New Roman"/>
              </a:rPr>
              <a:t>on.</a:t>
            </a: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50">
              <a:latin typeface="Times New Roman"/>
              <a:cs typeface="Times New Roman"/>
            </a:endParaRPr>
          </a:p>
          <a:p>
            <a:pPr marL="248920" marR="5080">
              <a:lnSpc>
                <a:spcPct val="103800"/>
              </a:lnSpc>
            </a:pPr>
            <a:r>
              <a:rPr sz="2300" spc="90" dirty="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sz="2300" spc="3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closest</a:t>
            </a:r>
            <a:r>
              <a:rPr sz="2300" spc="20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node</a:t>
            </a:r>
            <a:r>
              <a:rPr sz="2300" spc="13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spc="50" dirty="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sz="2300" spc="-114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150" i="1" spc="55" dirty="0">
                <a:solidFill>
                  <a:srgbClr val="111111"/>
                </a:solidFill>
                <a:latin typeface="Arial"/>
                <a:cs typeface="Arial"/>
              </a:rPr>
              <a:t>A,</a:t>
            </a:r>
            <a:r>
              <a:rPr sz="2150" i="1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say</a:t>
            </a:r>
            <a:r>
              <a:rPr sz="2300" spc="17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150" i="1" dirty="0">
                <a:solidFill>
                  <a:srgbClr val="111111"/>
                </a:solidFill>
                <a:latin typeface="Arial"/>
                <a:cs typeface="Arial"/>
              </a:rPr>
              <a:t>X,</a:t>
            </a:r>
            <a:r>
              <a:rPr sz="2150" i="1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must</a:t>
            </a:r>
            <a:r>
              <a:rPr sz="2300" spc="10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spc="75" dirty="0">
                <a:solidFill>
                  <a:srgbClr val="111111"/>
                </a:solidFill>
                <a:latin typeface="Times New Roman"/>
                <a:cs typeface="Times New Roman"/>
              </a:rPr>
              <a:t>be</a:t>
            </a:r>
            <a:r>
              <a:rPr sz="2300" spc="2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adjacent</a:t>
            </a:r>
            <a:r>
              <a:rPr sz="2300" spc="22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spc="50" dirty="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sz="2300" spc="-3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150" i="1" spc="85" dirty="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sz="2150" i="1" spc="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sz="2300" spc="9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spc="25" dirty="0">
                <a:solidFill>
                  <a:srgbClr val="111111"/>
                </a:solidFill>
                <a:latin typeface="Times New Roman"/>
                <a:cs typeface="Times New Roman"/>
              </a:rPr>
              <a:t>the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next</a:t>
            </a:r>
            <a:r>
              <a:rPr sz="2300" spc="10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closest</a:t>
            </a:r>
            <a:r>
              <a:rPr sz="2300" spc="24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node,</a:t>
            </a:r>
            <a:r>
              <a:rPr sz="2300" spc="7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62626"/>
                </a:solidFill>
                <a:latin typeface="Times New Roman"/>
                <a:cs typeface="Times New Roman"/>
              </a:rPr>
              <a:t>say</a:t>
            </a:r>
            <a:r>
              <a:rPr sz="2300" spc="10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50" i="1" dirty="0">
                <a:solidFill>
                  <a:srgbClr val="111111"/>
                </a:solidFill>
                <a:latin typeface="Arial"/>
                <a:cs typeface="Arial"/>
              </a:rPr>
              <a:t>Y,</a:t>
            </a:r>
            <a:r>
              <a:rPr sz="2050" i="1" spc="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must</a:t>
            </a:r>
            <a:r>
              <a:rPr sz="2300" spc="18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spc="75" dirty="0">
                <a:solidFill>
                  <a:srgbClr val="111111"/>
                </a:solidFill>
                <a:latin typeface="Times New Roman"/>
                <a:cs typeface="Times New Roman"/>
              </a:rPr>
              <a:t>be</a:t>
            </a:r>
            <a:r>
              <a:rPr sz="2300" spc="-4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62626"/>
                </a:solidFill>
                <a:latin typeface="Times New Roman"/>
                <a:cs typeface="Times New Roman"/>
              </a:rPr>
              <a:t>either</a:t>
            </a:r>
            <a:r>
              <a:rPr sz="2300" spc="12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adjacent</a:t>
            </a:r>
            <a:r>
              <a:rPr sz="2300" spc="17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spc="50" dirty="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sz="2300" spc="-1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050" i="1" spc="80" dirty="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sz="2050" i="1" spc="2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300" spc="75" dirty="0">
                <a:solidFill>
                  <a:srgbClr val="111111"/>
                </a:solidFill>
                <a:latin typeface="Times New Roman"/>
                <a:cs typeface="Times New Roman"/>
              </a:rPr>
              <a:t>or</a:t>
            </a:r>
            <a:r>
              <a:rPr sz="2300" spc="3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050" i="1" spc="45" dirty="0">
                <a:solidFill>
                  <a:srgbClr val="111111"/>
                </a:solidFill>
                <a:latin typeface="Arial"/>
                <a:cs typeface="Arial"/>
              </a:rPr>
              <a:t>X. </a:t>
            </a:r>
            <a:r>
              <a:rPr sz="2300" spc="90" dirty="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sz="2300" spc="3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third</a:t>
            </a:r>
            <a:r>
              <a:rPr sz="2300" spc="9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closest</a:t>
            </a:r>
            <a:r>
              <a:rPr sz="2300" spc="23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node</a:t>
            </a:r>
            <a:r>
              <a:rPr sz="2300" spc="7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sz="2300" spc="5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spc="95" dirty="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sz="2300" spc="-2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must</a:t>
            </a:r>
            <a:r>
              <a:rPr sz="2300" spc="9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spc="75" dirty="0">
                <a:solidFill>
                  <a:srgbClr val="111111"/>
                </a:solidFill>
                <a:latin typeface="Times New Roman"/>
                <a:cs typeface="Times New Roman"/>
              </a:rPr>
              <a:t>be</a:t>
            </a:r>
            <a:r>
              <a:rPr sz="2300" spc="3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62626"/>
                </a:solidFill>
                <a:latin typeface="Times New Roman"/>
                <a:cs typeface="Times New Roman"/>
              </a:rPr>
              <a:t>either</a:t>
            </a:r>
            <a:r>
              <a:rPr sz="2300" spc="12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adjacent</a:t>
            </a:r>
            <a:r>
              <a:rPr sz="2300" spc="16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sz="2300" spc="-3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200" i="1" spc="114" dirty="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sz="2200" i="1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300" spc="75" dirty="0">
                <a:solidFill>
                  <a:srgbClr val="111111"/>
                </a:solidFill>
                <a:latin typeface="Times New Roman"/>
                <a:cs typeface="Times New Roman"/>
              </a:rPr>
              <a:t>or</a:t>
            </a:r>
            <a:r>
              <a:rPr sz="2300" spc="4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200" i="1" spc="-50" dirty="0">
                <a:solidFill>
                  <a:srgbClr val="111111"/>
                </a:solidFill>
                <a:latin typeface="Arial"/>
                <a:cs typeface="Arial"/>
              </a:rPr>
              <a:t>X </a:t>
            </a:r>
            <a:r>
              <a:rPr sz="2300" spc="75" dirty="0">
                <a:solidFill>
                  <a:srgbClr val="111111"/>
                </a:solidFill>
                <a:latin typeface="Times New Roman"/>
                <a:cs typeface="Times New Roman"/>
              </a:rPr>
              <a:t>or</a:t>
            </a:r>
            <a:r>
              <a:rPr sz="2300" spc="5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50" i="1" spc="70" dirty="0">
                <a:solidFill>
                  <a:srgbClr val="111111"/>
                </a:solidFill>
                <a:latin typeface="Times New Roman"/>
                <a:cs typeface="Times New Roman"/>
              </a:rPr>
              <a:t>Y,</a:t>
            </a:r>
            <a:r>
              <a:rPr sz="2350" i="1" spc="-4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sz="2300" spc="10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62626"/>
                </a:solidFill>
                <a:latin typeface="Times New Roman"/>
                <a:cs typeface="Times New Roman"/>
              </a:rPr>
              <a:t>so</a:t>
            </a:r>
            <a:r>
              <a:rPr sz="2300" spc="9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300" spc="65" dirty="0">
                <a:solidFill>
                  <a:srgbClr val="111111"/>
                </a:solidFill>
                <a:latin typeface="Times New Roman"/>
                <a:cs typeface="Times New Roman"/>
              </a:rPr>
              <a:t>on.</a:t>
            </a:r>
            <a:r>
              <a:rPr sz="2300" spc="7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62626"/>
                </a:solidFill>
                <a:latin typeface="Times New Roman"/>
                <a:cs typeface="Times New Roman"/>
              </a:rPr>
              <a:t>(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Otherwise,</a:t>
            </a:r>
            <a:r>
              <a:rPr sz="2300" spc="18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this</a:t>
            </a:r>
            <a:r>
              <a:rPr sz="2300" spc="11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node</a:t>
            </a:r>
            <a:r>
              <a:rPr sz="2300" spc="114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spc="65" dirty="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sz="2300" spc="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closer</a:t>
            </a:r>
            <a:r>
              <a:rPr sz="2300" spc="13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sz="2300" spc="9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50" i="1" spc="110" dirty="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sz="2350" i="1" spc="6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than</a:t>
            </a:r>
            <a:r>
              <a:rPr sz="2300" spc="15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spc="25" dirty="0">
                <a:solidFill>
                  <a:srgbClr val="111111"/>
                </a:solidFill>
                <a:latin typeface="Times New Roman"/>
                <a:cs typeface="Times New Roman"/>
              </a:rPr>
              <a:t>the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third</a:t>
            </a:r>
            <a:r>
              <a:rPr sz="2300" spc="170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11111"/>
                </a:solidFill>
                <a:latin typeface="Times New Roman"/>
                <a:cs typeface="Times New Roman"/>
              </a:rPr>
              <a:t>closest</a:t>
            </a:r>
            <a:r>
              <a:rPr sz="2300" spc="235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111111"/>
                </a:solidFill>
                <a:latin typeface="Times New Roman"/>
                <a:cs typeface="Times New Roman"/>
              </a:rPr>
              <a:t>node.)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5338" y="431060"/>
            <a:ext cx="385762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i="1" dirty="0">
                <a:solidFill>
                  <a:srgbClr val="133BC8"/>
                </a:solidFill>
                <a:latin typeface="Times New Roman"/>
                <a:cs typeface="Times New Roman"/>
              </a:rPr>
              <a:t>Dijkstra's</a:t>
            </a:r>
            <a:r>
              <a:rPr sz="3500" i="1" spc="55" dirty="0">
                <a:solidFill>
                  <a:srgbClr val="133BC8"/>
                </a:solidFill>
                <a:latin typeface="Times New Roman"/>
                <a:cs typeface="Times New Roman"/>
              </a:rPr>
              <a:t> </a:t>
            </a:r>
            <a:r>
              <a:rPr sz="3500" i="1" spc="-10" dirty="0">
                <a:solidFill>
                  <a:srgbClr val="133BC8"/>
                </a:solidFill>
                <a:latin typeface="Times New Roman"/>
                <a:cs typeface="Times New Roman"/>
              </a:rPr>
              <a:t>Algorithm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8454" y="1283798"/>
            <a:ext cx="7723505" cy="293497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91440" marR="5080" indent="-7620">
              <a:lnSpc>
                <a:spcPts val="2900"/>
              </a:lnSpc>
              <a:spcBef>
                <a:spcPts val="80"/>
              </a:spcBef>
            </a:pPr>
            <a:r>
              <a:rPr sz="2300" spc="90" dirty="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sz="2300" spc="3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next</a:t>
            </a:r>
            <a:r>
              <a:rPr sz="2300" spc="15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node</a:t>
            </a:r>
            <a:r>
              <a:rPr sz="2300" spc="5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sz="2300" spc="15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spc="75" dirty="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sz="2300" spc="9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F1F1F"/>
                </a:solidFill>
                <a:latin typeface="Times New Roman"/>
                <a:cs typeface="Times New Roman"/>
              </a:rPr>
              <a:t>visited</a:t>
            </a:r>
            <a:r>
              <a:rPr sz="2300" spc="19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must</a:t>
            </a:r>
            <a:r>
              <a:rPr sz="2300" spc="18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sz="2300" spc="2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adjacent</a:t>
            </a:r>
            <a:r>
              <a:rPr sz="2300" spc="22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spc="50" dirty="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sz="2300" spc="-4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spc="65" dirty="0">
                <a:solidFill>
                  <a:srgbClr val="2D2D2D"/>
                </a:solidFill>
                <a:latin typeface="Times New Roman"/>
                <a:cs typeface="Times New Roman"/>
              </a:rPr>
              <a:t>some</a:t>
            </a:r>
            <a:r>
              <a:rPr sz="2300" spc="2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0F0F0F"/>
                </a:solidFill>
                <a:latin typeface="Times New Roman"/>
                <a:cs typeface="Times New Roman"/>
              </a:rPr>
              <a:t>visited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node.</a:t>
            </a:r>
            <a:r>
              <a:rPr sz="2300" spc="3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sz="2300" spc="6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F1F1F"/>
                </a:solidFill>
                <a:latin typeface="Times New Roman"/>
                <a:cs typeface="Times New Roman"/>
              </a:rPr>
              <a:t>call</a:t>
            </a:r>
            <a:r>
              <a:rPr sz="2300" spc="13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sz="2300" spc="3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spc="55" dirty="0">
                <a:solidFill>
                  <a:srgbClr val="1F1F1F"/>
                </a:solidFill>
                <a:latin typeface="Times New Roman"/>
                <a:cs typeface="Times New Roman"/>
              </a:rPr>
              <a:t>set</a:t>
            </a:r>
            <a:r>
              <a:rPr sz="2300" spc="3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sz="2300" spc="24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unvisited</a:t>
            </a:r>
            <a:r>
              <a:rPr sz="2300" spc="229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nodes</a:t>
            </a:r>
            <a:r>
              <a:rPr sz="2300" spc="15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sz="2300" spc="16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spc="50" dirty="0">
                <a:solidFill>
                  <a:srgbClr val="1F1F1F"/>
                </a:solidFill>
                <a:latin typeface="Times New Roman"/>
                <a:cs typeface="Times New Roman"/>
              </a:rPr>
              <a:t>are</a:t>
            </a:r>
            <a:r>
              <a:rPr sz="2300" spc="4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F1F1F"/>
                </a:solidFill>
                <a:latin typeface="Times New Roman"/>
                <a:cs typeface="Times New Roman"/>
              </a:rPr>
              <a:t>adjacent</a:t>
            </a:r>
            <a:r>
              <a:rPr sz="2300" spc="18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F1F1F"/>
                </a:solidFill>
                <a:latin typeface="Times New Roman"/>
                <a:cs typeface="Times New Roman"/>
              </a:rPr>
              <a:t>to</a:t>
            </a:r>
            <a:r>
              <a:rPr sz="2300" spc="16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spc="35" dirty="0">
                <a:solidFill>
                  <a:srgbClr val="0F0F0F"/>
                </a:solidFill>
                <a:latin typeface="Times New Roman"/>
                <a:cs typeface="Times New Roman"/>
              </a:rPr>
              <a:t>an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already</a:t>
            </a:r>
            <a:r>
              <a:rPr sz="2300" spc="27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F1F1F"/>
                </a:solidFill>
                <a:latin typeface="Times New Roman"/>
                <a:cs typeface="Times New Roman"/>
              </a:rPr>
              <a:t>visited</a:t>
            </a:r>
            <a:r>
              <a:rPr sz="2300" spc="229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node</a:t>
            </a:r>
            <a:r>
              <a:rPr sz="2300" spc="17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spc="50" dirty="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sz="2300" spc="-10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50" b="1" spc="-10" dirty="0">
                <a:solidFill>
                  <a:srgbClr val="0F0F0F"/>
                </a:solidFill>
                <a:latin typeface="Times New Roman"/>
                <a:cs typeface="Times New Roman"/>
              </a:rPr>
              <a:t>fringe.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250">
              <a:latin typeface="Times New Roman"/>
              <a:cs typeface="Times New Roman"/>
            </a:endParaRPr>
          </a:p>
          <a:p>
            <a:pPr marL="19050" marR="188595" indent="-6985">
              <a:lnSpc>
                <a:spcPct val="105000"/>
              </a:lnSpc>
            </a:pPr>
            <a:r>
              <a:rPr sz="2300" spc="65" dirty="0">
                <a:solidFill>
                  <a:srgbClr val="0F0F0F"/>
                </a:solidFill>
                <a:latin typeface="Times New Roman"/>
                <a:cs typeface="Times New Roman"/>
              </a:rPr>
              <a:t>The </a:t>
            </a:r>
            <a:r>
              <a:rPr sz="2300" dirty="0">
                <a:solidFill>
                  <a:srgbClr val="1F1F1F"/>
                </a:solidFill>
                <a:latin typeface="Times New Roman"/>
                <a:cs typeface="Times New Roman"/>
              </a:rPr>
              <a:t>algorithm</a:t>
            </a:r>
            <a:r>
              <a:rPr sz="2300" spc="27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then</a:t>
            </a:r>
            <a:r>
              <a:rPr sz="2300" spc="14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D2D2D"/>
                </a:solidFill>
                <a:latin typeface="Times New Roman"/>
                <a:cs typeface="Times New Roman"/>
              </a:rPr>
              <a:t>selects</a:t>
            </a:r>
            <a:r>
              <a:rPr sz="2300" spc="20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300" spc="50" dirty="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sz="2300" spc="55" dirty="0">
                <a:solidFill>
                  <a:srgbClr val="0F0F0F"/>
                </a:solidFill>
                <a:latin typeface="Times New Roman"/>
                <a:cs typeface="Times New Roman"/>
              </a:rPr>
              <a:t> node</a:t>
            </a:r>
            <a:r>
              <a:rPr sz="2300" spc="-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spc="55" dirty="0">
                <a:solidFill>
                  <a:srgbClr val="1F1F1F"/>
                </a:solidFill>
                <a:latin typeface="Times New Roman"/>
                <a:cs typeface="Times New Roman"/>
              </a:rPr>
              <a:t>from</a:t>
            </a:r>
            <a:r>
              <a:rPr sz="2300" spc="15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sz="2300" spc="7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fringe</a:t>
            </a:r>
            <a:r>
              <a:rPr sz="2300" spc="6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F1F1F"/>
                </a:solidFill>
                <a:latin typeface="Times New Roman"/>
                <a:cs typeface="Times New Roman"/>
              </a:rPr>
              <a:t>closest</a:t>
            </a:r>
            <a:r>
              <a:rPr sz="2300" spc="16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spc="-25" dirty="0">
                <a:solidFill>
                  <a:srgbClr val="0F0F0F"/>
                </a:solidFill>
                <a:latin typeface="Times New Roman"/>
                <a:cs typeface="Times New Roman"/>
              </a:rPr>
              <a:t>to </a:t>
            </a:r>
            <a:r>
              <a:rPr sz="2300" dirty="0">
                <a:solidFill>
                  <a:srgbClr val="1F1F1F"/>
                </a:solidFill>
                <a:latin typeface="Times New Roman"/>
                <a:cs typeface="Times New Roman"/>
              </a:rPr>
              <a:t>A,</a:t>
            </a:r>
            <a:r>
              <a:rPr sz="2300" spc="1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D2D2D"/>
                </a:solidFill>
                <a:latin typeface="Times New Roman"/>
                <a:cs typeface="Times New Roman"/>
              </a:rPr>
              <a:t>say</a:t>
            </a:r>
            <a:r>
              <a:rPr sz="2300" spc="150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300" spc="50" dirty="0">
                <a:solidFill>
                  <a:srgbClr val="0F0F0F"/>
                </a:solidFill>
                <a:latin typeface="Times New Roman"/>
                <a:cs typeface="Times New Roman"/>
              </a:rPr>
              <a:t>B,</a:t>
            </a:r>
            <a:r>
              <a:rPr sz="2300" spc="12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then</a:t>
            </a:r>
            <a:r>
              <a:rPr sz="2300" spc="30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F1F1F"/>
                </a:solidFill>
                <a:latin typeface="Times New Roman"/>
                <a:cs typeface="Times New Roman"/>
              </a:rPr>
              <a:t>visits</a:t>
            </a:r>
            <a:r>
              <a:rPr sz="2300" spc="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spc="75" dirty="0">
                <a:solidFill>
                  <a:srgbClr val="0F0F0F"/>
                </a:solidFill>
                <a:latin typeface="Times New Roman"/>
                <a:cs typeface="Times New Roman"/>
              </a:rPr>
              <a:t>B</a:t>
            </a:r>
            <a:r>
              <a:rPr sz="2300" spc="10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F1F1F"/>
                </a:solidFill>
                <a:latin typeface="Times New Roman"/>
                <a:cs typeface="Times New Roman"/>
              </a:rPr>
              <a:t>and</a:t>
            </a:r>
            <a:r>
              <a:rPr sz="2300" spc="204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updates</a:t>
            </a:r>
            <a:r>
              <a:rPr sz="2300" spc="17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spc="50" dirty="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sz="2300" spc="-5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fringe</a:t>
            </a:r>
            <a:r>
              <a:rPr sz="2300" spc="10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sz="2300" spc="3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spc="45" dirty="0">
                <a:solidFill>
                  <a:srgbClr val="0F0F0F"/>
                </a:solidFill>
                <a:latin typeface="Times New Roman"/>
                <a:cs typeface="Times New Roman"/>
              </a:rPr>
              <a:t>include</a:t>
            </a:r>
            <a:r>
              <a:rPr sz="2300" spc="7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spc="25" dirty="0">
                <a:solidFill>
                  <a:srgbClr val="0F0F0F"/>
                </a:solidFill>
                <a:latin typeface="Times New Roman"/>
                <a:cs typeface="Times New Roman"/>
              </a:rPr>
              <a:t>the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nodes</a:t>
            </a:r>
            <a:r>
              <a:rPr sz="2300" spc="24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sz="2300" spc="12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spc="50" dirty="0">
                <a:solidFill>
                  <a:srgbClr val="1F1F1F"/>
                </a:solidFill>
                <a:latin typeface="Times New Roman"/>
                <a:cs typeface="Times New Roman"/>
              </a:rPr>
              <a:t>are</a:t>
            </a:r>
            <a:r>
              <a:rPr sz="2300" spc="1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F1F1F"/>
                </a:solidFill>
                <a:latin typeface="Times New Roman"/>
                <a:cs typeface="Times New Roman"/>
              </a:rPr>
              <a:t>adjacent</a:t>
            </a:r>
            <a:r>
              <a:rPr sz="2300" spc="22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spc="50" dirty="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sz="2300" spc="3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spc="80" dirty="0">
                <a:solidFill>
                  <a:srgbClr val="0F0F0F"/>
                </a:solidFill>
                <a:latin typeface="Times New Roman"/>
                <a:cs typeface="Times New Roman"/>
              </a:rPr>
              <a:t>B.</a:t>
            </a:r>
            <a:r>
              <a:rPr sz="2300" spc="-10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sz="2300" spc="6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spc="50" dirty="0">
                <a:solidFill>
                  <a:srgbClr val="2D2D2D"/>
                </a:solidFill>
                <a:latin typeface="Times New Roman"/>
                <a:cs typeface="Times New Roman"/>
              </a:rPr>
              <a:t>step</a:t>
            </a:r>
            <a:r>
              <a:rPr sz="2300" spc="1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300" spc="65" dirty="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sz="2300" spc="-3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repeated</a:t>
            </a:r>
            <a:r>
              <a:rPr sz="2300" spc="254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until</a:t>
            </a:r>
            <a:r>
              <a:rPr sz="2300" spc="7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F1F1F"/>
                </a:solidFill>
                <a:latin typeface="Times New Roman"/>
                <a:cs typeface="Times New Roman"/>
              </a:rPr>
              <a:t>all</a:t>
            </a:r>
            <a:r>
              <a:rPr sz="2300" spc="11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spc="25" dirty="0">
                <a:solidFill>
                  <a:srgbClr val="0F0F0F"/>
                </a:solidFill>
                <a:latin typeface="Times New Roman"/>
                <a:cs typeface="Times New Roman"/>
              </a:rPr>
              <a:t>the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nodes</a:t>
            </a:r>
            <a:r>
              <a:rPr sz="2300" spc="13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F1F1F"/>
                </a:solidFill>
                <a:latin typeface="Times New Roman"/>
                <a:cs typeface="Times New Roman"/>
              </a:rPr>
              <a:t>of</a:t>
            </a:r>
            <a:r>
              <a:rPr sz="2300" spc="18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spc="50" dirty="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sz="2300" spc="3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F1F1F"/>
                </a:solidFill>
                <a:latin typeface="Times New Roman"/>
                <a:cs typeface="Times New Roman"/>
              </a:rPr>
              <a:t>graph</a:t>
            </a:r>
            <a:r>
              <a:rPr sz="2300" spc="16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spc="50" dirty="0">
                <a:solidFill>
                  <a:srgbClr val="0F0F0F"/>
                </a:solidFill>
                <a:latin typeface="Times New Roman"/>
                <a:cs typeface="Times New Roman"/>
              </a:rPr>
              <a:t>have</a:t>
            </a:r>
            <a:r>
              <a:rPr sz="2300" spc="6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been</a:t>
            </a:r>
            <a:r>
              <a:rPr sz="2300" spc="19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1F1F1F"/>
                </a:solidFill>
                <a:latin typeface="Times New Roman"/>
                <a:cs typeface="Times New Roman"/>
              </a:rPr>
              <a:t>visited</a:t>
            </a:r>
            <a:r>
              <a:rPr sz="2300" spc="11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spc="60" dirty="0">
                <a:solidFill>
                  <a:srgbClr val="1F1F1F"/>
                </a:solidFill>
                <a:latin typeface="Times New Roman"/>
                <a:cs typeface="Times New Roman"/>
              </a:rPr>
              <a:t>and</a:t>
            </a:r>
            <a:r>
              <a:rPr sz="2300" spc="1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2300" spc="50" dirty="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sz="2300" spc="1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F0F0F"/>
                </a:solidFill>
                <a:latin typeface="Times New Roman"/>
                <a:cs typeface="Times New Roman"/>
              </a:rPr>
              <a:t>fringe</a:t>
            </a:r>
            <a:r>
              <a:rPr sz="2300" spc="9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spc="65" dirty="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sz="2300" spc="-3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1F1F1F"/>
                </a:solidFill>
                <a:latin typeface="Times New Roman"/>
                <a:cs typeface="Times New Roman"/>
              </a:rPr>
              <a:t>empty.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33781" y="4972999"/>
            <a:ext cx="0" cy="969644"/>
          </a:xfrm>
          <a:custGeom>
            <a:avLst/>
            <a:gdLst/>
            <a:ahLst/>
            <a:cxnLst/>
            <a:rect l="l" t="t" r="r" b="b"/>
            <a:pathLst>
              <a:path h="969645">
                <a:moveTo>
                  <a:pt x="0" y="969429"/>
                </a:moveTo>
                <a:lnTo>
                  <a:pt x="0" y="0"/>
                </a:lnTo>
              </a:path>
            </a:pathLst>
          </a:custGeom>
          <a:ln w="268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33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300" spc="-165" dirty="0">
                <a:solidFill>
                  <a:srgbClr val="030303"/>
                </a:solidFill>
              </a:rPr>
              <a:t>Dijkstra's</a:t>
            </a:r>
            <a:r>
              <a:rPr sz="4300" spc="-85" dirty="0">
                <a:solidFill>
                  <a:srgbClr val="030303"/>
                </a:solidFill>
              </a:rPr>
              <a:t> </a:t>
            </a:r>
            <a:r>
              <a:rPr sz="4300" spc="-265" dirty="0">
                <a:solidFill>
                  <a:srgbClr val="030303"/>
                </a:solidFill>
              </a:rPr>
              <a:t>Algorithm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511158" y="1851467"/>
            <a:ext cx="3203575" cy="138493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R="1141095" algn="ctr">
              <a:lnSpc>
                <a:spcPct val="100000"/>
              </a:lnSpc>
              <a:spcBef>
                <a:spcPts val="810"/>
              </a:spcBef>
            </a:pPr>
            <a:r>
              <a:rPr sz="2350" spc="-10" dirty="0">
                <a:solidFill>
                  <a:srgbClr val="030303"/>
                </a:solidFill>
                <a:latin typeface="Courier New"/>
                <a:cs typeface="Courier New"/>
              </a:rPr>
              <a:t>Dijkstra(G)</a:t>
            </a:r>
            <a:endParaRPr sz="2350">
              <a:latin typeface="Courier New"/>
              <a:cs typeface="Courier New"/>
            </a:endParaRPr>
          </a:p>
          <a:p>
            <a:pPr marL="555625" algn="ctr">
              <a:lnSpc>
                <a:spcPts val="2715"/>
              </a:lnSpc>
              <a:spcBef>
                <a:spcPts val="715"/>
              </a:spcBef>
            </a:pPr>
            <a:r>
              <a:rPr sz="2350" spc="95" dirty="0">
                <a:solidFill>
                  <a:srgbClr val="030303"/>
                </a:solidFill>
                <a:latin typeface="Courier New"/>
                <a:cs typeface="Courier New"/>
              </a:rPr>
              <a:t>for</a:t>
            </a:r>
            <a:r>
              <a:rPr sz="2350" spc="-16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each</a:t>
            </a:r>
            <a:r>
              <a:rPr sz="2350" spc="-17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70" dirty="0">
                <a:solidFill>
                  <a:srgbClr val="030303"/>
                </a:solidFill>
                <a:latin typeface="Courier New"/>
                <a:cs typeface="Courier New"/>
              </a:rPr>
              <a:t>v</a:t>
            </a:r>
            <a:r>
              <a:rPr sz="2350" spc="18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70" dirty="0">
                <a:solidFill>
                  <a:srgbClr val="030303"/>
                </a:solidFill>
                <a:latin typeface="Courier New"/>
                <a:cs typeface="Courier New"/>
              </a:rPr>
              <a:t>e</a:t>
            </a:r>
            <a:r>
              <a:rPr sz="2350" spc="4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050" spc="20" dirty="0">
                <a:solidFill>
                  <a:srgbClr val="030303"/>
                </a:solidFill>
                <a:latin typeface="Times New Roman"/>
                <a:cs typeface="Times New Roman"/>
              </a:rPr>
              <a:t>V</a:t>
            </a:r>
            <a:endParaRPr sz="2050">
              <a:latin typeface="Times New Roman"/>
              <a:cs typeface="Times New Roman"/>
            </a:endParaRPr>
          </a:p>
          <a:p>
            <a:pPr marL="615950" algn="ctr">
              <a:lnSpc>
                <a:spcPts val="3735"/>
              </a:lnSpc>
              <a:tabLst>
                <a:tab pos="1541145" algn="l"/>
                <a:tab pos="1897380" algn="l"/>
              </a:tabLst>
            </a:pPr>
            <a:r>
              <a:rPr sz="2100" spc="495" dirty="0">
                <a:solidFill>
                  <a:srgbClr val="030303"/>
                </a:solidFill>
                <a:latin typeface="Times New Roman"/>
                <a:cs typeface="Times New Roman"/>
              </a:rPr>
              <a:t>d[v]</a:t>
            </a:r>
            <a:r>
              <a:rPr sz="2100" dirty="0">
                <a:solidFill>
                  <a:srgbClr val="030303"/>
                </a:solidFill>
                <a:latin typeface="Times New Roman"/>
                <a:cs typeface="Times New Roman"/>
              </a:rPr>
              <a:t>	</a:t>
            </a:r>
            <a:r>
              <a:rPr sz="3200" spc="-395" dirty="0">
                <a:solidFill>
                  <a:srgbClr val="030303"/>
                </a:solidFill>
                <a:latin typeface="Times New Roman"/>
                <a:cs typeface="Times New Roman"/>
              </a:rPr>
              <a:t>=</a:t>
            </a:r>
            <a:r>
              <a:rPr sz="3200" dirty="0">
                <a:solidFill>
                  <a:srgbClr val="030303"/>
                </a:solidFill>
                <a:latin typeface="Times New Roman"/>
                <a:cs typeface="Times New Roman"/>
              </a:rPr>
              <a:t>	</a:t>
            </a:r>
            <a:r>
              <a:rPr sz="2100" spc="-25" dirty="0">
                <a:solidFill>
                  <a:srgbClr val="030303"/>
                </a:solidFill>
                <a:latin typeface="Times New Roman"/>
                <a:cs typeface="Times New Roman"/>
              </a:rPr>
              <a:t>oo;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3695" y="3270155"/>
            <a:ext cx="113538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2110" algn="l"/>
                <a:tab pos="742950" algn="l"/>
              </a:tabLst>
            </a:pPr>
            <a:r>
              <a:rPr sz="1950" spc="20" dirty="0">
                <a:solidFill>
                  <a:srgbClr val="030303"/>
                </a:solidFill>
                <a:latin typeface="Times New Roman"/>
                <a:cs typeface="Times New Roman"/>
              </a:rPr>
              <a:t>Q</a:t>
            </a:r>
            <a:r>
              <a:rPr sz="1950" dirty="0">
                <a:solidFill>
                  <a:srgbClr val="030303"/>
                </a:solidFill>
                <a:latin typeface="Times New Roman"/>
                <a:cs typeface="Times New Roman"/>
              </a:rPr>
              <a:t>	</a:t>
            </a:r>
            <a:r>
              <a:rPr sz="2300" spc="15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3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350" spc="40" dirty="0">
                <a:solidFill>
                  <a:srgbClr val="030303"/>
                </a:solidFill>
                <a:latin typeface="Courier New"/>
                <a:cs typeface="Courier New"/>
              </a:rPr>
              <a:t>V;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0531" y="3155522"/>
            <a:ext cx="3921760" cy="136969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755"/>
              </a:spcBef>
              <a:tabLst>
                <a:tab pos="1297940" algn="l"/>
                <a:tab pos="2583815" algn="l"/>
              </a:tabLst>
            </a:pP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d[s]</a:t>
            </a:r>
            <a:r>
              <a:rPr sz="2350" spc="-17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00" spc="15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3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0;</a:t>
            </a:r>
            <a:r>
              <a:rPr sz="2350" spc="-4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70" dirty="0">
                <a:solidFill>
                  <a:srgbClr val="030303"/>
                </a:solidFill>
                <a:latin typeface="Courier New"/>
                <a:cs typeface="Courier New"/>
              </a:rPr>
              <a:t>S</a:t>
            </a:r>
            <a:r>
              <a:rPr sz="2350" spc="-6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00" spc="15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3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srgbClr val="030303"/>
                </a:solidFill>
                <a:latin typeface="Times New Roman"/>
                <a:cs typeface="Times New Roman"/>
              </a:rPr>
              <a:t>0;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  <a:tabLst>
                <a:tab pos="2028825" algn="l"/>
              </a:tabLst>
            </a:pPr>
            <a:r>
              <a:rPr sz="2350" dirty="0">
                <a:solidFill>
                  <a:srgbClr val="030303"/>
                </a:solidFill>
                <a:latin typeface="Courier New"/>
                <a:cs typeface="Courier New"/>
              </a:rPr>
              <a:t>while</a:t>
            </a:r>
            <a:r>
              <a:rPr sz="2350" spc="12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030303"/>
                </a:solidFill>
                <a:latin typeface="Courier New"/>
                <a:cs typeface="Courier New"/>
              </a:rPr>
              <a:t>(Q</a:t>
            </a:r>
            <a:r>
              <a:rPr sz="2350" spc="-32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30303"/>
                </a:solidFill>
                <a:latin typeface="Arial"/>
                <a:cs typeface="Arial"/>
              </a:rPr>
              <a:t>¢	</a:t>
            </a:r>
            <a:r>
              <a:rPr sz="2000" spc="30" dirty="0">
                <a:solidFill>
                  <a:srgbClr val="030303"/>
                </a:solidFill>
                <a:latin typeface="Arial"/>
                <a:cs typeface="Arial"/>
              </a:rPr>
              <a:t>0)</a:t>
            </a:r>
            <a:endParaRPr sz="2000">
              <a:latin typeface="Arial"/>
              <a:cs typeface="Arial"/>
            </a:endParaRPr>
          </a:p>
          <a:p>
            <a:pPr marL="565785">
              <a:lnSpc>
                <a:spcPct val="100000"/>
              </a:lnSpc>
              <a:spcBef>
                <a:spcPts val="575"/>
              </a:spcBef>
              <a:tabLst>
                <a:tab pos="1301115" algn="l"/>
              </a:tabLst>
            </a:pPr>
            <a:r>
              <a:rPr sz="2350" spc="95" dirty="0">
                <a:solidFill>
                  <a:srgbClr val="030303"/>
                </a:solidFill>
                <a:latin typeface="Courier New"/>
                <a:cs typeface="Courier New"/>
              </a:rPr>
              <a:t>u</a:t>
            </a:r>
            <a:r>
              <a:rPr sz="2350" spc="-6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3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350" spc="-10" dirty="0">
                <a:solidFill>
                  <a:srgbClr val="030303"/>
                </a:solidFill>
                <a:latin typeface="Courier New"/>
                <a:cs typeface="Courier New"/>
              </a:rPr>
              <a:t>ExtractMin(Q);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9604" y="4576940"/>
            <a:ext cx="227012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840" algn="l"/>
                <a:tab pos="747395" algn="l"/>
                <a:tab pos="1106805" algn="l"/>
                <a:tab pos="1534160" algn="l"/>
              </a:tabLst>
            </a:pPr>
            <a:r>
              <a:rPr sz="2050" spc="-50" dirty="0">
                <a:solidFill>
                  <a:srgbClr val="030303"/>
                </a:solidFill>
                <a:latin typeface="Times New Roman"/>
                <a:cs typeface="Times New Roman"/>
              </a:rPr>
              <a:t>S</a:t>
            </a:r>
            <a:r>
              <a:rPr sz="2050" dirty="0">
                <a:solidFill>
                  <a:srgbClr val="030303"/>
                </a:solidFill>
                <a:latin typeface="Times New Roman"/>
                <a:cs typeface="Times New Roman"/>
              </a:rPr>
              <a:t>	</a:t>
            </a:r>
            <a:r>
              <a:rPr sz="2300" spc="-50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3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050" spc="-50" dirty="0">
                <a:solidFill>
                  <a:srgbClr val="030303"/>
                </a:solidFill>
                <a:latin typeface="Times New Roman"/>
                <a:cs typeface="Times New Roman"/>
              </a:rPr>
              <a:t>S</a:t>
            </a:r>
            <a:r>
              <a:rPr sz="2050" dirty="0">
                <a:solidFill>
                  <a:srgbClr val="030303"/>
                </a:solidFill>
                <a:latin typeface="Times New Roman"/>
                <a:cs typeface="Times New Roman"/>
              </a:rPr>
              <a:t>	</a:t>
            </a:r>
            <a:r>
              <a:rPr sz="2450" dirty="0">
                <a:solidFill>
                  <a:srgbClr val="030303"/>
                </a:solidFill>
                <a:latin typeface="Arial"/>
                <a:cs typeface="Arial"/>
              </a:rPr>
              <a:t>U	</a:t>
            </a:r>
            <a:r>
              <a:rPr sz="2050" spc="500" dirty="0">
                <a:solidFill>
                  <a:srgbClr val="030303"/>
                </a:solidFill>
                <a:latin typeface="Times New Roman"/>
                <a:cs typeface="Times New Roman"/>
              </a:rPr>
              <a:t>{u};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23073" y="5038466"/>
            <a:ext cx="3922395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for</a:t>
            </a:r>
            <a:r>
              <a:rPr sz="2350" spc="-14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each</a:t>
            </a:r>
            <a:r>
              <a:rPr sz="2350" spc="-8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70" dirty="0">
                <a:solidFill>
                  <a:srgbClr val="030303"/>
                </a:solidFill>
                <a:latin typeface="Courier New"/>
                <a:cs typeface="Courier New"/>
              </a:rPr>
              <a:t>v</a:t>
            </a:r>
            <a:r>
              <a:rPr sz="2350" spc="12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70" dirty="0">
                <a:solidFill>
                  <a:srgbClr val="030303"/>
                </a:solidFill>
                <a:latin typeface="Courier New"/>
                <a:cs typeface="Courier New"/>
              </a:rPr>
              <a:t>e</a:t>
            </a:r>
            <a:r>
              <a:rPr sz="2350" spc="114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030303"/>
                </a:solidFill>
                <a:latin typeface="Courier New"/>
                <a:cs typeface="Courier New"/>
              </a:rPr>
              <a:t>u-</a:t>
            </a:r>
            <a:r>
              <a:rPr sz="2350" spc="-10" dirty="0">
                <a:solidFill>
                  <a:srgbClr val="030303"/>
                </a:solidFill>
                <a:latin typeface="Courier New"/>
                <a:cs typeface="Courier New"/>
              </a:rPr>
              <a:t>&gt;Adj[]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01294" y="5789833"/>
            <a:ext cx="340995" cy="0"/>
          </a:xfrm>
          <a:custGeom>
            <a:avLst/>
            <a:gdLst/>
            <a:ahLst/>
            <a:cxnLst/>
            <a:rect l="l" t="t" r="r" b="b"/>
            <a:pathLst>
              <a:path w="340994">
                <a:moveTo>
                  <a:pt x="0" y="0"/>
                </a:moveTo>
                <a:lnTo>
                  <a:pt x="340654" y="0"/>
                </a:lnTo>
              </a:path>
            </a:pathLst>
          </a:custGeom>
          <a:ln w="12716">
            <a:solidFill>
              <a:srgbClr val="03030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9827" y="5249406"/>
            <a:ext cx="3317240" cy="659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882139" algn="l"/>
                <a:tab pos="2618105" algn="l"/>
              </a:tabLst>
            </a:pPr>
            <a:r>
              <a:rPr sz="1950" i="1" dirty="0">
                <a:solidFill>
                  <a:srgbClr val="9E9ADB"/>
                </a:solidFill>
                <a:latin typeface="Courier New"/>
                <a:cs typeface="Courier New"/>
              </a:rPr>
              <a:t>Note:</a:t>
            </a:r>
            <a:r>
              <a:rPr sz="1950" i="1" spc="175" dirty="0">
                <a:solidFill>
                  <a:srgbClr val="9E9ADB"/>
                </a:solidFill>
                <a:latin typeface="Courier New"/>
                <a:cs typeface="Courier New"/>
              </a:rPr>
              <a:t> </a:t>
            </a:r>
            <a:r>
              <a:rPr sz="1950" i="1" spc="45" dirty="0">
                <a:solidFill>
                  <a:srgbClr val="9E9ADB"/>
                </a:solidFill>
                <a:latin typeface="Courier New"/>
                <a:cs typeface="Courier New"/>
              </a:rPr>
              <a:t>this</a:t>
            </a:r>
            <a:r>
              <a:rPr sz="1950" i="1" dirty="0">
                <a:solidFill>
                  <a:srgbClr val="9E9ADB"/>
                </a:solidFill>
                <a:latin typeface="Courier New"/>
                <a:cs typeface="Courier New"/>
              </a:rPr>
              <a:t>	</a:t>
            </a:r>
            <a:r>
              <a:rPr sz="6225" spc="-577" baseline="-26773" dirty="0">
                <a:solidFill>
                  <a:srgbClr val="030303"/>
                </a:solidFill>
                <a:latin typeface="Arial"/>
                <a:cs typeface="Arial"/>
              </a:rPr>
              <a:t>-</a:t>
            </a:r>
            <a:r>
              <a:rPr sz="3400" spc="90" dirty="0">
                <a:solidFill>
                  <a:srgbClr val="030303"/>
                </a:solidFill>
                <a:latin typeface="Times New Roman"/>
                <a:cs typeface="Times New Roman"/>
              </a:rPr>
              <a:t>i£</a:t>
            </a:r>
            <a:r>
              <a:rPr sz="3400" dirty="0">
                <a:solidFill>
                  <a:srgbClr val="030303"/>
                </a:solidFill>
                <a:latin typeface="Times New Roman"/>
                <a:cs typeface="Times New Roman"/>
              </a:rPr>
              <a:t>	</a:t>
            </a:r>
            <a:r>
              <a:rPr sz="2000" spc="80" dirty="0">
                <a:solidFill>
                  <a:srgbClr val="030303"/>
                </a:solidFill>
                <a:latin typeface="Arial"/>
                <a:cs typeface="Arial"/>
              </a:rPr>
              <a:t>(d</a:t>
            </a:r>
            <a:r>
              <a:rPr sz="2000" spc="36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000" spc="35" dirty="0">
                <a:solidFill>
                  <a:srgbClr val="030303"/>
                </a:solidFill>
                <a:latin typeface="Arial"/>
                <a:cs typeface="Arial"/>
              </a:rPr>
              <a:t>[v]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22862" y="5433793"/>
            <a:ext cx="947419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0525" algn="l"/>
              </a:tabLst>
            </a:pPr>
            <a:r>
              <a:rPr sz="2700" spc="90" dirty="0">
                <a:solidFill>
                  <a:srgbClr val="030303"/>
                </a:solidFill>
                <a:latin typeface="Arial"/>
                <a:cs typeface="Arial"/>
              </a:rPr>
              <a:t>&gt;</a:t>
            </a:r>
            <a:r>
              <a:rPr sz="27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000" spc="100" dirty="0">
                <a:solidFill>
                  <a:srgbClr val="030303"/>
                </a:solidFill>
                <a:latin typeface="Arial"/>
                <a:cs typeface="Arial"/>
              </a:rPr>
              <a:t>d</a:t>
            </a:r>
            <a:r>
              <a:rPr sz="2000" spc="5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000" spc="35" dirty="0">
                <a:solidFill>
                  <a:srgbClr val="030303"/>
                </a:solidFill>
                <a:latin typeface="Arial"/>
                <a:cs typeface="Arial"/>
              </a:rPr>
              <a:t>[u]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39106" y="5465583"/>
            <a:ext cx="120586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0115" algn="l"/>
              </a:tabLst>
            </a:pPr>
            <a:r>
              <a:rPr sz="2450" spc="-150" dirty="0">
                <a:solidFill>
                  <a:srgbClr val="030303"/>
                </a:solidFill>
                <a:latin typeface="Times New Roman"/>
                <a:cs typeface="Times New Roman"/>
              </a:rPr>
              <a:t>+w</a:t>
            </a:r>
            <a:r>
              <a:rPr sz="2450" spc="-190" dirty="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30303"/>
                </a:solidFill>
                <a:latin typeface="Arial"/>
                <a:cs typeface="Arial"/>
              </a:rPr>
              <a:t>(u,</a:t>
            </a:r>
            <a:r>
              <a:rPr sz="20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000" spc="-50" dirty="0">
                <a:solidFill>
                  <a:srgbClr val="030303"/>
                </a:solidFill>
                <a:latin typeface="Arial"/>
                <a:cs typeface="Arial"/>
              </a:rPr>
              <a:t>v))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72407" y="6041166"/>
            <a:ext cx="134620" cy="0"/>
          </a:xfrm>
          <a:custGeom>
            <a:avLst/>
            <a:gdLst/>
            <a:ahLst/>
            <a:cxnLst/>
            <a:rect l="l" t="t" r="r" b="b"/>
            <a:pathLst>
              <a:path w="134619">
                <a:moveTo>
                  <a:pt x="0" y="0"/>
                </a:moveTo>
                <a:lnTo>
                  <a:pt x="134468" y="0"/>
                </a:lnTo>
              </a:path>
            </a:pathLst>
          </a:custGeom>
          <a:ln w="12716">
            <a:solidFill>
              <a:srgbClr val="03030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23250" y="5924117"/>
            <a:ext cx="1588770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100" dirty="0">
                <a:solidFill>
                  <a:srgbClr val="9E9ADB"/>
                </a:solidFill>
                <a:latin typeface="Courier New"/>
                <a:cs typeface="Courier New"/>
              </a:rPr>
              <a:t>is</a:t>
            </a:r>
            <a:r>
              <a:rPr sz="1950" i="1" spc="-120" dirty="0">
                <a:solidFill>
                  <a:srgbClr val="9E9ADB"/>
                </a:solidFill>
                <a:latin typeface="Courier New"/>
                <a:cs typeface="Courier New"/>
              </a:rPr>
              <a:t> </a:t>
            </a:r>
            <a:r>
              <a:rPr sz="1950" i="1" spc="45" dirty="0">
                <a:solidFill>
                  <a:srgbClr val="9E9ADB"/>
                </a:solidFill>
                <a:latin typeface="Courier New"/>
                <a:cs typeface="Courier New"/>
              </a:rPr>
              <a:t>reallya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30831" y="5911401"/>
            <a:ext cx="546735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solidFill>
                  <a:srgbClr val="030303"/>
                </a:solidFill>
                <a:latin typeface="Arial"/>
                <a:cs typeface="Arial"/>
              </a:rPr>
              <a:t>d</a:t>
            </a:r>
            <a:r>
              <a:rPr sz="2050" spc="17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30303"/>
                </a:solidFill>
                <a:latin typeface="Arial"/>
                <a:cs typeface="Arial"/>
              </a:rPr>
              <a:t>[v]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7451" y="5860536"/>
            <a:ext cx="252285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7350" algn="l"/>
                <a:tab pos="1134745" algn="l"/>
                <a:tab pos="2033905" algn="l"/>
                <a:tab pos="2446020" algn="l"/>
              </a:tabLst>
            </a:pPr>
            <a:r>
              <a:rPr sz="2300" spc="-50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3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050" dirty="0">
                <a:solidFill>
                  <a:srgbClr val="030303"/>
                </a:solidFill>
                <a:latin typeface="Arial"/>
                <a:cs typeface="Arial"/>
              </a:rPr>
              <a:t>d</a:t>
            </a:r>
            <a:r>
              <a:rPr sz="2050" spc="175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30303"/>
                </a:solidFill>
                <a:latin typeface="Arial"/>
                <a:cs typeface="Arial"/>
              </a:rPr>
              <a:t>[u]</a:t>
            </a:r>
            <a:r>
              <a:rPr sz="20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450" spc="-185" dirty="0">
                <a:solidFill>
                  <a:srgbClr val="030303"/>
                </a:solidFill>
                <a:latin typeface="Times New Roman"/>
                <a:cs typeface="Times New Roman"/>
              </a:rPr>
              <a:t>+w</a:t>
            </a:r>
            <a:r>
              <a:rPr sz="2450" spc="-125" dirty="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30303"/>
                </a:solidFill>
                <a:latin typeface="Arial"/>
                <a:cs typeface="Arial"/>
              </a:rPr>
              <a:t>(u,</a:t>
            </a:r>
            <a:r>
              <a:rPr sz="20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030303"/>
                </a:solidFill>
                <a:latin typeface="Arial"/>
                <a:cs typeface="Arial"/>
              </a:rPr>
              <a:t>v)</a:t>
            </a:r>
            <a:r>
              <a:rPr sz="20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000" spc="-50" dirty="0">
                <a:solidFill>
                  <a:srgbClr val="030303"/>
                </a:solidFill>
                <a:latin typeface="Arial"/>
                <a:cs typeface="Arial"/>
              </a:rPr>
              <a:t>;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7059" y="6157498"/>
            <a:ext cx="3722370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50" dirty="0">
                <a:solidFill>
                  <a:srgbClr val="9E9ADB"/>
                </a:solidFill>
                <a:latin typeface="Courier New"/>
                <a:cs typeface="Courier New"/>
              </a:rPr>
              <a:t>call</a:t>
            </a:r>
            <a:r>
              <a:rPr sz="1950" i="1" spc="-30" dirty="0">
                <a:solidFill>
                  <a:srgbClr val="9E9ADB"/>
                </a:solidFill>
                <a:latin typeface="Courier New"/>
                <a:cs typeface="Courier New"/>
              </a:rPr>
              <a:t> </a:t>
            </a:r>
            <a:r>
              <a:rPr sz="1950" i="1" spc="55" dirty="0">
                <a:solidFill>
                  <a:srgbClr val="9E9ADB"/>
                </a:solidFill>
                <a:latin typeface="Courier New"/>
                <a:cs typeface="Courier New"/>
              </a:rPr>
              <a:t>to</a:t>
            </a:r>
            <a:r>
              <a:rPr sz="1950" i="1" spc="-35" dirty="0">
                <a:solidFill>
                  <a:srgbClr val="9E9ADB"/>
                </a:solidFill>
                <a:latin typeface="Courier New"/>
                <a:cs typeface="Courier New"/>
              </a:rPr>
              <a:t> </a:t>
            </a:r>
            <a:r>
              <a:rPr sz="1950" i="1" dirty="0">
                <a:solidFill>
                  <a:srgbClr val="9E9ADB"/>
                </a:solidFill>
                <a:latin typeface="Courier New"/>
                <a:cs typeface="Courier New"/>
              </a:rPr>
              <a:t>Q-</a:t>
            </a:r>
            <a:r>
              <a:rPr sz="1950" i="1" spc="-10" dirty="0">
                <a:solidFill>
                  <a:srgbClr val="9E9ADB"/>
                </a:solidFill>
                <a:latin typeface="Courier New"/>
                <a:cs typeface="Courier New"/>
              </a:rPr>
              <a:t>&gt;DecreaseKey()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20515" y="5092323"/>
            <a:ext cx="1852295" cy="752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6510" marR="5080" indent="-4445">
              <a:lnSpc>
                <a:spcPct val="102800"/>
              </a:lnSpc>
              <a:spcBef>
                <a:spcPts val="25"/>
              </a:spcBef>
            </a:pPr>
            <a:r>
              <a:rPr sz="2350" i="1" spc="-10" dirty="0">
                <a:solidFill>
                  <a:srgbClr val="9E9ADB"/>
                </a:solidFill>
                <a:latin typeface="Courier New"/>
                <a:cs typeface="Courier New"/>
              </a:rPr>
              <a:t>Relaxation </a:t>
            </a:r>
            <a:r>
              <a:rPr sz="2350" i="1" spc="30" dirty="0">
                <a:solidFill>
                  <a:srgbClr val="9E9ADB"/>
                </a:solidFill>
                <a:latin typeface="Courier New"/>
                <a:cs typeface="Courier New"/>
              </a:rPr>
              <a:t>Step</a:t>
            </a:r>
            <a:endParaRPr sz="23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503" y="0"/>
            <a:ext cx="6024190" cy="50285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33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300" spc="-165" dirty="0">
                <a:solidFill>
                  <a:srgbClr val="030303"/>
                </a:solidFill>
              </a:rPr>
              <a:t>Dijkstra's</a:t>
            </a:r>
            <a:r>
              <a:rPr sz="4300" spc="-85" dirty="0">
                <a:solidFill>
                  <a:srgbClr val="030303"/>
                </a:solidFill>
              </a:rPr>
              <a:t> </a:t>
            </a:r>
            <a:r>
              <a:rPr sz="4300" spc="-265" dirty="0">
                <a:solidFill>
                  <a:srgbClr val="030303"/>
                </a:solidFill>
              </a:rPr>
              <a:t>Algorithm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511158" y="1941678"/>
            <a:ext cx="20548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spc="-10" dirty="0">
                <a:solidFill>
                  <a:srgbClr val="030303"/>
                </a:solidFill>
                <a:latin typeface="Courier New"/>
                <a:cs typeface="Courier New"/>
              </a:rPr>
              <a:t>Dijkstra(G)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7271" y="2390488"/>
            <a:ext cx="264795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spc="95" dirty="0">
                <a:solidFill>
                  <a:srgbClr val="030303"/>
                </a:solidFill>
                <a:latin typeface="Courier New"/>
                <a:cs typeface="Courier New"/>
              </a:rPr>
              <a:t>for</a:t>
            </a:r>
            <a:r>
              <a:rPr sz="2350" spc="-16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each</a:t>
            </a:r>
            <a:r>
              <a:rPr sz="2350" spc="-17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70" dirty="0">
                <a:solidFill>
                  <a:srgbClr val="030303"/>
                </a:solidFill>
                <a:latin typeface="Courier New"/>
                <a:cs typeface="Courier New"/>
              </a:rPr>
              <a:t>v</a:t>
            </a:r>
            <a:r>
              <a:rPr sz="2350" spc="18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70" dirty="0">
                <a:solidFill>
                  <a:srgbClr val="030303"/>
                </a:solidFill>
                <a:latin typeface="Courier New"/>
                <a:cs typeface="Courier New"/>
              </a:rPr>
              <a:t>e</a:t>
            </a:r>
            <a:r>
              <a:rPr sz="2350" spc="4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050" spc="20" dirty="0">
                <a:solidFill>
                  <a:srgbClr val="030303"/>
                </a:solidFill>
                <a:latin typeface="Times New Roman"/>
                <a:cs typeface="Times New Roman"/>
              </a:rPr>
              <a:t>V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8277" y="2722233"/>
            <a:ext cx="17056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03020" algn="l"/>
              </a:tabLst>
            </a:pPr>
            <a:r>
              <a:rPr sz="2350" spc="80" dirty="0">
                <a:solidFill>
                  <a:srgbClr val="030303"/>
                </a:solidFill>
                <a:latin typeface="Courier New"/>
                <a:cs typeface="Courier New"/>
              </a:rPr>
              <a:t>d[v]</a:t>
            </a:r>
            <a:r>
              <a:rPr sz="2350" spc="-9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3200" spc="-395" dirty="0">
                <a:solidFill>
                  <a:srgbClr val="030303"/>
                </a:solidFill>
                <a:latin typeface="Times New Roman"/>
                <a:cs typeface="Times New Roman"/>
              </a:rPr>
              <a:t>=</a:t>
            </a:r>
            <a:r>
              <a:rPr sz="3200" dirty="0">
                <a:solidFill>
                  <a:srgbClr val="030303"/>
                </a:solidFill>
                <a:latin typeface="Times New Roman"/>
                <a:cs typeface="Times New Roman"/>
              </a:rPr>
              <a:t>	</a:t>
            </a:r>
            <a:r>
              <a:rPr sz="2150" spc="-80" dirty="0">
                <a:solidFill>
                  <a:srgbClr val="111111"/>
                </a:solidFill>
                <a:latin typeface="Times New Roman"/>
                <a:cs typeface="Times New Roman"/>
              </a:rPr>
              <a:t>oo,·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66934" y="1786464"/>
            <a:ext cx="4654550" cy="18669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864235" marR="112395" indent="-5080">
              <a:lnSpc>
                <a:spcPts val="2900"/>
              </a:lnSpc>
              <a:spcBef>
                <a:spcPts val="80"/>
              </a:spcBef>
            </a:pPr>
            <a:r>
              <a:rPr sz="2300" i="1" spc="105" dirty="0">
                <a:solidFill>
                  <a:srgbClr val="9C97E2"/>
                </a:solidFill>
                <a:latin typeface="Courier New"/>
                <a:cs typeface="Courier New"/>
              </a:rPr>
              <a:t>How</a:t>
            </a:r>
            <a:r>
              <a:rPr sz="2300" i="1" spc="-145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75" dirty="0">
                <a:solidFill>
                  <a:srgbClr val="9C97E2"/>
                </a:solidFill>
                <a:latin typeface="Courier New"/>
                <a:cs typeface="Courier New"/>
              </a:rPr>
              <a:t>many</a:t>
            </a:r>
            <a:r>
              <a:rPr sz="2300" i="1" spc="20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50" dirty="0">
                <a:solidFill>
                  <a:srgbClr val="9C97E2"/>
                </a:solidFill>
                <a:latin typeface="Courier New"/>
                <a:cs typeface="Courier New"/>
              </a:rPr>
              <a:t>times</a:t>
            </a:r>
            <a:r>
              <a:rPr sz="2300" i="1" spc="5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90" dirty="0">
                <a:solidFill>
                  <a:srgbClr val="9C97E2"/>
                </a:solidFill>
                <a:latin typeface="Courier New"/>
                <a:cs typeface="Courier New"/>
              </a:rPr>
              <a:t>is </a:t>
            </a:r>
            <a:r>
              <a:rPr sz="2300" i="1" dirty="0">
                <a:solidFill>
                  <a:srgbClr val="9C97E2"/>
                </a:solidFill>
                <a:latin typeface="Courier New"/>
                <a:cs typeface="Courier New"/>
              </a:rPr>
              <a:t>ExtractMin()</a:t>
            </a:r>
            <a:r>
              <a:rPr sz="2300" i="1" spc="-400" dirty="0">
                <a:solidFill>
                  <a:srgbClr val="9C97E2"/>
                </a:solidFill>
                <a:latin typeface="Courier New"/>
                <a:cs typeface="Courier New"/>
              </a:rPr>
              <a:t>  </a:t>
            </a:r>
            <a:r>
              <a:rPr sz="2300" i="1" spc="40" dirty="0">
                <a:solidFill>
                  <a:srgbClr val="9C97E2"/>
                </a:solidFill>
                <a:latin typeface="Courier New"/>
                <a:cs typeface="Courier New"/>
              </a:rPr>
              <a:t>called?</a:t>
            </a:r>
            <a:endParaRPr sz="2300">
              <a:latin typeface="Courier New"/>
              <a:cs typeface="Courier New"/>
            </a:endParaRPr>
          </a:p>
          <a:p>
            <a:pPr marL="781685" marR="5080" indent="-3175">
              <a:lnSpc>
                <a:spcPct val="105000"/>
              </a:lnSpc>
              <a:spcBef>
                <a:spcPts val="160"/>
              </a:spcBef>
            </a:pPr>
            <a:r>
              <a:rPr sz="2300" i="1" spc="105" dirty="0">
                <a:solidFill>
                  <a:srgbClr val="9C97E2"/>
                </a:solidFill>
                <a:latin typeface="Courier New"/>
                <a:cs typeface="Courier New"/>
              </a:rPr>
              <a:t>How</a:t>
            </a:r>
            <a:r>
              <a:rPr sz="2300" i="1" spc="-70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75" dirty="0">
                <a:solidFill>
                  <a:srgbClr val="9C97E2"/>
                </a:solidFill>
                <a:latin typeface="Courier New"/>
                <a:cs typeface="Courier New"/>
              </a:rPr>
              <a:t>many</a:t>
            </a:r>
            <a:r>
              <a:rPr sz="2300" i="1" spc="-50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75" dirty="0">
                <a:solidFill>
                  <a:srgbClr val="9C97E2"/>
                </a:solidFill>
                <a:latin typeface="Courier New"/>
                <a:cs typeface="Courier New"/>
              </a:rPr>
              <a:t>times</a:t>
            </a:r>
            <a:r>
              <a:rPr sz="2300" i="1" spc="-60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80" dirty="0">
                <a:solidFill>
                  <a:srgbClr val="9C97E2"/>
                </a:solidFill>
                <a:latin typeface="Courier New"/>
                <a:cs typeface="Courier New"/>
              </a:rPr>
              <a:t>is </a:t>
            </a:r>
            <a:r>
              <a:rPr sz="2300" i="1" dirty="0">
                <a:solidFill>
                  <a:srgbClr val="9C97E2"/>
                </a:solidFill>
                <a:latin typeface="Courier New"/>
                <a:cs typeface="Courier New"/>
              </a:rPr>
              <a:t>DecreaseKey()</a:t>
            </a:r>
            <a:r>
              <a:rPr sz="2300" i="1" spc="-350" dirty="0">
                <a:solidFill>
                  <a:srgbClr val="9C97E2"/>
                </a:solidFill>
                <a:latin typeface="Courier New"/>
                <a:cs typeface="Courier New"/>
              </a:rPr>
              <a:t>  </a:t>
            </a:r>
            <a:r>
              <a:rPr sz="2300" i="1" spc="40" dirty="0">
                <a:solidFill>
                  <a:srgbClr val="9C97E2"/>
                </a:solidFill>
                <a:latin typeface="Courier New"/>
                <a:cs typeface="Courier New"/>
              </a:rPr>
              <a:t>called?</a:t>
            </a:r>
            <a:endParaRPr sz="2300">
              <a:latin typeface="Courier New"/>
              <a:cs typeface="Courier New"/>
            </a:endParaRPr>
          </a:p>
          <a:p>
            <a:pPr marL="12700">
              <a:lnSpc>
                <a:spcPts val="2755"/>
              </a:lnSpc>
              <a:tabLst>
                <a:tab pos="749935" algn="l"/>
              </a:tabLst>
            </a:pPr>
            <a:r>
              <a:rPr sz="2250" b="1" spc="65" dirty="0">
                <a:solidFill>
                  <a:srgbClr val="030303"/>
                </a:solidFill>
                <a:latin typeface="Courier New"/>
                <a:cs typeface="Courier New"/>
              </a:rPr>
              <a:t>Q</a:t>
            </a:r>
            <a:r>
              <a:rPr sz="2250" b="1" spc="2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00" spc="15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3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250" b="1" spc="75" dirty="0">
                <a:solidFill>
                  <a:srgbClr val="030303"/>
                </a:solidFill>
                <a:latin typeface="Courier New"/>
                <a:cs typeface="Courier New"/>
              </a:rPr>
              <a:t>V;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0531" y="3155522"/>
            <a:ext cx="3921760" cy="136969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755"/>
              </a:spcBef>
              <a:tabLst>
                <a:tab pos="1297940" algn="l"/>
                <a:tab pos="2583815" algn="l"/>
              </a:tabLst>
            </a:pP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d[s]</a:t>
            </a:r>
            <a:r>
              <a:rPr sz="2350" spc="-17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00" spc="15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3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0;</a:t>
            </a:r>
            <a:r>
              <a:rPr sz="2350" spc="-4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70" dirty="0">
                <a:solidFill>
                  <a:srgbClr val="030303"/>
                </a:solidFill>
                <a:latin typeface="Courier New"/>
                <a:cs typeface="Courier New"/>
              </a:rPr>
              <a:t>S</a:t>
            </a:r>
            <a:r>
              <a:rPr sz="2350" spc="-6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00" spc="15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3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srgbClr val="111111"/>
                </a:solidFill>
                <a:latin typeface="Times New Roman"/>
                <a:cs typeface="Times New Roman"/>
              </a:rPr>
              <a:t>0;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  <a:tabLst>
                <a:tab pos="2028825" algn="l"/>
              </a:tabLst>
            </a:pPr>
            <a:r>
              <a:rPr sz="2350" dirty="0">
                <a:solidFill>
                  <a:srgbClr val="030303"/>
                </a:solidFill>
                <a:latin typeface="Courier New"/>
                <a:cs typeface="Courier New"/>
              </a:rPr>
              <a:t>while</a:t>
            </a:r>
            <a:r>
              <a:rPr sz="2350" spc="12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030303"/>
                </a:solidFill>
                <a:latin typeface="Courier New"/>
                <a:cs typeface="Courier New"/>
              </a:rPr>
              <a:t>(Q</a:t>
            </a:r>
            <a:r>
              <a:rPr sz="2350" spc="-32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30303"/>
                </a:solidFill>
                <a:latin typeface="Arial"/>
                <a:cs typeface="Arial"/>
              </a:rPr>
              <a:t>¢	</a:t>
            </a:r>
            <a:r>
              <a:rPr sz="2000" spc="30" dirty="0">
                <a:solidFill>
                  <a:srgbClr val="111111"/>
                </a:solidFill>
                <a:latin typeface="Arial"/>
                <a:cs typeface="Arial"/>
              </a:rPr>
              <a:t>0)</a:t>
            </a:r>
            <a:endParaRPr sz="2000">
              <a:latin typeface="Arial"/>
              <a:cs typeface="Arial"/>
            </a:endParaRPr>
          </a:p>
          <a:p>
            <a:pPr marL="565785">
              <a:lnSpc>
                <a:spcPct val="100000"/>
              </a:lnSpc>
              <a:spcBef>
                <a:spcPts val="575"/>
              </a:spcBef>
              <a:tabLst>
                <a:tab pos="1301115" algn="l"/>
              </a:tabLst>
            </a:pPr>
            <a:r>
              <a:rPr sz="2350" spc="95" dirty="0">
                <a:solidFill>
                  <a:srgbClr val="030303"/>
                </a:solidFill>
                <a:latin typeface="Courier New"/>
                <a:cs typeface="Courier New"/>
              </a:rPr>
              <a:t>u</a:t>
            </a:r>
            <a:r>
              <a:rPr sz="2350" spc="-6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3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350" spc="-10" dirty="0">
                <a:solidFill>
                  <a:srgbClr val="030303"/>
                </a:solidFill>
                <a:latin typeface="Courier New"/>
                <a:cs typeface="Courier New"/>
              </a:rPr>
              <a:t>ExtractMin(Q);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5634" y="4485541"/>
            <a:ext cx="6644005" cy="212090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116330">
              <a:lnSpc>
                <a:spcPct val="100000"/>
              </a:lnSpc>
              <a:spcBef>
                <a:spcPts val="819"/>
              </a:spcBef>
              <a:tabLst>
                <a:tab pos="1474470" algn="l"/>
                <a:tab pos="1851660" algn="l"/>
                <a:tab pos="2210435" algn="l"/>
                <a:tab pos="2638425" algn="l"/>
              </a:tabLst>
            </a:pPr>
            <a:r>
              <a:rPr sz="2050" spc="-50" dirty="0">
                <a:solidFill>
                  <a:srgbClr val="030303"/>
                </a:solidFill>
                <a:latin typeface="Times New Roman"/>
                <a:cs typeface="Times New Roman"/>
              </a:rPr>
              <a:t>S</a:t>
            </a:r>
            <a:r>
              <a:rPr sz="2050" dirty="0">
                <a:solidFill>
                  <a:srgbClr val="030303"/>
                </a:solidFill>
                <a:latin typeface="Times New Roman"/>
                <a:cs typeface="Times New Roman"/>
              </a:rPr>
              <a:t>	</a:t>
            </a:r>
            <a:r>
              <a:rPr sz="2300" spc="-50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3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050" spc="-50" dirty="0">
                <a:solidFill>
                  <a:srgbClr val="030303"/>
                </a:solidFill>
                <a:latin typeface="Times New Roman"/>
                <a:cs typeface="Times New Roman"/>
              </a:rPr>
              <a:t>S</a:t>
            </a:r>
            <a:r>
              <a:rPr sz="2050" dirty="0">
                <a:solidFill>
                  <a:srgbClr val="030303"/>
                </a:solidFill>
                <a:latin typeface="Times New Roman"/>
                <a:cs typeface="Times New Roman"/>
              </a:rPr>
              <a:t>	</a:t>
            </a:r>
            <a:r>
              <a:rPr sz="2450" dirty="0">
                <a:solidFill>
                  <a:srgbClr val="030303"/>
                </a:solidFill>
                <a:latin typeface="Arial"/>
                <a:cs typeface="Arial"/>
              </a:rPr>
              <a:t>U	</a:t>
            </a:r>
            <a:r>
              <a:rPr sz="2050" spc="500" dirty="0">
                <a:solidFill>
                  <a:srgbClr val="030303"/>
                </a:solidFill>
                <a:latin typeface="Times New Roman"/>
                <a:cs typeface="Times New Roman"/>
              </a:rPr>
              <a:t>{u};</a:t>
            </a:r>
            <a:endParaRPr sz="2050">
              <a:latin typeface="Times New Roman"/>
              <a:cs typeface="Times New Roman"/>
            </a:endParaRPr>
          </a:p>
          <a:p>
            <a:pPr marR="518795" algn="ctr">
              <a:lnSpc>
                <a:spcPct val="100000"/>
              </a:lnSpc>
              <a:spcBef>
                <a:spcPts val="695"/>
              </a:spcBef>
            </a:pP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for</a:t>
            </a:r>
            <a:r>
              <a:rPr sz="2350" spc="-14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each</a:t>
            </a:r>
            <a:r>
              <a:rPr sz="2350" spc="-8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70" dirty="0">
                <a:solidFill>
                  <a:srgbClr val="030303"/>
                </a:solidFill>
                <a:latin typeface="Courier New"/>
                <a:cs typeface="Courier New"/>
              </a:rPr>
              <a:t>v</a:t>
            </a:r>
            <a:r>
              <a:rPr sz="2350" spc="12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70" dirty="0">
                <a:solidFill>
                  <a:srgbClr val="030303"/>
                </a:solidFill>
                <a:latin typeface="Courier New"/>
                <a:cs typeface="Courier New"/>
              </a:rPr>
              <a:t>e</a:t>
            </a:r>
            <a:r>
              <a:rPr sz="2350" spc="114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030303"/>
                </a:solidFill>
                <a:latin typeface="Courier New"/>
                <a:cs typeface="Courier New"/>
              </a:rPr>
              <a:t>u-</a:t>
            </a:r>
            <a:r>
              <a:rPr sz="2350" spc="-10" dirty="0">
                <a:solidFill>
                  <a:srgbClr val="030303"/>
                </a:solidFill>
                <a:latin typeface="Courier New"/>
                <a:cs typeface="Courier New"/>
              </a:rPr>
              <a:t>&gt;Adj[]</a:t>
            </a:r>
            <a:endParaRPr sz="2350">
              <a:latin typeface="Courier New"/>
              <a:cs typeface="Courier New"/>
            </a:endParaRPr>
          </a:p>
          <a:p>
            <a:pPr marL="887094" algn="ctr">
              <a:lnSpc>
                <a:spcPct val="100000"/>
              </a:lnSpc>
              <a:spcBef>
                <a:spcPts val="575"/>
              </a:spcBef>
            </a:pPr>
            <a:r>
              <a:rPr sz="2350" spc="110" dirty="0">
                <a:solidFill>
                  <a:srgbClr val="030303"/>
                </a:solidFill>
                <a:latin typeface="Courier New"/>
                <a:cs typeface="Courier New"/>
              </a:rPr>
              <a:t>if</a:t>
            </a:r>
            <a:r>
              <a:rPr sz="2350" spc="-10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030303"/>
                </a:solidFill>
                <a:latin typeface="Courier New"/>
                <a:cs typeface="Courier New"/>
              </a:rPr>
              <a:t>(d[v]</a:t>
            </a:r>
            <a:r>
              <a:rPr sz="2350" spc="-3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030303"/>
                </a:solidFill>
                <a:latin typeface="Courier New"/>
                <a:cs typeface="Courier New"/>
              </a:rPr>
              <a:t>&gt;</a:t>
            </a:r>
            <a:r>
              <a:rPr sz="2350" spc="13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-10" dirty="0">
                <a:solidFill>
                  <a:srgbClr val="030303"/>
                </a:solidFill>
                <a:latin typeface="Courier New"/>
                <a:cs typeface="Courier New"/>
              </a:rPr>
              <a:t>d[u]+w(u,v))</a:t>
            </a:r>
            <a:endParaRPr sz="2350">
              <a:latin typeface="Courier New"/>
              <a:cs typeface="Courier New"/>
            </a:endParaRPr>
          </a:p>
          <a:p>
            <a:pPr marL="1245870" algn="ctr">
              <a:lnSpc>
                <a:spcPts val="2670"/>
              </a:lnSpc>
              <a:spcBef>
                <a:spcPts val="640"/>
              </a:spcBef>
              <a:tabLst>
                <a:tab pos="2527935" algn="l"/>
              </a:tabLst>
            </a:pP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d[v]</a:t>
            </a:r>
            <a:r>
              <a:rPr sz="2350" spc="-17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00" spc="15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3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350" spc="-10" dirty="0">
                <a:solidFill>
                  <a:srgbClr val="030303"/>
                </a:solidFill>
                <a:latin typeface="Courier New"/>
                <a:cs typeface="Courier New"/>
              </a:rPr>
              <a:t>d[u]+w(u,v);</a:t>
            </a:r>
            <a:endParaRPr sz="2350">
              <a:latin typeface="Courier New"/>
              <a:cs typeface="Courier New"/>
            </a:endParaRPr>
          </a:p>
          <a:p>
            <a:pPr algn="ctr">
              <a:lnSpc>
                <a:spcPts val="2610"/>
              </a:lnSpc>
            </a:pPr>
            <a:r>
              <a:rPr sz="2300" i="1" spc="90" dirty="0">
                <a:solidFill>
                  <a:srgbClr val="9C97E2"/>
                </a:solidFill>
                <a:latin typeface="Courier New"/>
                <a:cs typeface="Courier New"/>
              </a:rPr>
              <a:t>What</a:t>
            </a:r>
            <a:r>
              <a:rPr sz="2300" i="1" spc="-125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65" dirty="0">
                <a:solidFill>
                  <a:srgbClr val="9C97E2"/>
                </a:solidFill>
                <a:latin typeface="Courier New"/>
                <a:cs typeface="Courier New"/>
              </a:rPr>
              <a:t>will</a:t>
            </a:r>
            <a:r>
              <a:rPr sz="2300" i="1" spc="-40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65" dirty="0">
                <a:solidFill>
                  <a:srgbClr val="9C97E2"/>
                </a:solidFill>
                <a:latin typeface="Courier New"/>
                <a:cs typeface="Courier New"/>
              </a:rPr>
              <a:t>be</a:t>
            </a:r>
            <a:r>
              <a:rPr sz="2300" i="1" spc="40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120" dirty="0">
                <a:solidFill>
                  <a:srgbClr val="9C97E2"/>
                </a:solidFill>
                <a:latin typeface="Courier New"/>
                <a:cs typeface="Courier New"/>
              </a:rPr>
              <a:t>the</a:t>
            </a:r>
            <a:r>
              <a:rPr sz="2300" i="1" spc="-145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65" dirty="0">
                <a:solidFill>
                  <a:srgbClr val="9C97E2"/>
                </a:solidFill>
                <a:latin typeface="Courier New"/>
                <a:cs typeface="Courier New"/>
              </a:rPr>
              <a:t>total</a:t>
            </a:r>
            <a:r>
              <a:rPr sz="2300" i="1" spc="-45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50" dirty="0">
                <a:solidFill>
                  <a:srgbClr val="9C97E2"/>
                </a:solidFill>
                <a:latin typeface="Courier New"/>
                <a:cs typeface="Courier New"/>
              </a:rPr>
              <a:t>running</a:t>
            </a:r>
            <a:r>
              <a:rPr sz="2300" i="1" spc="90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50" dirty="0">
                <a:solidFill>
                  <a:srgbClr val="9C97E2"/>
                </a:solidFill>
                <a:latin typeface="Courier New"/>
                <a:cs typeface="Courier New"/>
              </a:rPr>
              <a:t>time?</a:t>
            </a:r>
            <a:endParaRPr sz="2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503" y="0"/>
            <a:ext cx="6024190" cy="50285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33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300" spc="-165" dirty="0">
                <a:solidFill>
                  <a:srgbClr val="030303"/>
                </a:solidFill>
              </a:rPr>
              <a:t>Dijkstra's</a:t>
            </a:r>
            <a:r>
              <a:rPr sz="4300" spc="-85" dirty="0">
                <a:solidFill>
                  <a:srgbClr val="030303"/>
                </a:solidFill>
              </a:rPr>
              <a:t> </a:t>
            </a:r>
            <a:r>
              <a:rPr sz="4300" spc="-265" dirty="0">
                <a:solidFill>
                  <a:srgbClr val="030303"/>
                </a:solidFill>
              </a:rPr>
              <a:t>Algorithm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511158" y="1941678"/>
            <a:ext cx="205486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spc="-10" dirty="0">
                <a:solidFill>
                  <a:srgbClr val="030303"/>
                </a:solidFill>
                <a:latin typeface="Courier New"/>
                <a:cs typeface="Courier New"/>
              </a:rPr>
              <a:t>Dijkstra(G)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7271" y="2390488"/>
            <a:ext cx="264795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spc="95" dirty="0">
                <a:solidFill>
                  <a:srgbClr val="030303"/>
                </a:solidFill>
                <a:latin typeface="Courier New"/>
                <a:cs typeface="Courier New"/>
              </a:rPr>
              <a:t>for</a:t>
            </a:r>
            <a:r>
              <a:rPr sz="2350" spc="-16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each</a:t>
            </a:r>
            <a:r>
              <a:rPr sz="2350" spc="-17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70" dirty="0">
                <a:solidFill>
                  <a:srgbClr val="030303"/>
                </a:solidFill>
                <a:latin typeface="Courier New"/>
                <a:cs typeface="Courier New"/>
              </a:rPr>
              <a:t>v</a:t>
            </a:r>
            <a:r>
              <a:rPr sz="2350" spc="18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70" dirty="0">
                <a:solidFill>
                  <a:srgbClr val="030303"/>
                </a:solidFill>
                <a:latin typeface="Courier New"/>
                <a:cs typeface="Courier New"/>
              </a:rPr>
              <a:t>e</a:t>
            </a:r>
            <a:r>
              <a:rPr sz="2350" spc="4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050" spc="20" dirty="0">
                <a:solidFill>
                  <a:srgbClr val="030303"/>
                </a:solidFill>
                <a:latin typeface="Times New Roman"/>
                <a:cs typeface="Times New Roman"/>
              </a:rPr>
              <a:t>V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4268" y="1786464"/>
            <a:ext cx="3699510" cy="7448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7145" marR="5080" indent="-5080">
              <a:lnSpc>
                <a:spcPts val="2900"/>
              </a:lnSpc>
              <a:spcBef>
                <a:spcPts val="60"/>
              </a:spcBef>
            </a:pPr>
            <a:r>
              <a:rPr sz="2300" i="1" spc="105" dirty="0">
                <a:solidFill>
                  <a:srgbClr val="9C97E2"/>
                </a:solidFill>
                <a:latin typeface="Courier New"/>
                <a:cs typeface="Courier New"/>
              </a:rPr>
              <a:t>How</a:t>
            </a:r>
            <a:r>
              <a:rPr sz="2300" i="1" spc="-145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75" dirty="0">
                <a:solidFill>
                  <a:srgbClr val="9C97E2"/>
                </a:solidFill>
                <a:latin typeface="Courier New"/>
                <a:cs typeface="Courier New"/>
              </a:rPr>
              <a:t>many</a:t>
            </a:r>
            <a:r>
              <a:rPr sz="2300" i="1" spc="20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50" dirty="0">
                <a:solidFill>
                  <a:srgbClr val="9C97E2"/>
                </a:solidFill>
                <a:latin typeface="Courier New"/>
                <a:cs typeface="Courier New"/>
              </a:rPr>
              <a:t>times</a:t>
            </a:r>
            <a:r>
              <a:rPr sz="2300" i="1" spc="5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90" dirty="0">
                <a:solidFill>
                  <a:srgbClr val="9C97E2"/>
                </a:solidFill>
                <a:latin typeface="Courier New"/>
                <a:cs typeface="Courier New"/>
              </a:rPr>
              <a:t>is </a:t>
            </a:r>
            <a:r>
              <a:rPr sz="2300" i="1" dirty="0">
                <a:solidFill>
                  <a:srgbClr val="9C97E2"/>
                </a:solidFill>
                <a:latin typeface="Courier New"/>
                <a:cs typeface="Courier New"/>
              </a:rPr>
              <a:t>ExtractMin()</a:t>
            </a:r>
            <a:r>
              <a:rPr sz="2300" i="1" spc="-400" dirty="0">
                <a:solidFill>
                  <a:srgbClr val="9C97E2"/>
                </a:solidFill>
                <a:latin typeface="Courier New"/>
                <a:cs typeface="Courier New"/>
              </a:rPr>
              <a:t>  </a:t>
            </a:r>
            <a:r>
              <a:rPr sz="2300" i="1" spc="40" dirty="0">
                <a:solidFill>
                  <a:srgbClr val="9C97E2"/>
                </a:solidFill>
                <a:latin typeface="Courier New"/>
                <a:cs typeface="Courier New"/>
              </a:rPr>
              <a:t>called?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8277" y="2722233"/>
            <a:ext cx="15767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04290" algn="l"/>
              </a:tabLst>
            </a:pPr>
            <a:r>
              <a:rPr sz="2350" spc="80" dirty="0">
                <a:solidFill>
                  <a:srgbClr val="030303"/>
                </a:solidFill>
                <a:latin typeface="Courier New"/>
                <a:cs typeface="Courier New"/>
              </a:rPr>
              <a:t>d[v]</a:t>
            </a:r>
            <a:r>
              <a:rPr sz="2350" spc="-9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3200" spc="-395" dirty="0">
                <a:solidFill>
                  <a:srgbClr val="030303"/>
                </a:solidFill>
                <a:latin typeface="Times New Roman"/>
                <a:cs typeface="Times New Roman"/>
              </a:rPr>
              <a:t>=</a:t>
            </a:r>
            <a:r>
              <a:rPr sz="3200" dirty="0">
                <a:solidFill>
                  <a:srgbClr val="030303"/>
                </a:solidFill>
                <a:latin typeface="Times New Roman"/>
                <a:cs typeface="Times New Roman"/>
              </a:rPr>
              <a:t>	</a:t>
            </a:r>
            <a:r>
              <a:rPr sz="1950" spc="-140" dirty="0">
                <a:solidFill>
                  <a:srgbClr val="111111"/>
                </a:solidFill>
                <a:latin typeface="Times New Roman"/>
                <a:cs typeface="Times New Roman"/>
              </a:rPr>
              <a:t>oo;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63695" y="2935418"/>
            <a:ext cx="4729480" cy="735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 algn="ctr">
              <a:lnSpc>
                <a:spcPct val="100000"/>
              </a:lnSpc>
              <a:spcBef>
                <a:spcPts val="100"/>
              </a:spcBef>
            </a:pPr>
            <a:r>
              <a:rPr sz="2300" i="1" spc="75" dirty="0">
                <a:solidFill>
                  <a:srgbClr val="9C97E2"/>
                </a:solidFill>
                <a:latin typeface="Courier New"/>
                <a:cs typeface="Courier New"/>
              </a:rPr>
              <a:t>How</a:t>
            </a:r>
            <a:r>
              <a:rPr sz="2300" i="1" spc="-50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75" dirty="0">
                <a:solidFill>
                  <a:srgbClr val="9C97E2"/>
                </a:solidFill>
                <a:latin typeface="Courier New"/>
                <a:cs typeface="Courier New"/>
              </a:rPr>
              <a:t>many</a:t>
            </a:r>
            <a:r>
              <a:rPr sz="2300" i="1" spc="-50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75" dirty="0">
                <a:solidFill>
                  <a:srgbClr val="9C97E2"/>
                </a:solidFill>
                <a:latin typeface="Courier New"/>
                <a:cs typeface="Courier New"/>
              </a:rPr>
              <a:t>times</a:t>
            </a:r>
            <a:r>
              <a:rPr sz="2300" i="1" spc="-60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90" dirty="0">
                <a:solidFill>
                  <a:srgbClr val="9C97E2"/>
                </a:solidFill>
                <a:latin typeface="Courier New"/>
                <a:cs typeface="Courier New"/>
              </a:rPr>
              <a:t>is</a:t>
            </a:r>
            <a:endParaRPr sz="23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70"/>
              </a:spcBef>
              <a:tabLst>
                <a:tab pos="359410" algn="l"/>
                <a:tab pos="697865" algn="l"/>
              </a:tabLst>
            </a:pPr>
            <a:r>
              <a:rPr sz="1950" spc="20" dirty="0">
                <a:solidFill>
                  <a:srgbClr val="030303"/>
                </a:solidFill>
                <a:latin typeface="Times New Roman"/>
                <a:cs typeface="Times New Roman"/>
              </a:rPr>
              <a:t>Q</a:t>
            </a:r>
            <a:r>
              <a:rPr sz="1950" dirty="0">
                <a:solidFill>
                  <a:srgbClr val="030303"/>
                </a:solidFill>
                <a:latin typeface="Times New Roman"/>
                <a:cs typeface="Times New Roman"/>
              </a:rPr>
              <a:t>	</a:t>
            </a:r>
            <a:r>
              <a:rPr sz="2300" spc="15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3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300" i="1" spc="45" dirty="0">
                <a:solidFill>
                  <a:srgbClr val="111111"/>
                </a:solidFill>
                <a:latin typeface="Courier New"/>
                <a:cs typeface="Courier New"/>
              </a:rPr>
              <a:t>V</a:t>
            </a:r>
            <a:r>
              <a:rPr sz="2300" i="1" spc="45" dirty="0">
                <a:solidFill>
                  <a:srgbClr val="8783C3"/>
                </a:solidFill>
                <a:latin typeface="Courier New"/>
                <a:cs typeface="Courier New"/>
              </a:rPr>
              <a:t>D</a:t>
            </a:r>
            <a:r>
              <a:rPr sz="2300" i="1" spc="45" dirty="0">
                <a:solidFill>
                  <a:srgbClr val="9C97E2"/>
                </a:solidFill>
                <a:latin typeface="Courier New"/>
                <a:cs typeface="Courier New"/>
              </a:rPr>
              <a:t>ecreaseKey()</a:t>
            </a:r>
            <a:r>
              <a:rPr sz="2300" i="1" spc="-175" dirty="0">
                <a:solidFill>
                  <a:srgbClr val="9C97E2"/>
                </a:solidFill>
                <a:latin typeface="Courier New"/>
                <a:cs typeface="Courier New"/>
              </a:rPr>
              <a:t> </a:t>
            </a:r>
            <a:r>
              <a:rPr sz="2300" i="1" spc="40" dirty="0">
                <a:solidFill>
                  <a:srgbClr val="9C97E2"/>
                </a:solidFill>
                <a:latin typeface="Courier New"/>
                <a:cs typeface="Courier New"/>
              </a:rPr>
              <a:t>called?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0531" y="3193338"/>
            <a:ext cx="2869565" cy="90106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600"/>
              </a:spcBef>
              <a:tabLst>
                <a:tab pos="1297940" algn="l"/>
                <a:tab pos="2583815" algn="l"/>
              </a:tabLst>
            </a:pP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d[s]</a:t>
            </a:r>
            <a:r>
              <a:rPr sz="2350" spc="-17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00" spc="15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3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0;</a:t>
            </a:r>
            <a:r>
              <a:rPr sz="2350" spc="-4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70" dirty="0">
                <a:solidFill>
                  <a:srgbClr val="030303"/>
                </a:solidFill>
                <a:latin typeface="Courier New"/>
                <a:cs typeface="Courier New"/>
              </a:rPr>
              <a:t>S</a:t>
            </a:r>
            <a:r>
              <a:rPr sz="2350" spc="-6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00" spc="15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3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srgbClr val="111111"/>
                </a:solidFill>
                <a:latin typeface="Times New Roman"/>
                <a:cs typeface="Times New Roman"/>
              </a:rPr>
              <a:t>0;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2028825" algn="l"/>
              </a:tabLst>
            </a:pPr>
            <a:r>
              <a:rPr sz="2350" dirty="0">
                <a:solidFill>
                  <a:srgbClr val="030303"/>
                </a:solidFill>
                <a:latin typeface="Courier New"/>
                <a:cs typeface="Courier New"/>
              </a:rPr>
              <a:t>while</a:t>
            </a:r>
            <a:r>
              <a:rPr sz="2350" spc="12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030303"/>
                </a:solidFill>
                <a:latin typeface="Courier New"/>
                <a:cs typeface="Courier New"/>
              </a:rPr>
              <a:t>(Q</a:t>
            </a:r>
            <a:r>
              <a:rPr sz="2350" spc="-32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30303"/>
                </a:solidFill>
                <a:latin typeface="Arial"/>
                <a:cs typeface="Arial"/>
              </a:rPr>
              <a:t>¢	</a:t>
            </a:r>
            <a:r>
              <a:rPr sz="2000" spc="30" dirty="0">
                <a:solidFill>
                  <a:srgbClr val="111111"/>
                </a:solidFill>
                <a:latin typeface="Arial"/>
                <a:cs typeface="Arial"/>
              </a:rPr>
              <a:t>0)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577" y="4066516"/>
            <a:ext cx="6811009" cy="255016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186180">
              <a:lnSpc>
                <a:spcPct val="100000"/>
              </a:lnSpc>
              <a:spcBef>
                <a:spcPts val="685"/>
              </a:spcBef>
              <a:tabLst>
                <a:tab pos="1922145" algn="l"/>
              </a:tabLst>
            </a:pPr>
            <a:r>
              <a:rPr sz="2350" spc="95" dirty="0">
                <a:solidFill>
                  <a:srgbClr val="030303"/>
                </a:solidFill>
                <a:latin typeface="Courier New"/>
                <a:cs typeface="Courier New"/>
              </a:rPr>
              <a:t>u</a:t>
            </a:r>
            <a:r>
              <a:rPr sz="2350" spc="-6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3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350" spc="-10" dirty="0">
                <a:solidFill>
                  <a:srgbClr val="030303"/>
                </a:solidFill>
                <a:latin typeface="Courier New"/>
                <a:cs typeface="Courier New"/>
              </a:rPr>
              <a:t>ExtractMin(Q);</a:t>
            </a:r>
            <a:endParaRPr sz="2350">
              <a:latin typeface="Courier New"/>
              <a:cs typeface="Courier New"/>
            </a:endParaRPr>
          </a:p>
          <a:p>
            <a:pPr marL="1192530">
              <a:lnSpc>
                <a:spcPct val="100000"/>
              </a:lnSpc>
              <a:spcBef>
                <a:spcPts val="615"/>
              </a:spcBef>
              <a:tabLst>
                <a:tab pos="1550670" algn="l"/>
                <a:tab pos="1927225" algn="l"/>
                <a:tab pos="2286635" algn="l"/>
                <a:tab pos="2713990" algn="l"/>
              </a:tabLst>
            </a:pPr>
            <a:r>
              <a:rPr sz="2050" spc="-50" dirty="0">
                <a:solidFill>
                  <a:srgbClr val="030303"/>
                </a:solidFill>
                <a:latin typeface="Times New Roman"/>
                <a:cs typeface="Times New Roman"/>
              </a:rPr>
              <a:t>S</a:t>
            </a:r>
            <a:r>
              <a:rPr sz="2050" dirty="0">
                <a:solidFill>
                  <a:srgbClr val="030303"/>
                </a:solidFill>
                <a:latin typeface="Times New Roman"/>
                <a:cs typeface="Times New Roman"/>
              </a:rPr>
              <a:t>	</a:t>
            </a:r>
            <a:r>
              <a:rPr sz="2300" spc="-50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3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050" spc="-50" dirty="0">
                <a:solidFill>
                  <a:srgbClr val="030303"/>
                </a:solidFill>
                <a:latin typeface="Times New Roman"/>
                <a:cs typeface="Times New Roman"/>
              </a:rPr>
              <a:t>S</a:t>
            </a:r>
            <a:r>
              <a:rPr sz="2050" dirty="0">
                <a:solidFill>
                  <a:srgbClr val="030303"/>
                </a:solidFill>
                <a:latin typeface="Times New Roman"/>
                <a:cs typeface="Times New Roman"/>
              </a:rPr>
              <a:t>	</a:t>
            </a:r>
            <a:r>
              <a:rPr sz="2450" dirty="0">
                <a:solidFill>
                  <a:srgbClr val="030303"/>
                </a:solidFill>
                <a:latin typeface="Arial"/>
                <a:cs typeface="Arial"/>
              </a:rPr>
              <a:t>U	</a:t>
            </a:r>
            <a:r>
              <a:rPr sz="2050" spc="500" dirty="0">
                <a:solidFill>
                  <a:srgbClr val="030303"/>
                </a:solidFill>
                <a:latin typeface="Times New Roman"/>
                <a:cs typeface="Times New Roman"/>
              </a:rPr>
              <a:t>{u};</a:t>
            </a:r>
            <a:endParaRPr sz="2050">
              <a:latin typeface="Times New Roman"/>
              <a:cs typeface="Times New Roman"/>
            </a:endParaRPr>
          </a:p>
          <a:p>
            <a:pPr marR="534035" algn="ctr">
              <a:lnSpc>
                <a:spcPct val="100000"/>
              </a:lnSpc>
              <a:spcBef>
                <a:spcPts val="695"/>
              </a:spcBef>
            </a:pP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for</a:t>
            </a:r>
            <a:r>
              <a:rPr sz="2350" spc="-14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each</a:t>
            </a:r>
            <a:r>
              <a:rPr sz="2350" spc="-8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70" dirty="0">
                <a:solidFill>
                  <a:srgbClr val="030303"/>
                </a:solidFill>
                <a:latin typeface="Courier New"/>
                <a:cs typeface="Courier New"/>
              </a:rPr>
              <a:t>v</a:t>
            </a:r>
            <a:r>
              <a:rPr sz="2350" spc="12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70" dirty="0">
                <a:solidFill>
                  <a:srgbClr val="030303"/>
                </a:solidFill>
                <a:latin typeface="Courier New"/>
                <a:cs typeface="Courier New"/>
              </a:rPr>
              <a:t>e</a:t>
            </a:r>
            <a:r>
              <a:rPr sz="2350" spc="114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030303"/>
                </a:solidFill>
                <a:latin typeface="Courier New"/>
                <a:cs typeface="Courier New"/>
              </a:rPr>
              <a:t>u-</a:t>
            </a:r>
            <a:r>
              <a:rPr sz="2350" spc="-10" dirty="0">
                <a:solidFill>
                  <a:srgbClr val="030303"/>
                </a:solidFill>
                <a:latin typeface="Courier New"/>
                <a:cs typeface="Courier New"/>
              </a:rPr>
              <a:t>&gt;Adj[]</a:t>
            </a:r>
            <a:endParaRPr sz="2350">
              <a:latin typeface="Courier New"/>
              <a:cs typeface="Courier New"/>
            </a:endParaRPr>
          </a:p>
          <a:p>
            <a:pPr marL="871855" algn="ctr">
              <a:lnSpc>
                <a:spcPct val="100000"/>
              </a:lnSpc>
              <a:spcBef>
                <a:spcPts val="570"/>
              </a:spcBef>
            </a:pPr>
            <a:r>
              <a:rPr sz="2350" spc="110" dirty="0">
                <a:solidFill>
                  <a:srgbClr val="030303"/>
                </a:solidFill>
                <a:latin typeface="Courier New"/>
                <a:cs typeface="Courier New"/>
              </a:rPr>
              <a:t>if</a:t>
            </a:r>
            <a:r>
              <a:rPr sz="2350" spc="-10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030303"/>
                </a:solidFill>
                <a:latin typeface="Courier New"/>
                <a:cs typeface="Courier New"/>
              </a:rPr>
              <a:t>(d[v]</a:t>
            </a:r>
            <a:r>
              <a:rPr sz="2350" spc="-3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030303"/>
                </a:solidFill>
                <a:latin typeface="Courier New"/>
                <a:cs typeface="Courier New"/>
              </a:rPr>
              <a:t>&gt;</a:t>
            </a:r>
            <a:r>
              <a:rPr sz="2350" spc="13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-10" dirty="0">
                <a:solidFill>
                  <a:srgbClr val="030303"/>
                </a:solidFill>
                <a:latin typeface="Courier New"/>
                <a:cs typeface="Courier New"/>
              </a:rPr>
              <a:t>d[u]+w(u,v))</a:t>
            </a:r>
            <a:endParaRPr sz="2350">
              <a:latin typeface="Courier New"/>
              <a:cs typeface="Courier New"/>
            </a:endParaRPr>
          </a:p>
          <a:p>
            <a:pPr marL="1230630" algn="ctr">
              <a:lnSpc>
                <a:spcPts val="2680"/>
              </a:lnSpc>
              <a:spcBef>
                <a:spcPts val="645"/>
              </a:spcBef>
              <a:tabLst>
                <a:tab pos="2512695" algn="l"/>
              </a:tabLst>
            </a:pP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d[v]</a:t>
            </a:r>
            <a:r>
              <a:rPr sz="2350" spc="-17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00" spc="15" dirty="0">
                <a:solidFill>
                  <a:srgbClr val="030303"/>
                </a:solidFill>
                <a:latin typeface="Arial"/>
                <a:cs typeface="Arial"/>
              </a:rPr>
              <a:t>=</a:t>
            </a:r>
            <a:r>
              <a:rPr sz="2300" dirty="0">
                <a:solidFill>
                  <a:srgbClr val="030303"/>
                </a:solidFill>
                <a:latin typeface="Arial"/>
                <a:cs typeface="Arial"/>
              </a:rPr>
              <a:t>	</a:t>
            </a:r>
            <a:r>
              <a:rPr sz="2350" spc="-10" dirty="0">
                <a:solidFill>
                  <a:srgbClr val="030303"/>
                </a:solidFill>
                <a:latin typeface="Courier New"/>
                <a:cs typeface="Courier New"/>
              </a:rPr>
              <a:t>d[u]+w(u,v);</a:t>
            </a:r>
            <a:endParaRPr sz="2350">
              <a:latin typeface="Courier New"/>
              <a:cs typeface="Courier New"/>
            </a:endParaRPr>
          </a:p>
          <a:p>
            <a:pPr algn="ctr">
              <a:lnSpc>
                <a:spcPts val="2680"/>
              </a:lnSpc>
            </a:pPr>
            <a:r>
              <a:rPr sz="2350" spc="80" dirty="0">
                <a:solidFill>
                  <a:srgbClr val="030303"/>
                </a:solidFill>
                <a:latin typeface="Courier New"/>
                <a:cs typeface="Courier New"/>
              </a:rPr>
              <a:t>A:</a:t>
            </a:r>
            <a:r>
              <a:rPr sz="2350" spc="-10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95" dirty="0">
                <a:solidFill>
                  <a:srgbClr val="030303"/>
                </a:solidFill>
                <a:latin typeface="Courier New"/>
                <a:cs typeface="Courier New"/>
              </a:rPr>
              <a:t>O(E</a:t>
            </a:r>
            <a:r>
              <a:rPr sz="2350" spc="-10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log</a:t>
            </a:r>
            <a:r>
              <a:rPr sz="2350" spc="-17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V)</a:t>
            </a:r>
            <a:r>
              <a:rPr sz="2350" spc="2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030303"/>
                </a:solidFill>
                <a:latin typeface="Courier New"/>
                <a:cs typeface="Courier New"/>
              </a:rPr>
              <a:t>using</a:t>
            </a:r>
            <a:r>
              <a:rPr sz="2350" spc="-3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dirty="0">
                <a:solidFill>
                  <a:srgbClr val="030303"/>
                </a:solidFill>
                <a:latin typeface="Courier New"/>
                <a:cs typeface="Courier New"/>
              </a:rPr>
              <a:t>binary</a:t>
            </a:r>
            <a:r>
              <a:rPr sz="2350" spc="45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50" dirty="0">
                <a:solidFill>
                  <a:srgbClr val="030303"/>
                </a:solidFill>
                <a:latin typeface="Courier New"/>
                <a:cs typeface="Courier New"/>
              </a:rPr>
              <a:t>heap</a:t>
            </a:r>
            <a:r>
              <a:rPr sz="2350" spc="-10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65" dirty="0">
                <a:solidFill>
                  <a:srgbClr val="030303"/>
                </a:solidFill>
                <a:latin typeface="Courier New"/>
                <a:cs typeface="Courier New"/>
              </a:rPr>
              <a:t>for</a:t>
            </a:r>
            <a:r>
              <a:rPr sz="2350" spc="-70" dirty="0">
                <a:solidFill>
                  <a:srgbClr val="030303"/>
                </a:solidFill>
                <a:latin typeface="Courier New"/>
                <a:cs typeface="Courier New"/>
              </a:rPr>
              <a:t> </a:t>
            </a:r>
            <a:r>
              <a:rPr sz="2350" spc="20" dirty="0">
                <a:solidFill>
                  <a:srgbClr val="030303"/>
                </a:solidFill>
                <a:latin typeface="Courier New"/>
                <a:cs typeface="Courier New"/>
              </a:rPr>
              <a:t>Q</a:t>
            </a:r>
            <a:endParaRPr sz="23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503" y="0"/>
            <a:ext cx="3030024" cy="5028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2040" y="2028806"/>
            <a:ext cx="2133566" cy="15618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65119" y="5098665"/>
            <a:ext cx="1954276" cy="154390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155529" y="89947"/>
            <a:ext cx="2905125" cy="0"/>
          </a:xfrm>
          <a:custGeom>
            <a:avLst/>
            <a:gdLst/>
            <a:ahLst/>
            <a:cxnLst/>
            <a:rect l="l" t="t" r="r" b="b"/>
            <a:pathLst>
              <a:path w="2905125">
                <a:moveTo>
                  <a:pt x="0" y="0"/>
                </a:moveTo>
                <a:lnTo>
                  <a:pt x="2904521" y="0"/>
                </a:lnTo>
              </a:path>
            </a:pathLst>
          </a:custGeom>
          <a:ln w="17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55529" y="332305"/>
            <a:ext cx="2295525" cy="0"/>
          </a:xfrm>
          <a:custGeom>
            <a:avLst/>
            <a:gdLst/>
            <a:ahLst/>
            <a:cxnLst/>
            <a:rect l="l" t="t" r="r" b="b"/>
            <a:pathLst>
              <a:path w="2295525">
                <a:moveTo>
                  <a:pt x="0" y="0"/>
                </a:moveTo>
                <a:lnTo>
                  <a:pt x="2294930" y="0"/>
                </a:lnTo>
              </a:path>
            </a:pathLst>
          </a:custGeom>
          <a:ln w="26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11822" y="341281"/>
            <a:ext cx="538480" cy="0"/>
          </a:xfrm>
          <a:custGeom>
            <a:avLst/>
            <a:gdLst/>
            <a:ahLst/>
            <a:cxnLst/>
            <a:rect l="l" t="t" r="r" b="b"/>
            <a:pathLst>
              <a:path w="538479">
                <a:moveTo>
                  <a:pt x="0" y="0"/>
                </a:moveTo>
                <a:lnTo>
                  <a:pt x="537873" y="0"/>
                </a:lnTo>
              </a:path>
            </a:pathLst>
          </a:custGeom>
          <a:ln w="89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44141" y="238070"/>
            <a:ext cx="7202170" cy="651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spc="-60" dirty="0">
                <a:solidFill>
                  <a:srgbClr val="050505"/>
                </a:solidFill>
              </a:rPr>
              <a:t>Step</a:t>
            </a:r>
            <a:r>
              <a:rPr sz="3800" spc="-95" dirty="0">
                <a:solidFill>
                  <a:srgbClr val="050505"/>
                </a:solidFill>
              </a:rPr>
              <a:t> </a:t>
            </a:r>
            <a:r>
              <a:rPr sz="4100" spc="-265" dirty="0">
                <a:solidFill>
                  <a:srgbClr val="050505"/>
                </a:solidFill>
                <a:latin typeface="Times New Roman"/>
                <a:cs typeface="Times New Roman"/>
              </a:rPr>
              <a:t>by</a:t>
            </a:r>
            <a:r>
              <a:rPr sz="4100" spc="10" dirty="0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sz="3800" spc="-105" dirty="0">
                <a:solidFill>
                  <a:srgbClr val="050505"/>
                </a:solidFill>
              </a:rPr>
              <a:t>Step</a:t>
            </a:r>
            <a:r>
              <a:rPr sz="3800" spc="-135" dirty="0">
                <a:solidFill>
                  <a:srgbClr val="050505"/>
                </a:solidFill>
              </a:rPr>
              <a:t> </a:t>
            </a:r>
            <a:r>
              <a:rPr sz="3800" spc="-180" dirty="0">
                <a:solidFill>
                  <a:srgbClr val="050505"/>
                </a:solidFill>
              </a:rPr>
              <a:t>operation</a:t>
            </a:r>
            <a:r>
              <a:rPr sz="3800" spc="125" dirty="0">
                <a:solidFill>
                  <a:srgbClr val="050505"/>
                </a:solidFill>
              </a:rPr>
              <a:t> </a:t>
            </a:r>
            <a:r>
              <a:rPr sz="3800" spc="-275" dirty="0">
                <a:solidFill>
                  <a:srgbClr val="050505"/>
                </a:solidFill>
              </a:rPr>
              <a:t>of</a:t>
            </a:r>
            <a:r>
              <a:rPr sz="3800" spc="15" dirty="0">
                <a:solidFill>
                  <a:srgbClr val="050505"/>
                </a:solidFill>
              </a:rPr>
              <a:t> </a:t>
            </a:r>
            <a:r>
              <a:rPr sz="3800" spc="-120" dirty="0">
                <a:solidFill>
                  <a:srgbClr val="050505"/>
                </a:solidFill>
              </a:rPr>
              <a:t>Dijkstra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4694" y="859673"/>
            <a:ext cx="1980564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b="1" spc="-215" dirty="0">
                <a:solidFill>
                  <a:srgbClr val="050505"/>
                </a:solidFill>
                <a:latin typeface="Arial"/>
                <a:cs typeface="Arial"/>
              </a:rPr>
              <a:t>algorithm</a:t>
            </a:r>
            <a:endParaRPr sz="3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17318" y="1320451"/>
            <a:ext cx="5954395" cy="57721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5875" marR="5080" indent="-3810">
              <a:lnSpc>
                <a:spcPct val="103800"/>
              </a:lnSpc>
              <a:spcBef>
                <a:spcPts val="20"/>
              </a:spcBef>
              <a:tabLst>
                <a:tab pos="2505710" algn="l"/>
              </a:tabLst>
            </a:pPr>
            <a:r>
              <a:rPr sz="1800" b="1" spc="80" dirty="0">
                <a:solidFill>
                  <a:srgbClr val="1F1F1F"/>
                </a:solidFill>
                <a:latin typeface="Times New Roman"/>
                <a:cs typeface="Times New Roman"/>
              </a:rPr>
              <a:t>Stepl.</a:t>
            </a:r>
            <a:r>
              <a:rPr sz="1800" b="1" spc="-2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Given</a:t>
            </a:r>
            <a:r>
              <a:rPr sz="1750" spc="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in</a:t>
            </a:r>
            <a:r>
              <a:rPr sz="1750" dirty="0">
                <a:solidFill>
                  <a:srgbClr val="050505"/>
                </a:solidFill>
                <a:latin typeface="Times New Roman"/>
                <a:cs typeface="Times New Roman"/>
              </a:rPr>
              <a:t>i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tia</a:t>
            </a:r>
            <a:r>
              <a:rPr sz="1750" dirty="0">
                <a:solidFill>
                  <a:srgbClr val="050505"/>
                </a:solidFill>
                <a:latin typeface="Times New Roman"/>
                <a:cs typeface="Times New Roman"/>
              </a:rPr>
              <a:t>l</a:t>
            </a:r>
            <a:r>
              <a:rPr sz="1750" spc="55" dirty="0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graph</a:t>
            </a:r>
            <a:r>
              <a:rPr sz="1750" spc="11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1F1F1F"/>
                </a:solidFill>
                <a:latin typeface="Times New Roman"/>
                <a:cs typeface="Times New Roman"/>
              </a:rPr>
              <a:t>G=(V,</a:t>
            </a:r>
            <a:r>
              <a:rPr sz="1750" spc="8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E).</a:t>
            </a:r>
            <a:r>
              <a:rPr sz="1750" spc="-1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All</a:t>
            </a:r>
            <a:r>
              <a:rPr sz="1750" spc="9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nodes</a:t>
            </a:r>
            <a:r>
              <a:rPr sz="1750" spc="8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have</a:t>
            </a:r>
            <a:r>
              <a:rPr sz="1750" spc="4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50505"/>
                </a:solidFill>
                <a:latin typeface="Times New Roman"/>
                <a:cs typeface="Times New Roman"/>
              </a:rPr>
              <a:t>i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nfinite</a:t>
            </a:r>
            <a:r>
              <a:rPr sz="1750" spc="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spc="-20" dirty="0">
                <a:solidFill>
                  <a:srgbClr val="2F2F2F"/>
                </a:solidFill>
                <a:latin typeface="Times New Roman"/>
                <a:cs typeface="Times New Roman"/>
              </a:rPr>
              <a:t>cost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except</a:t>
            </a:r>
            <a:r>
              <a:rPr sz="1750" spc="1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t</a:t>
            </a:r>
            <a:r>
              <a:rPr sz="1750" dirty="0">
                <a:solidFill>
                  <a:srgbClr val="050505"/>
                </a:solidFill>
                <a:latin typeface="Times New Roman"/>
                <a:cs typeface="Times New Roman"/>
              </a:rPr>
              <a:t>h</a:t>
            </a:r>
            <a:r>
              <a:rPr sz="1750" dirty="0">
                <a:solidFill>
                  <a:srgbClr val="3D3D3D"/>
                </a:solidFill>
                <a:latin typeface="Times New Roman"/>
                <a:cs typeface="Times New Roman"/>
              </a:rPr>
              <a:t>e</a:t>
            </a:r>
            <a:r>
              <a:rPr sz="1750" spc="6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3D3D3D"/>
                </a:solidFill>
                <a:latin typeface="Times New Roman"/>
                <a:cs typeface="Times New Roman"/>
              </a:rPr>
              <a:t>source</a:t>
            </a:r>
            <a:r>
              <a:rPr sz="1750" spc="15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node,</a:t>
            </a:r>
            <a:r>
              <a:rPr sz="1750" spc="1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spc="-25" dirty="0">
                <a:solidFill>
                  <a:srgbClr val="3D3D3D"/>
                </a:solidFill>
                <a:latin typeface="Times New Roman"/>
                <a:cs typeface="Times New Roman"/>
              </a:rPr>
              <a:t>s,</a:t>
            </a:r>
            <a:r>
              <a:rPr sz="1750" dirty="0">
                <a:solidFill>
                  <a:srgbClr val="3D3D3D"/>
                </a:solidFill>
                <a:latin typeface="Times New Roman"/>
                <a:cs typeface="Times New Roman"/>
              </a:rPr>
              <a:t>	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which</a:t>
            </a:r>
            <a:r>
              <a:rPr sz="1750" spc="6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has</a:t>
            </a:r>
            <a:r>
              <a:rPr sz="1750" spc="-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spc="-280" dirty="0">
                <a:solidFill>
                  <a:srgbClr val="1F1F1F"/>
                </a:solidFill>
                <a:latin typeface="Times New Roman"/>
                <a:cs typeface="Times New Roman"/>
              </a:rPr>
              <a:t>O</a:t>
            </a:r>
            <a:r>
              <a:rPr sz="1750" spc="-8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2F2F2F"/>
                </a:solidFill>
                <a:latin typeface="Times New Roman"/>
                <a:cs typeface="Times New Roman"/>
              </a:rPr>
              <a:t>cost.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09930" y="1900164"/>
            <a:ext cx="8826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25" dirty="0">
                <a:solidFill>
                  <a:srgbClr val="281D93"/>
                </a:solidFill>
                <a:latin typeface="Arial"/>
                <a:cs typeface="Arial"/>
              </a:rPr>
              <a:t>r,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98761" y="1881089"/>
            <a:ext cx="9461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30" dirty="0">
                <a:solidFill>
                  <a:srgbClr val="363189"/>
                </a:solidFill>
                <a:latin typeface="Courier New"/>
                <a:cs typeface="Courier New"/>
              </a:rPr>
              <a:t>V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49847" y="3446687"/>
            <a:ext cx="9334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i="1" spc="25" dirty="0">
                <a:solidFill>
                  <a:srgbClr val="363189"/>
                </a:solidFill>
                <a:latin typeface="Times New Roman"/>
                <a:cs typeface="Times New Roman"/>
              </a:rPr>
              <a:t>X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45601" y="3726072"/>
            <a:ext cx="7011670" cy="855344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6510" marR="5080" indent="-3810" algn="just">
              <a:lnSpc>
                <a:spcPct val="104000"/>
              </a:lnSpc>
              <a:spcBef>
                <a:spcPts val="15"/>
              </a:spcBef>
            </a:pPr>
            <a:r>
              <a:rPr sz="1800" b="1" dirty="0">
                <a:solidFill>
                  <a:srgbClr val="050505"/>
                </a:solidFill>
                <a:latin typeface="Times New Roman"/>
                <a:cs typeface="Times New Roman"/>
              </a:rPr>
              <a:t>Step</a:t>
            </a:r>
            <a:r>
              <a:rPr sz="1800" b="1" spc="-25" dirty="0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50505"/>
                </a:solidFill>
                <a:latin typeface="Times New Roman"/>
                <a:cs typeface="Times New Roman"/>
              </a:rPr>
              <a:t>2.</a:t>
            </a:r>
            <a:r>
              <a:rPr sz="1800" b="1" spc="100" dirty="0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First</a:t>
            </a:r>
            <a:r>
              <a:rPr sz="1750" spc="1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we</a:t>
            </a:r>
            <a:r>
              <a:rPr sz="175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3D3D3D"/>
                </a:solidFill>
                <a:latin typeface="Times New Roman"/>
                <a:cs typeface="Times New Roman"/>
              </a:rPr>
              <a:t>choose</a:t>
            </a:r>
            <a:r>
              <a:rPr sz="1750" spc="6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the</a:t>
            </a:r>
            <a:r>
              <a:rPr sz="1750" spc="4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node,</a:t>
            </a:r>
            <a:r>
              <a:rPr sz="1750" spc="10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which</a:t>
            </a:r>
            <a:r>
              <a:rPr sz="175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1750" spc="1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3D3D3D"/>
                </a:solidFill>
                <a:latin typeface="Times New Roman"/>
                <a:cs typeface="Times New Roman"/>
              </a:rPr>
              <a:t>c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lo</a:t>
            </a:r>
            <a:r>
              <a:rPr sz="1750" dirty="0">
                <a:solidFill>
                  <a:srgbClr val="3D3D3D"/>
                </a:solidFill>
                <a:latin typeface="Times New Roman"/>
                <a:cs typeface="Times New Roman"/>
              </a:rPr>
              <a:t>ses</a:t>
            </a:r>
            <a:r>
              <a:rPr sz="1750" dirty="0">
                <a:solidFill>
                  <a:srgbClr val="050505"/>
                </a:solidFill>
                <a:latin typeface="Times New Roman"/>
                <a:cs typeface="Times New Roman"/>
              </a:rPr>
              <a:t>t</a:t>
            </a:r>
            <a:r>
              <a:rPr sz="1750" spc="65" dirty="0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to the</a:t>
            </a:r>
            <a:r>
              <a:rPr sz="1750" spc="-5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sou</a:t>
            </a:r>
            <a:r>
              <a:rPr sz="1750" dirty="0">
                <a:solidFill>
                  <a:srgbClr val="050505"/>
                </a:solidFill>
                <a:latin typeface="Times New Roman"/>
                <a:cs typeface="Times New Roman"/>
              </a:rPr>
              <a:t>r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ce</a:t>
            </a:r>
            <a:r>
              <a:rPr sz="1750" spc="1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node,</a:t>
            </a:r>
            <a:r>
              <a:rPr sz="1750" spc="1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3D3D3D"/>
                </a:solidFill>
                <a:latin typeface="Times New Roman"/>
                <a:cs typeface="Times New Roman"/>
              </a:rPr>
              <a:t>s.</a:t>
            </a:r>
            <a:r>
              <a:rPr sz="1750" spc="125" dirty="0">
                <a:solidFill>
                  <a:srgbClr val="3D3D3D"/>
                </a:solidFill>
                <a:latin typeface="Times New Roman"/>
                <a:cs typeface="Times New Roman"/>
              </a:rPr>
              <a:t>  </a:t>
            </a:r>
            <a:r>
              <a:rPr sz="1750" spc="-25" dirty="0">
                <a:solidFill>
                  <a:srgbClr val="1F1F1F"/>
                </a:solidFill>
                <a:latin typeface="Times New Roman"/>
                <a:cs typeface="Times New Roman"/>
              </a:rPr>
              <a:t>We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initialize</a:t>
            </a:r>
            <a:r>
              <a:rPr sz="1750" spc="7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d[s]</a:t>
            </a:r>
            <a:r>
              <a:rPr sz="1750" spc="1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1750" spc="-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0.</a:t>
            </a:r>
            <a:r>
              <a:rPr sz="1750" spc="-4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Add</a:t>
            </a:r>
            <a:r>
              <a:rPr sz="175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it</a:t>
            </a:r>
            <a:r>
              <a:rPr sz="1750" spc="27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1750" spc="-10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S.</a:t>
            </a:r>
            <a:r>
              <a:rPr sz="1750" spc="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Relax</a:t>
            </a:r>
            <a:r>
              <a:rPr sz="1750" spc="7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all</a:t>
            </a:r>
            <a:r>
              <a:rPr sz="1750" spc="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nodes</a:t>
            </a:r>
            <a:r>
              <a:rPr sz="1750" spc="10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adjacent</a:t>
            </a:r>
            <a:r>
              <a:rPr sz="1750" spc="2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to</a:t>
            </a:r>
            <a:r>
              <a:rPr sz="1750" spc="-7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3D3D3D"/>
                </a:solidFill>
                <a:latin typeface="Times New Roman"/>
                <a:cs typeface="Times New Roman"/>
              </a:rPr>
              <a:t>source,</a:t>
            </a:r>
            <a:r>
              <a:rPr sz="1750" spc="4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3D3D3D"/>
                </a:solidFill>
                <a:latin typeface="Times New Roman"/>
                <a:cs typeface="Times New Roman"/>
              </a:rPr>
              <a:t>s.</a:t>
            </a:r>
            <a:r>
              <a:rPr sz="1750" spc="12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2F2F2F"/>
                </a:solidFill>
                <a:latin typeface="Times New Roman"/>
                <a:cs typeface="Times New Roman"/>
              </a:rPr>
              <a:t>Update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p</a:t>
            </a:r>
            <a:r>
              <a:rPr sz="1750" dirty="0">
                <a:solidFill>
                  <a:srgbClr val="050505"/>
                </a:solidFill>
                <a:latin typeface="Times New Roman"/>
                <a:cs typeface="Times New Roman"/>
              </a:rPr>
              <a:t>r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edecessor</a:t>
            </a:r>
            <a:r>
              <a:rPr sz="1750" spc="1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3D3D3D"/>
                </a:solidFill>
                <a:latin typeface="Times New Roman"/>
                <a:cs typeface="Times New Roman"/>
              </a:rPr>
              <a:t>(see</a:t>
            </a:r>
            <a:r>
              <a:rPr sz="1750" spc="-1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red</a:t>
            </a:r>
            <a:r>
              <a:rPr sz="1750" spc="6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F2F2F"/>
                </a:solidFill>
                <a:latin typeface="Times New Roman"/>
                <a:cs typeface="Times New Roman"/>
              </a:rPr>
              <a:t>arrow</a:t>
            </a:r>
            <a:r>
              <a:rPr sz="1750" spc="18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in</a:t>
            </a:r>
            <a:r>
              <a:rPr sz="1750" spc="2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diagram</a:t>
            </a:r>
            <a:r>
              <a:rPr sz="1750" spc="19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below)</a:t>
            </a:r>
            <a:r>
              <a:rPr sz="1750" spc="9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for</a:t>
            </a:r>
            <a:r>
              <a:rPr sz="1750" spc="7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all</a:t>
            </a:r>
            <a:r>
              <a:rPr sz="1750" spc="5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F1F1F"/>
                </a:solidFill>
                <a:latin typeface="Times New Roman"/>
                <a:cs typeface="Times New Roman"/>
              </a:rPr>
              <a:t>nodes</a:t>
            </a:r>
            <a:r>
              <a:rPr sz="1750" spc="16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1F1F1F"/>
                </a:solidFill>
                <a:latin typeface="Times New Roman"/>
                <a:cs typeface="Times New Roman"/>
              </a:rPr>
              <a:t>updated.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07149" y="4978999"/>
            <a:ext cx="8636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25" dirty="0">
                <a:solidFill>
                  <a:srgbClr val="281D93"/>
                </a:solidFill>
                <a:latin typeface="Arial"/>
                <a:cs typeface="Arial"/>
              </a:rPr>
              <a:t>r,</a:t>
            </a:r>
            <a:endParaRPr sz="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59328" y="4953567"/>
            <a:ext cx="958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10" dirty="0">
                <a:solidFill>
                  <a:srgbClr val="363189"/>
                </a:solidFill>
                <a:latin typeface="Courier New"/>
                <a:cs typeface="Courier New"/>
              </a:rPr>
              <a:t>V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98523" y="5737861"/>
            <a:ext cx="12065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10" dirty="0">
                <a:solidFill>
                  <a:srgbClr val="2BD328"/>
                </a:solidFill>
                <a:latin typeface="Times New Roman"/>
                <a:cs typeface="Times New Roman"/>
              </a:rPr>
              <a:t>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56032" y="6624260"/>
            <a:ext cx="9080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i="1" spc="5" dirty="0">
                <a:solidFill>
                  <a:srgbClr val="363189"/>
                </a:solidFill>
                <a:latin typeface="Times New Roman"/>
                <a:cs typeface="Times New Roman"/>
              </a:rPr>
              <a:t>X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76816" y="6567037"/>
            <a:ext cx="1143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25" dirty="0">
                <a:solidFill>
                  <a:srgbClr val="281D93"/>
                </a:solidFill>
                <a:latin typeface="Courier New"/>
                <a:cs typeface="Courier New"/>
              </a:rPr>
              <a:t>y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6510" marR="5080" indent="-4445">
              <a:lnSpc>
                <a:spcPct val="104299"/>
              </a:lnSpc>
              <a:spcBef>
                <a:spcPts val="10"/>
              </a:spcBef>
            </a:pPr>
            <a:r>
              <a:rPr sz="1750" dirty="0">
                <a:solidFill>
                  <a:srgbClr val="161616"/>
                </a:solidFill>
                <a:latin typeface="Times New Roman"/>
                <a:cs typeface="Times New Roman"/>
              </a:rPr>
              <a:t>Step</a:t>
            </a:r>
            <a:r>
              <a:rPr sz="1750" spc="11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750" spc="50" dirty="0">
                <a:solidFill>
                  <a:srgbClr val="161616"/>
                </a:solidFill>
                <a:latin typeface="Times New Roman"/>
                <a:cs typeface="Times New Roman"/>
              </a:rPr>
              <a:t>3.</a:t>
            </a:r>
            <a:r>
              <a:rPr sz="1750" spc="2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2A2A2A"/>
                </a:solidFill>
                <a:latin typeface="Times New Roman"/>
                <a:cs typeface="Times New Roman"/>
              </a:rPr>
              <a:t>Choose</a:t>
            </a:r>
            <a:r>
              <a:rPr sz="1750" b="0" spc="2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2A2A2A"/>
                </a:solidFill>
                <a:latin typeface="Times New Roman"/>
                <a:cs typeface="Times New Roman"/>
              </a:rPr>
              <a:t>the closest</a:t>
            </a:r>
            <a:r>
              <a:rPr sz="1750" b="0" spc="8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2A2A2A"/>
                </a:solidFill>
                <a:latin typeface="Times New Roman"/>
                <a:cs typeface="Times New Roman"/>
              </a:rPr>
              <a:t>node</a:t>
            </a:r>
            <a:r>
              <a:rPr sz="1750" b="0" dirty="0">
                <a:solidFill>
                  <a:srgbClr val="545454"/>
                </a:solidFill>
                <a:latin typeface="Times New Roman"/>
                <a:cs typeface="Times New Roman"/>
              </a:rPr>
              <a:t>,</a:t>
            </a:r>
            <a:r>
              <a:rPr sz="1750" b="0" spc="50" dirty="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2A2A2A"/>
                </a:solidFill>
                <a:latin typeface="Times New Roman"/>
                <a:cs typeface="Times New Roman"/>
              </a:rPr>
              <a:t>x.</a:t>
            </a:r>
            <a:r>
              <a:rPr sz="1750" b="0" spc="8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161616"/>
                </a:solidFill>
                <a:latin typeface="Times New Roman"/>
                <a:cs typeface="Times New Roman"/>
              </a:rPr>
              <a:t>Relax</a:t>
            </a:r>
            <a:r>
              <a:rPr sz="1750" b="0" spc="14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2A2A2A"/>
                </a:solidFill>
                <a:latin typeface="Times New Roman"/>
                <a:cs typeface="Times New Roman"/>
              </a:rPr>
              <a:t>all</a:t>
            </a:r>
            <a:r>
              <a:rPr sz="1750" b="0" spc="6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2A2A2A"/>
                </a:solidFill>
                <a:latin typeface="Times New Roman"/>
                <a:cs typeface="Times New Roman"/>
              </a:rPr>
              <a:t>nodes</a:t>
            </a:r>
            <a:r>
              <a:rPr sz="1750" b="0" spc="10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2A2A2A"/>
                </a:solidFill>
                <a:latin typeface="Times New Roman"/>
                <a:cs typeface="Times New Roman"/>
              </a:rPr>
              <a:t>adjacent</a:t>
            </a:r>
            <a:r>
              <a:rPr sz="1750" b="0" spc="229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2A2A2A"/>
                </a:solidFill>
                <a:latin typeface="Times New Roman"/>
                <a:cs typeface="Times New Roman"/>
              </a:rPr>
              <a:t>to</a:t>
            </a:r>
            <a:r>
              <a:rPr sz="1750" b="0" spc="4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2A2A2A"/>
                </a:solidFill>
                <a:latin typeface="Times New Roman"/>
                <a:cs typeface="Times New Roman"/>
              </a:rPr>
              <a:t>node</a:t>
            </a:r>
            <a:r>
              <a:rPr sz="1750" b="0" spc="6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b="0" spc="-25" dirty="0">
                <a:solidFill>
                  <a:srgbClr val="2A2A2A"/>
                </a:solidFill>
                <a:latin typeface="Times New Roman"/>
                <a:cs typeface="Times New Roman"/>
              </a:rPr>
              <a:t>x. </a:t>
            </a:r>
            <a:r>
              <a:rPr sz="1750" b="0" dirty="0">
                <a:solidFill>
                  <a:srgbClr val="3D3D3D"/>
                </a:solidFill>
                <a:latin typeface="Times New Roman"/>
                <a:cs typeface="Times New Roman"/>
              </a:rPr>
              <a:t>Update</a:t>
            </a:r>
            <a:r>
              <a:rPr sz="1750" b="0" spc="17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2A2A2A"/>
                </a:solidFill>
                <a:latin typeface="Times New Roman"/>
                <a:cs typeface="Times New Roman"/>
              </a:rPr>
              <a:t>predecessors</a:t>
            </a:r>
            <a:r>
              <a:rPr sz="1750" b="0" spc="14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2A2A2A"/>
                </a:solidFill>
                <a:latin typeface="Times New Roman"/>
                <a:cs typeface="Times New Roman"/>
              </a:rPr>
              <a:t>for</a:t>
            </a:r>
            <a:r>
              <a:rPr sz="1750" b="0" spc="1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161616"/>
                </a:solidFill>
                <a:latin typeface="Times New Roman"/>
                <a:cs typeface="Times New Roman"/>
              </a:rPr>
              <a:t>nodes</a:t>
            </a:r>
            <a:r>
              <a:rPr sz="1750" b="0" spc="8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161616"/>
                </a:solidFill>
                <a:latin typeface="Times New Roman"/>
                <a:cs typeface="Times New Roman"/>
              </a:rPr>
              <a:t>u,</a:t>
            </a:r>
            <a:r>
              <a:rPr sz="1750" b="0" spc="2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2A2A2A"/>
                </a:solidFill>
                <a:latin typeface="Times New Roman"/>
                <a:cs typeface="Times New Roman"/>
              </a:rPr>
              <a:t>v</a:t>
            </a:r>
            <a:r>
              <a:rPr sz="1750" b="0" spc="6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2A2A2A"/>
                </a:solidFill>
                <a:latin typeface="Times New Roman"/>
                <a:cs typeface="Times New Roman"/>
              </a:rPr>
              <a:t>and</a:t>
            </a:r>
            <a:r>
              <a:rPr sz="1750" b="0" spc="7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2A2A2A"/>
                </a:solidFill>
                <a:latin typeface="Arial"/>
                <a:cs typeface="Arial"/>
              </a:rPr>
              <a:t>y</a:t>
            </a:r>
            <a:r>
              <a:rPr sz="1550" b="0" spc="21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50" b="0" dirty="0">
                <a:solidFill>
                  <a:srgbClr val="2A2A2A"/>
                </a:solidFill>
                <a:latin typeface="Times New Roman"/>
                <a:cs typeface="Times New Roman"/>
              </a:rPr>
              <a:t>(again</a:t>
            </a:r>
            <a:r>
              <a:rPr sz="1750" b="0" spc="18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2A2A2A"/>
                </a:solidFill>
                <a:latin typeface="Times New Roman"/>
                <a:cs typeface="Times New Roman"/>
              </a:rPr>
              <a:t>notice</a:t>
            </a:r>
            <a:r>
              <a:rPr sz="1750" b="0" spc="-3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2A2A2A"/>
                </a:solidFill>
                <a:latin typeface="Times New Roman"/>
                <a:cs typeface="Times New Roman"/>
              </a:rPr>
              <a:t>red</a:t>
            </a:r>
            <a:r>
              <a:rPr sz="1750" b="0" spc="3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b="0" dirty="0">
                <a:solidFill>
                  <a:srgbClr val="2A2A2A"/>
                </a:solidFill>
                <a:latin typeface="Times New Roman"/>
                <a:cs typeface="Times New Roman"/>
              </a:rPr>
              <a:t>arrows</a:t>
            </a:r>
            <a:r>
              <a:rPr sz="1750" b="0" spc="10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b="0" spc="-25" dirty="0">
                <a:solidFill>
                  <a:srgbClr val="2A2A2A"/>
                </a:solidFill>
                <a:latin typeface="Times New Roman"/>
                <a:cs typeface="Times New Roman"/>
              </a:rPr>
              <a:t>in </a:t>
            </a:r>
            <a:r>
              <a:rPr sz="1750" b="0" dirty="0">
                <a:solidFill>
                  <a:srgbClr val="2A2A2A"/>
                </a:solidFill>
                <a:latin typeface="Times New Roman"/>
                <a:cs typeface="Times New Roman"/>
              </a:rPr>
              <a:t>diagram</a:t>
            </a:r>
            <a:r>
              <a:rPr sz="1750" b="0" spc="24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b="0" spc="-10" dirty="0">
                <a:solidFill>
                  <a:srgbClr val="161616"/>
                </a:solidFill>
                <a:latin typeface="Times New Roman"/>
                <a:cs typeface="Times New Roman"/>
              </a:rPr>
              <a:t>below).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8058" y="3588811"/>
            <a:ext cx="7562850" cy="57086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24765" marR="5080" indent="-12700">
              <a:lnSpc>
                <a:spcPct val="104299"/>
              </a:lnSpc>
              <a:spcBef>
                <a:spcPts val="10"/>
              </a:spcBef>
            </a:pPr>
            <a:r>
              <a:rPr sz="1750" b="1" spc="50" dirty="0">
                <a:solidFill>
                  <a:srgbClr val="161616"/>
                </a:solidFill>
                <a:latin typeface="Times New Roman"/>
                <a:cs typeface="Times New Roman"/>
              </a:rPr>
              <a:t>Step</a:t>
            </a:r>
            <a:r>
              <a:rPr sz="1750" b="1" spc="-3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750" b="1" spc="55" dirty="0">
                <a:solidFill>
                  <a:srgbClr val="161616"/>
                </a:solidFill>
                <a:latin typeface="Times New Roman"/>
                <a:cs typeface="Times New Roman"/>
              </a:rPr>
              <a:t>4.</a:t>
            </a:r>
            <a:r>
              <a:rPr sz="1750" b="1" spc="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A2A2A"/>
                </a:solidFill>
                <a:latin typeface="Times New Roman"/>
                <a:cs typeface="Times New Roman"/>
              </a:rPr>
              <a:t>Now,</a:t>
            </a:r>
            <a:r>
              <a:rPr sz="1750" spc="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61616"/>
                </a:solidFill>
                <a:latin typeface="Times New Roman"/>
                <a:cs typeface="Times New Roman"/>
              </a:rPr>
              <a:t>node</a:t>
            </a:r>
            <a:r>
              <a:rPr sz="1750" spc="2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A2A2A"/>
                </a:solidFill>
                <a:latin typeface="Arial"/>
                <a:cs typeface="Arial"/>
              </a:rPr>
              <a:t>y</a:t>
            </a:r>
            <a:r>
              <a:rPr sz="1550" spc="12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2A2A2A"/>
                </a:solidFill>
                <a:latin typeface="Times New Roman"/>
                <a:cs typeface="Times New Roman"/>
              </a:rPr>
              <a:t>is</a:t>
            </a:r>
            <a:r>
              <a:rPr sz="1750" spc="5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61616"/>
                </a:solidFill>
                <a:latin typeface="Times New Roman"/>
                <a:cs typeface="Times New Roman"/>
              </a:rPr>
              <a:t>the</a:t>
            </a:r>
            <a:r>
              <a:rPr sz="1750" spc="-4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3D3D3D"/>
                </a:solidFill>
                <a:latin typeface="Times New Roman"/>
                <a:cs typeface="Times New Roman"/>
              </a:rPr>
              <a:t>closest</a:t>
            </a:r>
            <a:r>
              <a:rPr sz="1750" spc="14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61616"/>
                </a:solidFill>
                <a:latin typeface="Times New Roman"/>
                <a:cs typeface="Times New Roman"/>
              </a:rPr>
              <a:t>node,</a:t>
            </a:r>
            <a:r>
              <a:rPr sz="1750" spc="-8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3D3D3D"/>
                </a:solidFill>
                <a:latin typeface="Times New Roman"/>
                <a:cs typeface="Times New Roman"/>
              </a:rPr>
              <a:t>so</a:t>
            </a:r>
            <a:r>
              <a:rPr sz="1750" spc="15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3D3D3D"/>
                </a:solidFill>
                <a:latin typeface="Times New Roman"/>
                <a:cs typeface="Times New Roman"/>
              </a:rPr>
              <a:t>add</a:t>
            </a:r>
            <a:r>
              <a:rPr sz="1750" spc="35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A2A2A"/>
                </a:solidFill>
                <a:latin typeface="Times New Roman"/>
                <a:cs typeface="Times New Roman"/>
              </a:rPr>
              <a:t>it</a:t>
            </a:r>
            <a:r>
              <a:rPr sz="1750" spc="5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A2A2A"/>
                </a:solidFill>
                <a:latin typeface="Times New Roman"/>
                <a:cs typeface="Times New Roman"/>
              </a:rPr>
              <a:t>to</a:t>
            </a:r>
            <a:r>
              <a:rPr sz="1750" spc="1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A2A2A"/>
                </a:solidFill>
                <a:latin typeface="Times New Roman"/>
                <a:cs typeface="Times New Roman"/>
              </a:rPr>
              <a:t>S.</a:t>
            </a:r>
            <a:r>
              <a:rPr sz="1750" spc="15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61616"/>
                </a:solidFill>
                <a:latin typeface="Times New Roman"/>
                <a:cs typeface="Times New Roman"/>
              </a:rPr>
              <a:t>Relax</a:t>
            </a:r>
            <a:r>
              <a:rPr sz="1750" spc="10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161616"/>
                </a:solidFill>
                <a:latin typeface="Times New Roman"/>
                <a:cs typeface="Times New Roman"/>
              </a:rPr>
              <a:t>node</a:t>
            </a:r>
            <a:r>
              <a:rPr sz="1750" spc="2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750" spc="50" dirty="0">
                <a:solidFill>
                  <a:srgbClr val="2A2A2A"/>
                </a:solidFill>
                <a:latin typeface="Times New Roman"/>
                <a:cs typeface="Times New Roman"/>
              </a:rPr>
              <a:t>v </a:t>
            </a:r>
            <a:r>
              <a:rPr sz="1750" dirty="0">
                <a:solidFill>
                  <a:srgbClr val="2A2A2A"/>
                </a:solidFill>
                <a:latin typeface="Times New Roman"/>
                <a:cs typeface="Times New Roman"/>
              </a:rPr>
              <a:t>and</a:t>
            </a:r>
            <a:r>
              <a:rPr sz="1750" spc="2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A2A2A"/>
                </a:solidFill>
                <a:latin typeface="Times New Roman"/>
                <a:cs typeface="Times New Roman"/>
              </a:rPr>
              <a:t>adjust</a:t>
            </a:r>
            <a:r>
              <a:rPr sz="1750" spc="5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spc="-25" dirty="0">
                <a:solidFill>
                  <a:srgbClr val="2A2A2A"/>
                </a:solidFill>
                <a:latin typeface="Times New Roman"/>
                <a:cs typeface="Times New Roman"/>
              </a:rPr>
              <a:t>its </a:t>
            </a:r>
            <a:r>
              <a:rPr sz="1750" dirty="0">
                <a:solidFill>
                  <a:srgbClr val="2A2A2A"/>
                </a:solidFill>
                <a:latin typeface="Times New Roman"/>
                <a:cs typeface="Times New Roman"/>
              </a:rPr>
              <a:t>predecessor</a:t>
            </a:r>
            <a:r>
              <a:rPr sz="1750" spc="16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3D3D3D"/>
                </a:solidFill>
                <a:latin typeface="Times New Roman"/>
                <a:cs typeface="Times New Roman"/>
              </a:rPr>
              <a:t>(red</a:t>
            </a:r>
            <a:r>
              <a:rPr sz="1750" spc="120" dirty="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2A2A2A"/>
                </a:solidFill>
                <a:latin typeface="Times New Roman"/>
                <a:cs typeface="Times New Roman"/>
              </a:rPr>
              <a:t>arrows</a:t>
            </a:r>
            <a:r>
              <a:rPr sz="1750" spc="13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2A2A2A"/>
                </a:solidFill>
                <a:latin typeface="Times New Roman"/>
                <a:cs typeface="Times New Roman"/>
              </a:rPr>
              <a:t>remember!).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123" y="5951046"/>
            <a:ext cx="9080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i="1" spc="5" dirty="0">
                <a:solidFill>
                  <a:srgbClr val="2F2882"/>
                </a:solidFill>
                <a:latin typeface="Times New Roman"/>
                <a:cs typeface="Times New Roman"/>
              </a:rPr>
              <a:t>X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89941" y="5915515"/>
            <a:ext cx="1047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10" dirty="0">
                <a:solidFill>
                  <a:srgbClr val="493F99"/>
                </a:solidFill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937" y="0"/>
            <a:ext cx="2886590" cy="5028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9315" y="1041425"/>
            <a:ext cx="2294929" cy="16875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45173" y="3770188"/>
            <a:ext cx="2187355" cy="132847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155529" y="89947"/>
            <a:ext cx="2905125" cy="0"/>
          </a:xfrm>
          <a:custGeom>
            <a:avLst/>
            <a:gdLst/>
            <a:ahLst/>
            <a:cxnLst/>
            <a:rect l="l" t="t" r="r" b="b"/>
            <a:pathLst>
              <a:path w="2905125">
                <a:moveTo>
                  <a:pt x="0" y="0"/>
                </a:moveTo>
                <a:lnTo>
                  <a:pt x="2904521" y="0"/>
                </a:lnTo>
              </a:path>
            </a:pathLst>
          </a:custGeom>
          <a:ln w="17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55529" y="332305"/>
            <a:ext cx="2295525" cy="0"/>
          </a:xfrm>
          <a:custGeom>
            <a:avLst/>
            <a:gdLst/>
            <a:ahLst/>
            <a:cxnLst/>
            <a:rect l="l" t="t" r="r" b="b"/>
            <a:pathLst>
              <a:path w="2295525">
                <a:moveTo>
                  <a:pt x="0" y="0"/>
                </a:moveTo>
                <a:lnTo>
                  <a:pt x="2294930" y="0"/>
                </a:lnTo>
              </a:path>
            </a:pathLst>
          </a:custGeom>
          <a:ln w="26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28498" y="4964022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>
                <a:moveTo>
                  <a:pt x="0" y="0"/>
                </a:moveTo>
                <a:lnTo>
                  <a:pt x="609590" y="0"/>
                </a:lnTo>
              </a:path>
            </a:pathLst>
          </a:custGeom>
          <a:ln w="628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167" y="-61134"/>
            <a:ext cx="23304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120" dirty="0">
                <a:solidFill>
                  <a:srgbClr val="030174"/>
                </a:solidFill>
                <a:latin typeface="Arial"/>
                <a:cs typeface="Arial"/>
              </a:rPr>
              <a:t>■</a:t>
            </a:r>
            <a:endParaRPr sz="25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49914" y="418716"/>
            <a:ext cx="749808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dirty="0">
                <a:solidFill>
                  <a:srgbClr val="131313"/>
                </a:solidFill>
                <a:latin typeface="Times New Roman"/>
                <a:cs typeface="Times New Roman"/>
              </a:rPr>
              <a:t>tep</a:t>
            </a:r>
            <a:r>
              <a:rPr sz="1550" spc="3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131313"/>
                </a:solidFill>
                <a:latin typeface="Times New Roman"/>
                <a:cs typeface="Times New Roman"/>
              </a:rPr>
              <a:t>5.</a:t>
            </a:r>
            <a:r>
              <a:rPr sz="1550" spc="10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363636"/>
                </a:solidFill>
                <a:latin typeface="Times New Roman"/>
                <a:cs typeface="Times New Roman"/>
              </a:rPr>
              <a:t>Now</a:t>
            </a:r>
            <a:r>
              <a:rPr sz="1550" b="0" spc="18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363636"/>
                </a:solidFill>
                <a:latin typeface="Times New Roman"/>
                <a:cs typeface="Times New Roman"/>
              </a:rPr>
              <a:t>we</a:t>
            </a:r>
            <a:r>
              <a:rPr sz="1550" b="0" spc="9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363636"/>
                </a:solidFill>
                <a:latin typeface="Times New Roman"/>
                <a:cs typeface="Times New Roman"/>
              </a:rPr>
              <a:t>have</a:t>
            </a:r>
            <a:r>
              <a:rPr sz="1550" b="0" spc="4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232323"/>
                </a:solidFill>
                <a:latin typeface="Times New Roman"/>
                <a:cs typeface="Times New Roman"/>
              </a:rPr>
              <a:t>node</a:t>
            </a:r>
            <a:r>
              <a:rPr sz="1550" b="0" spc="15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363636"/>
                </a:solidFill>
                <a:latin typeface="Times New Roman"/>
                <a:cs typeface="Times New Roman"/>
              </a:rPr>
              <a:t>u</a:t>
            </a:r>
            <a:r>
              <a:rPr sz="1550" b="0" spc="12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363636"/>
                </a:solidFill>
                <a:latin typeface="Times New Roman"/>
                <a:cs typeface="Times New Roman"/>
              </a:rPr>
              <a:t>that</a:t>
            </a:r>
            <a:r>
              <a:rPr sz="1550" b="0" spc="-4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363636"/>
                </a:solidFill>
                <a:latin typeface="Times New Roman"/>
                <a:cs typeface="Times New Roman"/>
              </a:rPr>
              <a:t>is</a:t>
            </a:r>
            <a:r>
              <a:rPr sz="1550" b="0" spc="9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363636"/>
                </a:solidFill>
                <a:latin typeface="Times New Roman"/>
                <a:cs typeface="Times New Roman"/>
              </a:rPr>
              <a:t>closest.</a:t>
            </a:r>
            <a:r>
              <a:rPr sz="1550" b="0" spc="12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363636"/>
                </a:solidFill>
                <a:latin typeface="Times New Roman"/>
                <a:cs typeface="Times New Roman"/>
              </a:rPr>
              <a:t>Choose</a:t>
            </a:r>
            <a:r>
              <a:rPr sz="1550" b="0" spc="5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232323"/>
                </a:solidFill>
                <a:latin typeface="Times New Roman"/>
                <a:cs typeface="Times New Roman"/>
              </a:rPr>
              <a:t>this </a:t>
            </a:r>
            <a:r>
              <a:rPr sz="1550" b="0" dirty="0">
                <a:solidFill>
                  <a:srgbClr val="363636"/>
                </a:solidFill>
                <a:latin typeface="Times New Roman"/>
                <a:cs typeface="Times New Roman"/>
              </a:rPr>
              <a:t>node</a:t>
            </a:r>
            <a:r>
              <a:rPr sz="1550" b="0" spc="9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363636"/>
                </a:solidFill>
                <a:latin typeface="Times New Roman"/>
                <a:cs typeface="Times New Roman"/>
              </a:rPr>
              <a:t>and</a:t>
            </a:r>
            <a:r>
              <a:rPr sz="1550" b="0" spc="2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363636"/>
                </a:solidFill>
                <a:latin typeface="Times New Roman"/>
                <a:cs typeface="Times New Roman"/>
              </a:rPr>
              <a:t>adjust</a:t>
            </a:r>
            <a:r>
              <a:rPr sz="1550" b="0" spc="9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363636"/>
                </a:solidFill>
                <a:latin typeface="Times New Roman"/>
                <a:cs typeface="Times New Roman"/>
              </a:rPr>
              <a:t>its</a:t>
            </a:r>
            <a:r>
              <a:rPr sz="1550" b="0" spc="22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363636"/>
                </a:solidFill>
                <a:latin typeface="Times New Roman"/>
                <a:cs typeface="Times New Roman"/>
              </a:rPr>
              <a:t>neighbor</a:t>
            </a:r>
            <a:r>
              <a:rPr sz="1550" b="0" spc="18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b="0" dirty="0">
                <a:solidFill>
                  <a:srgbClr val="363636"/>
                </a:solidFill>
                <a:latin typeface="Times New Roman"/>
                <a:cs typeface="Times New Roman"/>
              </a:rPr>
              <a:t>node</a:t>
            </a:r>
            <a:r>
              <a:rPr sz="1550" b="0" spc="5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b="0" spc="-25" dirty="0">
                <a:solidFill>
                  <a:srgbClr val="363636"/>
                </a:solidFill>
                <a:latin typeface="Times New Roman"/>
                <a:cs typeface="Times New Roman"/>
              </a:rPr>
              <a:t>v.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8188" y="2713257"/>
            <a:ext cx="8890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i="1" spc="-40" dirty="0">
                <a:solidFill>
                  <a:srgbClr val="3A3687"/>
                </a:solidFill>
                <a:latin typeface="Times New Roman"/>
                <a:cs typeface="Times New Roman"/>
              </a:rPr>
              <a:t>X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14010" y="2668750"/>
            <a:ext cx="10096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i="1" spc="-45" dirty="0">
                <a:solidFill>
                  <a:srgbClr val="3A3687"/>
                </a:solidFill>
                <a:latin typeface="Arial"/>
                <a:cs typeface="Arial"/>
              </a:rPr>
              <a:t>y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9788" y="3210314"/>
            <a:ext cx="8249920" cy="5905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-635">
              <a:lnSpc>
                <a:spcPct val="102600"/>
              </a:lnSpc>
              <a:spcBef>
                <a:spcPts val="50"/>
              </a:spcBef>
            </a:pPr>
            <a:r>
              <a:rPr sz="1550" b="1" dirty="0">
                <a:solidFill>
                  <a:srgbClr val="232323"/>
                </a:solidFill>
                <a:latin typeface="Times New Roman"/>
                <a:cs typeface="Times New Roman"/>
              </a:rPr>
              <a:t>Step</a:t>
            </a:r>
            <a:r>
              <a:rPr sz="1550" b="1" spc="3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131313"/>
                </a:solidFill>
                <a:latin typeface="Times New Roman"/>
                <a:cs typeface="Times New Roman"/>
              </a:rPr>
              <a:t>6.</a:t>
            </a:r>
            <a:r>
              <a:rPr sz="1550" b="1" spc="-6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32323"/>
                </a:solidFill>
                <a:latin typeface="Times New Roman"/>
                <a:cs typeface="Times New Roman"/>
              </a:rPr>
              <a:t>Finally,</a:t>
            </a:r>
            <a:r>
              <a:rPr sz="1550" spc="5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363636"/>
                </a:solidFill>
                <a:latin typeface="Times New Roman"/>
                <a:cs typeface="Times New Roman"/>
              </a:rPr>
              <a:t>add</a:t>
            </a:r>
            <a:r>
              <a:rPr sz="1550" spc="15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32323"/>
                </a:solidFill>
                <a:latin typeface="Times New Roman"/>
                <a:cs typeface="Times New Roman"/>
              </a:rPr>
              <a:t>node</a:t>
            </a:r>
            <a:r>
              <a:rPr sz="1550" spc="114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363636"/>
                </a:solidFill>
                <a:latin typeface="Times New Roman"/>
                <a:cs typeface="Times New Roman"/>
              </a:rPr>
              <a:t>v.</a:t>
            </a:r>
            <a:r>
              <a:rPr sz="1550" spc="-13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spc="50" dirty="0">
                <a:solidFill>
                  <a:srgbClr val="131313"/>
                </a:solidFill>
                <a:latin typeface="Times New Roman"/>
                <a:cs typeface="Times New Roman"/>
              </a:rPr>
              <a:t>The</a:t>
            </a:r>
            <a:r>
              <a:rPr sz="1550" spc="11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32323"/>
                </a:solidFill>
                <a:latin typeface="Times New Roman"/>
                <a:cs typeface="Times New Roman"/>
              </a:rPr>
              <a:t>predecessor</a:t>
            </a:r>
            <a:r>
              <a:rPr sz="1550" spc="17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363636"/>
                </a:solidFill>
                <a:latin typeface="Times New Roman"/>
                <a:cs typeface="Times New Roman"/>
              </a:rPr>
              <a:t>list</a:t>
            </a:r>
            <a:r>
              <a:rPr sz="1550" spc="6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363636"/>
                </a:solidFill>
                <a:latin typeface="Times New Roman"/>
                <a:cs typeface="Times New Roman"/>
              </a:rPr>
              <a:t>now</a:t>
            </a:r>
            <a:r>
              <a:rPr sz="1550" spc="10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363636"/>
                </a:solidFill>
                <a:latin typeface="Times New Roman"/>
                <a:cs typeface="Times New Roman"/>
              </a:rPr>
              <a:t>defines</a:t>
            </a:r>
            <a:r>
              <a:rPr sz="1550" spc="114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32323"/>
                </a:solidFill>
                <a:latin typeface="Times New Roman"/>
                <a:cs typeface="Times New Roman"/>
              </a:rPr>
              <a:t>the</a:t>
            </a:r>
            <a:r>
              <a:rPr sz="1550" spc="-7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4B4B4B"/>
                </a:solidFill>
                <a:latin typeface="Times New Roman"/>
                <a:cs typeface="Times New Roman"/>
              </a:rPr>
              <a:t>shortest</a:t>
            </a:r>
            <a:r>
              <a:rPr sz="1550" spc="165" dirty="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363636"/>
                </a:solidFill>
                <a:latin typeface="Times New Roman"/>
                <a:cs typeface="Times New Roman"/>
              </a:rPr>
              <a:t>path</a:t>
            </a:r>
            <a:r>
              <a:rPr sz="1550" spc="114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363636"/>
                </a:solidFill>
                <a:latin typeface="Times New Roman"/>
                <a:cs typeface="Times New Roman"/>
              </a:rPr>
              <a:t>from</a:t>
            </a:r>
            <a:r>
              <a:rPr sz="1550" spc="13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363636"/>
                </a:solidFill>
                <a:latin typeface="Times New Roman"/>
                <a:cs typeface="Times New Roman"/>
              </a:rPr>
              <a:t>each</a:t>
            </a:r>
            <a:r>
              <a:rPr sz="1550" spc="16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363636"/>
                </a:solidFill>
                <a:latin typeface="Times New Roman"/>
                <a:cs typeface="Times New Roman"/>
              </a:rPr>
              <a:t>node</a:t>
            </a:r>
            <a:r>
              <a:rPr sz="1550" spc="4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spc="50" dirty="0">
                <a:solidFill>
                  <a:srgbClr val="363636"/>
                </a:solidFill>
                <a:latin typeface="Times New Roman"/>
                <a:cs typeface="Times New Roman"/>
              </a:rPr>
              <a:t>to</a:t>
            </a:r>
            <a:r>
              <a:rPr sz="1550" spc="-3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spc="30" dirty="0">
                <a:solidFill>
                  <a:srgbClr val="363636"/>
                </a:solidFill>
                <a:latin typeface="Times New Roman"/>
                <a:cs typeface="Times New Roman"/>
              </a:rPr>
              <a:t>the </a:t>
            </a:r>
            <a:r>
              <a:rPr sz="1550" dirty="0">
                <a:solidFill>
                  <a:srgbClr val="4B4B4B"/>
                </a:solidFill>
                <a:latin typeface="Times New Roman"/>
                <a:cs typeface="Times New Roman"/>
              </a:rPr>
              <a:t>source</a:t>
            </a:r>
            <a:r>
              <a:rPr sz="1550" spc="165" dirty="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363636"/>
                </a:solidFill>
                <a:latin typeface="Times New Roman"/>
                <a:cs typeface="Times New Roman"/>
              </a:rPr>
              <a:t>node,</a:t>
            </a:r>
            <a:r>
              <a:rPr sz="1550" spc="-2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550" spc="-25" dirty="0">
                <a:solidFill>
                  <a:srgbClr val="4B4B4B"/>
                </a:solidFill>
                <a:latin typeface="Times New Roman"/>
                <a:cs typeface="Times New Roman"/>
              </a:rPr>
              <a:t>s.</a:t>
            </a:r>
            <a:endParaRPr sz="1550">
              <a:latin typeface="Times New Roman"/>
              <a:cs typeface="Times New Roman"/>
            </a:endParaRPr>
          </a:p>
          <a:p>
            <a:pPr marL="445770" algn="ctr">
              <a:lnSpc>
                <a:spcPts val="680"/>
              </a:lnSpc>
              <a:tabLst>
                <a:tab pos="1375410" algn="l"/>
              </a:tabLst>
            </a:pPr>
            <a:r>
              <a:rPr sz="700" b="1" i="1" spc="-50" dirty="0">
                <a:solidFill>
                  <a:srgbClr val="2D21AC"/>
                </a:solidFill>
                <a:latin typeface="Times New Roman"/>
                <a:cs typeface="Times New Roman"/>
              </a:rPr>
              <a:t>U</a:t>
            </a:r>
            <a:r>
              <a:rPr sz="700" b="1" i="1" dirty="0">
                <a:solidFill>
                  <a:srgbClr val="2D21AC"/>
                </a:solidFill>
                <a:latin typeface="Times New Roman"/>
                <a:cs typeface="Times New Roman"/>
              </a:rPr>
              <a:t>	</a:t>
            </a:r>
            <a:r>
              <a:rPr sz="700" b="1" i="1" spc="-50" dirty="0">
                <a:solidFill>
                  <a:srgbClr val="3A3687"/>
                </a:solidFill>
                <a:latin typeface="Times New Roman"/>
                <a:cs typeface="Times New Roman"/>
              </a:rPr>
              <a:t>V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07420" y="5068760"/>
            <a:ext cx="8826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i="1" spc="20" dirty="0">
                <a:solidFill>
                  <a:srgbClr val="3A3687"/>
                </a:solidFill>
                <a:latin typeface="Times New Roman"/>
                <a:cs typeface="Times New Roman"/>
              </a:rPr>
              <a:t>X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13205" y="4913921"/>
            <a:ext cx="2120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u="heavy" dirty="0">
                <a:solidFill>
                  <a:srgbClr val="C30F18"/>
                </a:solidFill>
                <a:uFill>
                  <a:solidFill>
                    <a:srgbClr val="59B84D"/>
                  </a:solidFill>
                </a:uFill>
                <a:latin typeface="Arial"/>
                <a:cs typeface="Arial"/>
              </a:rPr>
              <a:t>..</a:t>
            </a:r>
            <a:r>
              <a:rPr sz="1000" u="heavy" spc="50" dirty="0">
                <a:solidFill>
                  <a:srgbClr val="C30F18"/>
                </a:solidFill>
                <a:uFill>
                  <a:solidFill>
                    <a:srgbClr val="59B84D"/>
                  </a:solidFill>
                </a:uFill>
                <a:latin typeface="Arial"/>
                <a:cs typeface="Arial"/>
              </a:rPr>
              <a:t> </a:t>
            </a:r>
            <a:r>
              <a:rPr sz="1000" b="1" u="heavy" spc="-50" dirty="0">
                <a:solidFill>
                  <a:srgbClr val="59B84D"/>
                </a:solidFill>
                <a:uFill>
                  <a:solidFill>
                    <a:srgbClr val="59B84D"/>
                  </a:solidFill>
                </a:u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69366" y="5045946"/>
            <a:ext cx="9588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i="1" spc="25" dirty="0">
                <a:solidFill>
                  <a:srgbClr val="564FA0"/>
                </a:solidFill>
                <a:latin typeface="Arial"/>
                <a:cs typeface="Arial"/>
              </a:rPr>
              <a:t>y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503" y="0"/>
            <a:ext cx="6024190" cy="50285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1971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105"/>
              </a:spcBef>
            </a:pPr>
            <a:r>
              <a:rPr spc="-254" dirty="0"/>
              <a:t>Analysis</a:t>
            </a:r>
            <a:r>
              <a:rPr spc="290" dirty="0"/>
              <a:t> </a:t>
            </a:r>
            <a:r>
              <a:rPr spc="-335" dirty="0"/>
              <a:t>of</a:t>
            </a:r>
            <a:r>
              <a:rPr spc="229" dirty="0"/>
              <a:t> </a:t>
            </a:r>
            <a:r>
              <a:rPr spc="-195" dirty="0"/>
              <a:t>Dijkstra</a:t>
            </a:r>
            <a:r>
              <a:rPr spc="-20" dirty="0"/>
              <a:t> </a:t>
            </a:r>
            <a:r>
              <a:rPr spc="-290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7054" y="1902781"/>
            <a:ext cx="8178165" cy="406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185"/>
              </a:lnSpc>
              <a:spcBef>
                <a:spcPts val="100"/>
              </a:spcBef>
            </a:pPr>
            <a:r>
              <a:rPr sz="1950" dirty="0">
                <a:solidFill>
                  <a:srgbClr val="0F0F0F"/>
                </a:solidFill>
                <a:latin typeface="Arial"/>
                <a:cs typeface="Arial"/>
              </a:rPr>
              <a:t>Q</a:t>
            </a:r>
            <a:r>
              <a:rPr sz="1950" spc="23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65" dirty="0">
                <a:solidFill>
                  <a:srgbClr val="0F0F0F"/>
                </a:solidFill>
                <a:latin typeface="Arial"/>
                <a:cs typeface="Arial"/>
              </a:rPr>
              <a:t>as</a:t>
            </a:r>
            <a:r>
              <a:rPr sz="1900" spc="-2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70" dirty="0">
                <a:solidFill>
                  <a:srgbClr val="0F0F0F"/>
                </a:solidFill>
                <a:latin typeface="Arial"/>
                <a:cs typeface="Arial"/>
              </a:rPr>
              <a:t>a</a:t>
            </a:r>
            <a:r>
              <a:rPr sz="1900" spc="-3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linear</a:t>
            </a:r>
            <a:r>
              <a:rPr sz="1900" spc="7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0F0F0F"/>
                </a:solidFill>
                <a:latin typeface="Arial"/>
                <a:cs typeface="Arial"/>
              </a:rPr>
              <a:t>array</a:t>
            </a:r>
            <a:endParaRPr sz="1900">
              <a:latin typeface="Arial"/>
              <a:cs typeface="Arial"/>
            </a:endParaRPr>
          </a:p>
          <a:p>
            <a:pPr marL="383540" marR="241935" indent="3810">
              <a:lnSpc>
                <a:spcPts val="1910"/>
              </a:lnSpc>
              <a:spcBef>
                <a:spcPts val="219"/>
              </a:spcBef>
            </a:pP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EXTRACT</a:t>
            </a:r>
            <a:r>
              <a:rPr sz="1900" spc="55" dirty="0">
                <a:solidFill>
                  <a:srgbClr val="494949"/>
                </a:solidFill>
                <a:latin typeface="Arial"/>
                <a:cs typeface="Arial"/>
              </a:rPr>
              <a:t>_</a:t>
            </a: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MIN</a:t>
            </a:r>
            <a:r>
              <a:rPr sz="1900" spc="9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takes</a:t>
            </a:r>
            <a:r>
              <a:rPr sz="1900" spc="4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O(V)</a:t>
            </a:r>
            <a:r>
              <a:rPr sz="1900" spc="20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time</a:t>
            </a:r>
            <a:r>
              <a:rPr sz="1900" spc="10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70" dirty="0">
                <a:solidFill>
                  <a:srgbClr val="0F0F0F"/>
                </a:solidFill>
                <a:latin typeface="Arial"/>
                <a:cs typeface="Arial"/>
              </a:rPr>
              <a:t>and</a:t>
            </a: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there</a:t>
            </a:r>
            <a:r>
              <a:rPr sz="1900" spc="4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65" dirty="0">
                <a:solidFill>
                  <a:srgbClr val="0F0F0F"/>
                </a:solidFill>
                <a:latin typeface="Arial"/>
                <a:cs typeface="Arial"/>
              </a:rPr>
              <a:t>are</a:t>
            </a:r>
            <a:r>
              <a:rPr sz="1900" spc="6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IVI</a:t>
            </a:r>
            <a:r>
              <a:rPr sz="1900" spc="15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0F0F0F"/>
                </a:solidFill>
                <a:latin typeface="Arial"/>
                <a:cs typeface="Arial"/>
              </a:rPr>
              <a:t>such </a:t>
            </a:r>
            <a:r>
              <a:rPr sz="1900" spc="-10" dirty="0">
                <a:solidFill>
                  <a:srgbClr val="0F0F0F"/>
                </a:solidFill>
                <a:latin typeface="Arial"/>
                <a:cs typeface="Arial"/>
              </a:rPr>
              <a:t>operations.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Therefore,</a:t>
            </a:r>
            <a:r>
              <a:rPr sz="1900" spc="254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a</a:t>
            </a:r>
            <a:r>
              <a:rPr sz="1900" spc="4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0" dirty="0">
                <a:solidFill>
                  <a:srgbClr val="0F0F0F"/>
                </a:solidFill>
                <a:latin typeface="Arial"/>
                <a:cs typeface="Arial"/>
              </a:rPr>
              <a:t>total</a:t>
            </a:r>
            <a:r>
              <a:rPr sz="1900" spc="2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time</a:t>
            </a:r>
            <a:r>
              <a:rPr sz="1900" spc="8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for</a:t>
            </a:r>
            <a:r>
              <a:rPr sz="1900" spc="13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EXTRACT</a:t>
            </a:r>
            <a:r>
              <a:rPr sz="1900" spc="55" dirty="0">
                <a:solidFill>
                  <a:srgbClr val="383838"/>
                </a:solidFill>
                <a:latin typeface="Arial"/>
                <a:cs typeface="Arial"/>
              </a:rPr>
              <a:t>_</a:t>
            </a: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MIN</a:t>
            </a:r>
            <a:r>
              <a:rPr sz="1900" spc="7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in</a:t>
            </a:r>
            <a:r>
              <a:rPr sz="1900" spc="18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while-loop</a:t>
            </a:r>
            <a:r>
              <a:rPr sz="1900" spc="6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is</a:t>
            </a:r>
            <a:r>
              <a:rPr sz="1900" spc="14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80" dirty="0">
                <a:solidFill>
                  <a:srgbClr val="0F0F0F"/>
                </a:solidFill>
                <a:latin typeface="Arial"/>
                <a:cs typeface="Arial"/>
              </a:rPr>
              <a:t>O(V</a:t>
            </a:r>
            <a:r>
              <a:rPr sz="2100" spc="120" baseline="21825" dirty="0">
                <a:solidFill>
                  <a:srgbClr val="0F0F0F"/>
                </a:solidFill>
                <a:latin typeface="Arial"/>
                <a:cs typeface="Arial"/>
              </a:rPr>
              <a:t>2</a:t>
            </a:r>
            <a:r>
              <a:rPr sz="1400" spc="80" dirty="0">
                <a:solidFill>
                  <a:srgbClr val="0F0F0F"/>
                </a:solidFill>
                <a:latin typeface="Arial"/>
                <a:cs typeface="Arial"/>
              </a:rPr>
              <a:t>).</a:t>
            </a:r>
            <a:endParaRPr sz="1400">
              <a:latin typeface="Arial"/>
              <a:cs typeface="Arial"/>
            </a:endParaRPr>
          </a:p>
          <a:p>
            <a:pPr marL="382270" marR="336550" indent="4445">
              <a:lnSpc>
                <a:spcPct val="79000"/>
              </a:lnSpc>
              <a:spcBef>
                <a:spcPts val="170"/>
              </a:spcBef>
            </a:pP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Since</a:t>
            </a:r>
            <a:r>
              <a:rPr sz="1900" spc="15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the</a:t>
            </a:r>
            <a:r>
              <a:rPr sz="1900" spc="114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total</a:t>
            </a:r>
            <a:r>
              <a:rPr sz="1900" spc="13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number</a:t>
            </a:r>
            <a:r>
              <a:rPr sz="1900" spc="22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of</a:t>
            </a:r>
            <a:r>
              <a:rPr sz="1900" spc="229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edges</a:t>
            </a:r>
            <a:r>
              <a:rPr sz="1900" spc="15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in</a:t>
            </a:r>
            <a:r>
              <a:rPr sz="1900" spc="16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0" dirty="0">
                <a:solidFill>
                  <a:srgbClr val="0F0F0F"/>
                </a:solidFill>
                <a:latin typeface="Arial"/>
                <a:cs typeface="Arial"/>
              </a:rPr>
              <a:t>all</a:t>
            </a:r>
            <a:r>
              <a:rPr sz="1900" spc="10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the</a:t>
            </a:r>
            <a:r>
              <a:rPr sz="1900" spc="15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adjacency</a:t>
            </a:r>
            <a:r>
              <a:rPr sz="1900" spc="29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list</a:t>
            </a:r>
            <a:r>
              <a:rPr sz="1900" spc="15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is</a:t>
            </a:r>
            <a:r>
              <a:rPr sz="1900" spc="14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30" dirty="0">
                <a:solidFill>
                  <a:srgbClr val="383838"/>
                </a:solidFill>
                <a:latin typeface="Arial"/>
                <a:cs typeface="Arial"/>
              </a:rPr>
              <a:t>I</a:t>
            </a:r>
            <a:r>
              <a:rPr sz="1900" spc="30" dirty="0">
                <a:solidFill>
                  <a:srgbClr val="0F0F0F"/>
                </a:solidFill>
                <a:latin typeface="Arial"/>
                <a:cs typeface="Arial"/>
              </a:rPr>
              <a:t>E</a:t>
            </a:r>
            <a:r>
              <a:rPr sz="1900" spc="30" dirty="0">
                <a:solidFill>
                  <a:srgbClr val="282828"/>
                </a:solidFill>
                <a:latin typeface="Arial"/>
                <a:cs typeface="Arial"/>
              </a:rPr>
              <a:t>I</a:t>
            </a:r>
            <a:r>
              <a:rPr sz="1900" spc="30" dirty="0">
                <a:solidFill>
                  <a:srgbClr val="0F0F0F"/>
                </a:solidFill>
                <a:latin typeface="Arial"/>
                <a:cs typeface="Arial"/>
              </a:rPr>
              <a:t>.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Therefore</a:t>
            </a:r>
            <a:r>
              <a:rPr sz="1900" spc="38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for-loop</a:t>
            </a:r>
            <a:r>
              <a:rPr sz="1900" spc="17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iterates</a:t>
            </a:r>
            <a:r>
              <a:rPr sz="1900" spc="27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5" dirty="0">
                <a:solidFill>
                  <a:srgbClr val="383838"/>
                </a:solidFill>
                <a:latin typeface="Arial"/>
                <a:cs typeface="Arial"/>
              </a:rPr>
              <a:t>I</a:t>
            </a: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EI</a:t>
            </a:r>
            <a:r>
              <a:rPr sz="1900" spc="10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times</a:t>
            </a:r>
            <a:r>
              <a:rPr sz="1900" spc="21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with</a:t>
            </a:r>
            <a:r>
              <a:rPr sz="1900" spc="28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each</a:t>
            </a:r>
            <a:r>
              <a:rPr sz="1900" spc="12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iteration</a:t>
            </a:r>
            <a:r>
              <a:rPr sz="1900" spc="18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taking</a:t>
            </a:r>
            <a:r>
              <a:rPr sz="1900" spc="24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120" dirty="0">
                <a:solidFill>
                  <a:srgbClr val="0F0F0F"/>
                </a:solidFill>
                <a:latin typeface="Arial"/>
                <a:cs typeface="Arial"/>
              </a:rPr>
              <a:t>0(1)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time.</a:t>
            </a:r>
            <a:r>
              <a:rPr sz="1900" spc="12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70" dirty="0">
                <a:solidFill>
                  <a:srgbClr val="0F0F0F"/>
                </a:solidFill>
                <a:latin typeface="Arial"/>
                <a:cs typeface="Arial"/>
              </a:rPr>
              <a:t>Hence</a:t>
            </a:r>
            <a:r>
              <a:rPr sz="1900" spc="70" dirty="0">
                <a:solidFill>
                  <a:srgbClr val="383838"/>
                </a:solidFill>
                <a:latin typeface="Arial"/>
                <a:cs typeface="Arial"/>
              </a:rPr>
              <a:t>,</a:t>
            </a:r>
            <a:r>
              <a:rPr sz="1900" spc="-6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900" spc="75" dirty="0">
                <a:solidFill>
                  <a:srgbClr val="0F0F0F"/>
                </a:solidFill>
                <a:latin typeface="Arial"/>
                <a:cs typeface="Arial"/>
              </a:rPr>
              <a:t>the</a:t>
            </a:r>
            <a:r>
              <a:rPr sz="1900" spc="5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running</a:t>
            </a:r>
            <a:r>
              <a:rPr sz="1900" spc="10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time</a:t>
            </a:r>
            <a:r>
              <a:rPr sz="1900" spc="15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of</a:t>
            </a:r>
            <a:r>
              <a:rPr sz="1900" spc="16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the</a:t>
            </a:r>
            <a:r>
              <a:rPr sz="1900" spc="13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algorithm</a:t>
            </a:r>
            <a:r>
              <a:rPr sz="1900" spc="24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with</a:t>
            </a:r>
            <a:r>
              <a:rPr sz="1900" spc="17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0F0F0F"/>
                </a:solidFill>
                <a:latin typeface="Arial"/>
                <a:cs typeface="Arial"/>
              </a:rPr>
              <a:t>array </a:t>
            </a:r>
            <a:r>
              <a:rPr sz="1900" spc="50" dirty="0">
                <a:solidFill>
                  <a:srgbClr val="0F0F0F"/>
                </a:solidFill>
                <a:latin typeface="Arial"/>
                <a:cs typeface="Arial"/>
              </a:rPr>
              <a:t>implementation</a:t>
            </a:r>
            <a:r>
              <a:rPr sz="1900" spc="-8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is</a:t>
            </a:r>
            <a:r>
              <a:rPr sz="1900" spc="7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O(V</a:t>
            </a:r>
            <a:r>
              <a:rPr sz="2025" baseline="26748" dirty="0">
                <a:solidFill>
                  <a:srgbClr val="0F0F0F"/>
                </a:solidFill>
                <a:latin typeface="Arial"/>
                <a:cs typeface="Arial"/>
              </a:rPr>
              <a:t>2</a:t>
            </a:r>
            <a:r>
              <a:rPr sz="2025" spc="247" baseline="26748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2000" spc="105" dirty="0">
                <a:solidFill>
                  <a:srgbClr val="0F0F0F"/>
                </a:solidFill>
                <a:latin typeface="Arial"/>
                <a:cs typeface="Arial"/>
              </a:rPr>
              <a:t>+</a:t>
            </a:r>
            <a:r>
              <a:rPr sz="2000" spc="-7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0" dirty="0">
                <a:solidFill>
                  <a:srgbClr val="0F0F0F"/>
                </a:solidFill>
                <a:latin typeface="Arial"/>
                <a:cs typeface="Arial"/>
              </a:rPr>
              <a:t>E)</a:t>
            </a:r>
            <a:r>
              <a:rPr sz="1900" spc="7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2400" spc="-195" dirty="0">
                <a:solidFill>
                  <a:srgbClr val="383838"/>
                </a:solidFill>
                <a:latin typeface="Times New Roman"/>
                <a:cs typeface="Times New Roman"/>
              </a:rPr>
              <a:t>=</a:t>
            </a:r>
            <a:r>
              <a:rPr sz="2400" spc="-90" dirty="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sz="1900" spc="75" dirty="0">
                <a:solidFill>
                  <a:srgbClr val="0F0F0F"/>
                </a:solidFill>
                <a:latin typeface="Arial"/>
                <a:cs typeface="Arial"/>
              </a:rPr>
              <a:t>O(V</a:t>
            </a:r>
            <a:r>
              <a:rPr sz="2025" spc="112" baseline="26748" dirty="0">
                <a:solidFill>
                  <a:srgbClr val="0F0F0F"/>
                </a:solidFill>
                <a:latin typeface="Arial"/>
                <a:cs typeface="Arial"/>
              </a:rPr>
              <a:t>2</a:t>
            </a:r>
            <a:r>
              <a:rPr sz="1350" spc="75" dirty="0">
                <a:solidFill>
                  <a:srgbClr val="0F0F0F"/>
                </a:solidFill>
                <a:latin typeface="Arial"/>
                <a:cs typeface="Arial"/>
              </a:rPr>
              <a:t>).</a:t>
            </a:r>
            <a:endParaRPr sz="1350">
              <a:latin typeface="Arial"/>
              <a:cs typeface="Arial"/>
            </a:endParaRPr>
          </a:p>
          <a:p>
            <a:pPr marL="38100">
              <a:lnSpc>
                <a:spcPts val="2085"/>
              </a:lnSpc>
            </a:pPr>
            <a:r>
              <a:rPr sz="1950" spc="150" dirty="0">
                <a:solidFill>
                  <a:srgbClr val="0F0F0F"/>
                </a:solidFill>
                <a:latin typeface="Arial"/>
                <a:cs typeface="Arial"/>
              </a:rPr>
              <a:t>Q</a:t>
            </a:r>
            <a:r>
              <a:rPr sz="1950" spc="-5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65" dirty="0">
                <a:solidFill>
                  <a:srgbClr val="0F0F0F"/>
                </a:solidFill>
                <a:latin typeface="Arial"/>
                <a:cs typeface="Arial"/>
              </a:rPr>
              <a:t>as</a:t>
            </a:r>
            <a:r>
              <a:rPr sz="1900" spc="-4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70" dirty="0">
                <a:solidFill>
                  <a:srgbClr val="0F0F0F"/>
                </a:solidFill>
                <a:latin typeface="Arial"/>
                <a:cs typeface="Arial"/>
              </a:rPr>
              <a:t>a</a:t>
            </a:r>
            <a:r>
              <a:rPr sz="1900" spc="1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binary</a:t>
            </a:r>
            <a:r>
              <a:rPr sz="1900" spc="10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heap</a:t>
            </a:r>
            <a:r>
              <a:rPr sz="1900" spc="9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82828"/>
                </a:solidFill>
                <a:latin typeface="Arial"/>
                <a:cs typeface="Arial"/>
              </a:rPr>
              <a:t>(</a:t>
            </a:r>
            <a:r>
              <a:rPr sz="1900" spc="-3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If</a:t>
            </a: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130" dirty="0">
                <a:solidFill>
                  <a:srgbClr val="0F0F0F"/>
                </a:solidFill>
                <a:latin typeface="Arial"/>
                <a:cs typeface="Arial"/>
              </a:rPr>
              <a:t>G</a:t>
            </a:r>
            <a:r>
              <a:rPr sz="1900" spc="-2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is</a:t>
            </a:r>
            <a:r>
              <a:rPr sz="1900" spc="5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0F0F0F"/>
                </a:solidFill>
                <a:latin typeface="Arial"/>
                <a:cs typeface="Arial"/>
              </a:rPr>
              <a:t>sparse)</a:t>
            </a:r>
            <a:endParaRPr sz="1900">
              <a:latin typeface="Arial"/>
              <a:cs typeface="Arial"/>
            </a:endParaRPr>
          </a:p>
          <a:p>
            <a:pPr marL="385445" marR="30480" indent="-1270">
              <a:lnSpc>
                <a:spcPct val="84700"/>
              </a:lnSpc>
              <a:spcBef>
                <a:spcPts val="195"/>
              </a:spcBef>
            </a:pP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In</a:t>
            </a:r>
            <a:r>
              <a:rPr sz="1900" spc="10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this</a:t>
            </a:r>
            <a:r>
              <a:rPr sz="1900" spc="9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0F0F0F"/>
                </a:solidFill>
                <a:latin typeface="Arial"/>
                <a:cs typeface="Arial"/>
              </a:rPr>
              <a:t>case,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EXTRACT</a:t>
            </a:r>
            <a:r>
              <a:rPr sz="1900" spc="55" dirty="0">
                <a:solidFill>
                  <a:srgbClr val="494949"/>
                </a:solidFill>
                <a:latin typeface="Arial"/>
                <a:cs typeface="Arial"/>
              </a:rPr>
              <a:t>_</a:t>
            </a: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MIN</a:t>
            </a:r>
            <a:r>
              <a:rPr sz="1900" spc="13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operations</a:t>
            </a:r>
            <a:r>
              <a:rPr sz="1900" spc="17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takes</a:t>
            </a:r>
            <a:r>
              <a:rPr sz="1900" spc="4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0F0F0F"/>
                </a:solidFill>
                <a:latin typeface="Arial"/>
                <a:cs typeface="Arial"/>
              </a:rPr>
              <a:t>O(log</a:t>
            </a:r>
            <a:r>
              <a:rPr sz="1900" spc="14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V)</a:t>
            </a:r>
            <a:r>
              <a:rPr sz="1900" spc="13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time</a:t>
            </a:r>
            <a:r>
              <a:rPr sz="1900" spc="9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40" dirty="0">
                <a:solidFill>
                  <a:srgbClr val="0F0F0F"/>
                </a:solidFill>
                <a:latin typeface="Arial"/>
                <a:cs typeface="Arial"/>
              </a:rPr>
              <a:t>and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there</a:t>
            </a:r>
            <a:r>
              <a:rPr sz="1900" spc="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65" dirty="0">
                <a:solidFill>
                  <a:srgbClr val="0F0F0F"/>
                </a:solidFill>
                <a:latin typeface="Arial"/>
                <a:cs typeface="Arial"/>
              </a:rPr>
              <a:t>are</a:t>
            </a:r>
            <a:r>
              <a:rPr sz="1900" spc="-5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IVI</a:t>
            </a:r>
            <a:r>
              <a:rPr sz="1900" spc="10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0F0F0F"/>
                </a:solidFill>
                <a:latin typeface="Arial"/>
                <a:cs typeface="Arial"/>
              </a:rPr>
              <a:t>such</a:t>
            </a:r>
            <a:r>
              <a:rPr sz="1900" spc="2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0" dirty="0">
                <a:solidFill>
                  <a:srgbClr val="0F0F0F"/>
                </a:solidFill>
                <a:latin typeface="Arial"/>
                <a:cs typeface="Arial"/>
              </a:rPr>
              <a:t>operations</a:t>
            </a:r>
            <a:r>
              <a:rPr sz="1900" spc="50" dirty="0">
                <a:solidFill>
                  <a:srgbClr val="383838"/>
                </a:solidFill>
                <a:latin typeface="Arial"/>
                <a:cs typeface="Arial"/>
              </a:rPr>
              <a:t>.</a:t>
            </a:r>
            <a:r>
              <a:rPr sz="1900" spc="-13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900" spc="50" dirty="0">
                <a:solidFill>
                  <a:srgbClr val="0F0F0F"/>
                </a:solidFill>
                <a:latin typeface="Arial"/>
                <a:cs typeface="Arial"/>
              </a:rPr>
              <a:t>The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 binary</a:t>
            </a:r>
            <a:r>
              <a:rPr sz="1900" spc="114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80" dirty="0">
                <a:solidFill>
                  <a:srgbClr val="0F0F0F"/>
                </a:solidFill>
                <a:latin typeface="Arial"/>
                <a:cs typeface="Arial"/>
              </a:rPr>
              <a:t>heap</a:t>
            </a:r>
            <a:r>
              <a:rPr sz="1900" spc="-2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0F0F0F"/>
                </a:solidFill>
                <a:latin typeface="Arial"/>
                <a:cs typeface="Arial"/>
              </a:rPr>
              <a:t>can</a:t>
            </a:r>
            <a:r>
              <a:rPr sz="1900" spc="1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0F0F0F"/>
                </a:solidFill>
                <a:latin typeface="Arial"/>
                <a:cs typeface="Arial"/>
              </a:rPr>
              <a:t>be</a:t>
            </a:r>
            <a:r>
              <a:rPr sz="1900" spc="1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0F0F0F"/>
                </a:solidFill>
                <a:latin typeface="Arial"/>
                <a:cs typeface="Arial"/>
              </a:rPr>
              <a:t>build</a:t>
            </a:r>
            <a:r>
              <a:rPr sz="1900" spc="2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in</a:t>
            </a:r>
            <a:r>
              <a:rPr sz="1900" spc="-1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0F0F0F"/>
                </a:solidFill>
                <a:latin typeface="Arial"/>
                <a:cs typeface="Arial"/>
              </a:rPr>
              <a:t>O(V)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time.</a:t>
            </a:r>
            <a:r>
              <a:rPr sz="1900" spc="16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Operation</a:t>
            </a:r>
            <a:r>
              <a:rPr sz="1900" spc="22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DECREASE</a:t>
            </a:r>
            <a:r>
              <a:rPr sz="1900" spc="42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(in</a:t>
            </a:r>
            <a:r>
              <a:rPr sz="1900" spc="2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75" dirty="0">
                <a:solidFill>
                  <a:srgbClr val="0F0F0F"/>
                </a:solidFill>
                <a:latin typeface="Arial"/>
                <a:cs typeface="Arial"/>
              </a:rPr>
              <a:t>the</a:t>
            </a:r>
            <a:r>
              <a:rPr sz="1900" spc="14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RELAX)</a:t>
            </a:r>
            <a:r>
              <a:rPr sz="1900" spc="38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takes</a:t>
            </a:r>
            <a:r>
              <a:rPr sz="1900" spc="22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O(log</a:t>
            </a:r>
            <a:r>
              <a:rPr sz="1900" spc="26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V)</a:t>
            </a:r>
            <a:r>
              <a:rPr sz="1900" spc="22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time</a:t>
            </a:r>
            <a:r>
              <a:rPr sz="1900" spc="18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40" dirty="0">
                <a:solidFill>
                  <a:srgbClr val="0F0F0F"/>
                </a:solidFill>
                <a:latin typeface="Arial"/>
                <a:cs typeface="Arial"/>
              </a:rPr>
              <a:t>and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there</a:t>
            </a:r>
            <a:r>
              <a:rPr sz="1900" spc="1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65" dirty="0">
                <a:solidFill>
                  <a:srgbClr val="0F0F0F"/>
                </a:solidFill>
                <a:latin typeface="Arial"/>
                <a:cs typeface="Arial"/>
              </a:rPr>
              <a:t>are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 at</a:t>
            </a: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0" dirty="0">
                <a:solidFill>
                  <a:srgbClr val="0F0F0F"/>
                </a:solidFill>
                <a:latin typeface="Arial"/>
                <a:cs typeface="Arial"/>
              </a:rPr>
              <a:t>most</a:t>
            </a:r>
            <a:r>
              <a:rPr sz="1900" spc="114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0F0F0F"/>
                </a:solidFill>
                <a:latin typeface="Arial"/>
                <a:cs typeface="Arial"/>
              </a:rPr>
              <a:t>such</a:t>
            </a:r>
            <a:r>
              <a:rPr sz="1900" spc="4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0F0F0F"/>
                </a:solidFill>
                <a:latin typeface="Arial"/>
                <a:cs typeface="Arial"/>
              </a:rPr>
              <a:t>operations.</a:t>
            </a:r>
            <a:endParaRPr sz="1900">
              <a:latin typeface="Arial"/>
              <a:cs typeface="Arial"/>
            </a:endParaRPr>
          </a:p>
          <a:p>
            <a:pPr marL="381635" marR="261620" indent="-3175">
              <a:lnSpc>
                <a:spcPts val="1910"/>
              </a:lnSpc>
            </a:pP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Hence,</a:t>
            </a:r>
            <a:r>
              <a:rPr sz="1900" spc="11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the</a:t>
            </a:r>
            <a:r>
              <a:rPr sz="1900" spc="12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running</a:t>
            </a:r>
            <a:r>
              <a:rPr sz="1900" spc="8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time</a:t>
            </a:r>
            <a:r>
              <a:rPr sz="1900" spc="3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of</a:t>
            </a:r>
            <a:r>
              <a:rPr sz="1900" spc="14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75" dirty="0">
                <a:solidFill>
                  <a:srgbClr val="0F0F0F"/>
                </a:solidFill>
                <a:latin typeface="Arial"/>
                <a:cs typeface="Arial"/>
              </a:rPr>
              <a:t>the</a:t>
            </a:r>
            <a:r>
              <a:rPr sz="1900" spc="9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algorithm</a:t>
            </a:r>
            <a:r>
              <a:rPr sz="1900" spc="31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with</a:t>
            </a:r>
            <a:r>
              <a:rPr sz="1900" spc="7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binary</a:t>
            </a:r>
            <a:r>
              <a:rPr sz="1900" spc="18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80" dirty="0">
                <a:solidFill>
                  <a:srgbClr val="0F0F0F"/>
                </a:solidFill>
                <a:latin typeface="Arial"/>
                <a:cs typeface="Arial"/>
              </a:rPr>
              <a:t>heap</a:t>
            </a:r>
            <a:r>
              <a:rPr sz="1900" spc="-4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0F0F0F"/>
                </a:solidFill>
                <a:latin typeface="Arial"/>
                <a:cs typeface="Arial"/>
              </a:rPr>
              <a:t>provided </a:t>
            </a:r>
            <a:r>
              <a:rPr sz="1900" spc="50" dirty="0">
                <a:solidFill>
                  <a:srgbClr val="0F0F0F"/>
                </a:solidFill>
                <a:latin typeface="Arial"/>
                <a:cs typeface="Arial"/>
              </a:rPr>
              <a:t>given</a:t>
            </a:r>
            <a:r>
              <a:rPr sz="1900" spc="3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0" dirty="0">
                <a:solidFill>
                  <a:srgbClr val="0F0F0F"/>
                </a:solidFill>
                <a:latin typeface="Arial"/>
                <a:cs typeface="Arial"/>
              </a:rPr>
              <a:t>graph</a:t>
            </a:r>
            <a:r>
              <a:rPr sz="1900" spc="6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is</a:t>
            </a:r>
            <a:r>
              <a:rPr sz="1900" spc="12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sparse</a:t>
            </a:r>
            <a:r>
              <a:rPr sz="1900" spc="-2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is</a:t>
            </a:r>
            <a:r>
              <a:rPr sz="1900" spc="10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O((V</a:t>
            </a:r>
            <a:r>
              <a:rPr sz="1900" spc="2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50" spc="65" dirty="0">
                <a:solidFill>
                  <a:srgbClr val="0F0F0F"/>
                </a:solidFill>
                <a:latin typeface="Arial"/>
                <a:cs typeface="Arial"/>
              </a:rPr>
              <a:t>+</a:t>
            </a:r>
            <a:r>
              <a:rPr sz="1950" spc="10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E)</a:t>
            </a:r>
            <a:r>
              <a:rPr sz="1900" spc="16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0F0F0F"/>
                </a:solidFill>
                <a:latin typeface="Arial"/>
                <a:cs typeface="Arial"/>
              </a:rPr>
              <a:t>log V)</a:t>
            </a:r>
            <a:r>
              <a:rPr sz="1900" spc="60" dirty="0">
                <a:solidFill>
                  <a:srgbClr val="383838"/>
                </a:solidFill>
                <a:latin typeface="Arial"/>
                <a:cs typeface="Arial"/>
              </a:rPr>
              <a:t>.</a:t>
            </a:r>
            <a:r>
              <a:rPr sz="1900" spc="-8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900" spc="65" dirty="0">
                <a:solidFill>
                  <a:srgbClr val="0F0F0F"/>
                </a:solidFill>
                <a:latin typeface="Arial"/>
                <a:cs typeface="Arial"/>
              </a:rPr>
              <a:t>Note</a:t>
            </a:r>
            <a:r>
              <a:rPr sz="1900" spc="-3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that</a:t>
            </a:r>
            <a:r>
              <a:rPr sz="1900" spc="10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this</a:t>
            </a:r>
            <a:r>
              <a:rPr sz="1900" spc="4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35" dirty="0">
                <a:solidFill>
                  <a:srgbClr val="0F0F0F"/>
                </a:solidFill>
                <a:latin typeface="Arial"/>
                <a:cs typeface="Arial"/>
              </a:rPr>
              <a:t>time</a:t>
            </a:r>
            <a:endParaRPr sz="1900">
              <a:latin typeface="Arial"/>
              <a:cs typeface="Arial"/>
            </a:endParaRPr>
          </a:p>
          <a:p>
            <a:pPr marL="381635" marR="208915" indent="635">
              <a:lnSpc>
                <a:spcPts val="1910"/>
              </a:lnSpc>
              <a:spcBef>
                <a:spcPts val="70"/>
              </a:spcBef>
            </a:pP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becomes</a:t>
            </a:r>
            <a:r>
              <a:rPr sz="1900" spc="25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85" dirty="0">
                <a:solidFill>
                  <a:srgbClr val="0F0F0F"/>
                </a:solidFill>
                <a:latin typeface="Arial"/>
                <a:cs typeface="Arial"/>
              </a:rPr>
              <a:t>O(E</a:t>
            </a:r>
            <a:r>
              <a:rPr sz="1900" spc="4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logV)</a:t>
            </a:r>
            <a:r>
              <a:rPr sz="1900" spc="24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if</a:t>
            </a:r>
            <a:r>
              <a:rPr sz="1900" spc="19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0" dirty="0">
                <a:solidFill>
                  <a:srgbClr val="0F0F0F"/>
                </a:solidFill>
                <a:latin typeface="Arial"/>
                <a:cs typeface="Arial"/>
              </a:rPr>
              <a:t>all</a:t>
            </a:r>
            <a:r>
              <a:rPr sz="1900" spc="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vertices</a:t>
            </a:r>
            <a:r>
              <a:rPr sz="1900" spc="21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in</a:t>
            </a:r>
            <a:r>
              <a:rPr sz="1900" spc="20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the</a:t>
            </a:r>
            <a:r>
              <a:rPr sz="1900" spc="5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50" dirty="0">
                <a:solidFill>
                  <a:srgbClr val="0F0F0F"/>
                </a:solidFill>
                <a:latin typeface="Arial"/>
                <a:cs typeface="Arial"/>
              </a:rPr>
              <a:t>graph</a:t>
            </a:r>
            <a:r>
              <a:rPr sz="1900" spc="13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is</a:t>
            </a:r>
            <a:r>
              <a:rPr sz="1900" spc="114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reachable</a:t>
            </a:r>
            <a:r>
              <a:rPr sz="1900" spc="20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from</a:t>
            </a:r>
            <a:r>
              <a:rPr sz="1900" spc="16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0F0F0F"/>
                </a:solidFill>
                <a:latin typeface="Arial"/>
                <a:cs typeface="Arial"/>
              </a:rPr>
              <a:t>the </a:t>
            </a:r>
            <a:r>
              <a:rPr sz="1900" dirty="0">
                <a:solidFill>
                  <a:srgbClr val="0F0F0F"/>
                </a:solidFill>
                <a:latin typeface="Arial"/>
                <a:cs typeface="Arial"/>
              </a:rPr>
              <a:t>source</a:t>
            </a:r>
            <a:r>
              <a:rPr sz="1900" spc="31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0F0F0F"/>
                </a:solidFill>
                <a:latin typeface="Arial"/>
                <a:cs typeface="Arial"/>
              </a:rPr>
              <a:t>vertices.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1843</Words>
  <Application>Microsoft Office PowerPoint</Application>
  <PresentationFormat>On-screen Show (4:3)</PresentationFormat>
  <Paragraphs>182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Courier New</vt:lpstr>
      <vt:lpstr>Times New Roman</vt:lpstr>
      <vt:lpstr>Office Theme</vt:lpstr>
      <vt:lpstr>PowerPoint Presentation</vt:lpstr>
      <vt:lpstr>Kruskal's Algorithm</vt:lpstr>
      <vt:lpstr>Kruskal's Algorithm</vt:lpstr>
      <vt:lpstr>Application: The Minimal-Connector Problem</vt:lpstr>
      <vt:lpstr>Properties of Kruskal's and Prim's Algorithms</vt:lpstr>
      <vt:lpstr>Measuring Efficiency of Graph Algorithms</vt:lpstr>
      <vt:lpstr>Running time of Kruskal Algorithm</vt:lpstr>
      <vt:lpstr>PowerPoint Presentation</vt:lpstr>
      <vt:lpstr>Problem</vt:lpstr>
      <vt:lpstr>Contd ...</vt:lpstr>
      <vt:lpstr>Shortest path problem</vt:lpstr>
      <vt:lpstr>Variants</vt:lpstr>
      <vt:lpstr>Single-Source Shortest Path</vt:lpstr>
      <vt:lpstr>Dijkstra's Algorithm</vt:lpstr>
      <vt:lpstr>Dijkstra's Algorithm</vt:lpstr>
      <vt:lpstr>Dijkstra's Algorithm</vt:lpstr>
      <vt:lpstr>Dijkstra's Algorithm</vt:lpstr>
      <vt:lpstr>Dijkstra's Algorithm</vt:lpstr>
      <vt:lpstr>Dijkstra's Algorithm</vt:lpstr>
      <vt:lpstr>Step by Step operation of Dijkstra</vt:lpstr>
      <vt:lpstr>Step 3. Choose the closest node, x. Relax all nodes adjacent to node x. Update predecessors for nodes u, v and y (again notice red arrows in diagram below).</vt:lpstr>
      <vt:lpstr>tep 5. Now we have node u that is closest. Choose this node and adjust its neighbor node v.</vt:lpstr>
      <vt:lpstr>Analysis of Dijkstra 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Dr. Mohammad Rabiul Islam</cp:lastModifiedBy>
  <cp:revision>8</cp:revision>
  <dcterms:created xsi:type="dcterms:W3CDTF">2023-04-11T18:47:39Z</dcterms:created>
  <dcterms:modified xsi:type="dcterms:W3CDTF">2025-01-07T05:19:01Z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2023-04-12T00:00:00Z</vt:filetime>
  </property>
  <property fmtid="{D5CDD505-2E9C-101B-9397-08002B2CF9AE}" pid="3" name="Producer">
    <vt:lpwstr>jsPDF 1.3.2 2016-09-30T20:33:17.116Z:jameshall</vt:lpwstr>
  </property>
  <property fmtid="{D5CDD505-2E9C-101B-9397-08002B2CF9AE}" pid="4" name="LastSaved">
    <vt:filetime>2023-04-12T00:00:00Z</vt:filetime>
  </property>
</Properties>
</file>